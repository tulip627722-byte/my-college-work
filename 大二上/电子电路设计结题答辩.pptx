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Override PartName="/customXml/itemProps2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16604552" r:id="rId3"/>
    <p:sldId id="16604553" r:id="rId5"/>
    <p:sldId id="16604554" r:id="rId6"/>
    <p:sldId id="16604555" r:id="rId7"/>
    <p:sldId id="16604556" r:id="rId8"/>
    <p:sldId id="16604557" r:id="rId9"/>
    <p:sldId id="16604558" r:id="rId10"/>
    <p:sldId id="16604559" r:id="rId11"/>
    <p:sldId id="16604560" r:id="rId12"/>
    <p:sldId id="16604561" r:id="rId13"/>
    <p:sldId id="16604562" r:id="rId14"/>
    <p:sldId id="16604563" r:id="rId15"/>
    <p:sldId id="16604564" r:id="rId16"/>
    <p:sldId id="16604565" r:id="rId17"/>
    <p:sldId id="16604566" r:id="rId18"/>
    <p:sldId id="16604567" r:id="rId19"/>
    <p:sldId id="16604573" r:id="rId20"/>
    <p:sldId id="16604568" r:id="rId21"/>
    <p:sldId id="16604569" r:id="rId22"/>
    <p:sldId id="16604571" r:id="rId23"/>
    <p:sldId id="16604572" r:id="rId24"/>
  </p:sldIdLst>
  <p:sldSz cx="12192000" cy="6858000"/>
  <p:notesSz cx="6858000" cy="9144000"/>
  <p:embeddedFontLst>
    <p:embeddedFont>
      <p:font typeface="MiSans Bold" panose="00000800000000000000" charset="-122"/>
      <p:bold r:id="rId30"/>
    </p:embeddedFont>
    <p:embeddedFont>
      <p:font typeface="金山云技术体" charset="-122"/>
      <p:regular r:id="rId31"/>
    </p:embeddedFont>
    <p:embeddedFont>
      <p:font typeface="MiSans" panose="00000500000000000000" charset="-122"/>
      <p:regular r:id="rId32"/>
    </p:embeddedFont>
    <p:embeddedFont>
      <p:font typeface="MiSans Heavy" panose="00000A00000000000000" pitchFamily="2" charset="-122"/>
      <p:bold r:id="rId33"/>
    </p:embeddedFont>
    <p:embeddedFont>
      <p:font typeface="等线" panose="02010600030101010101" charset="-122"/>
      <p:regular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9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4344B"/>
    <a:srgbClr val="2A75B5"/>
    <a:srgbClr val="DEEAF5"/>
    <a:srgbClr val="CFE0C8"/>
    <a:srgbClr val="375970"/>
    <a:srgbClr val="E6F0F4"/>
    <a:srgbClr val="EBEEF0"/>
    <a:srgbClr val="219083"/>
    <a:srgbClr val="086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 autoAdjust="0"/>
    <p:restoredTop sz="94729" autoAdjust="0"/>
  </p:normalViewPr>
  <p:slideViewPr>
    <p:cSldViewPr snapToGrid="0" showGuides="1">
      <p:cViewPr varScale="1">
        <p:scale>
          <a:sx n="75" d="100"/>
          <a:sy n="75" d="100"/>
        </p:scale>
        <p:origin x="504" y="72"/>
      </p:cViewPr>
      <p:guideLst>
        <p:guide orient="horz" pos="2103"/>
        <p:guide pos="3840"/>
        <p:guide pos="599"/>
        <p:guide pos="7083"/>
      </p:guideLst>
    </p:cSldViewPr>
  </p:slideViewPr>
  <p:outlineViewPr>
    <p:cViewPr>
      <p:scale>
        <a:sx n="33" d="100"/>
        <a:sy n="33" d="100"/>
      </p:scale>
      <p:origin x="0" y="-8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330" y="90"/>
      </p:cViewPr>
      <p:guideLst>
        <p:guide orient="horz" pos="2804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customXml" Target="../customXml/item1.xml"/><Relationship Id="rId28" Type="http://schemas.openxmlformats.org/officeDocument/2006/relationships/customXmlProps" Target="../customXml/itemProps20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59-03DE-4834-B4FB-DFE202FF49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7415212"/>
            <a:ext cx="6124575" cy="151447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7415212"/>
            <a:ext cx="6124575" cy="151447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7415212"/>
            <a:ext cx="6124575" cy="151447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7415212"/>
            <a:ext cx="6124575" cy="151447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7415212"/>
            <a:ext cx="6124575" cy="151447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180B0-EFBF-4F12-9CD4-48A8C9248E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 userDrawn="1"/>
        </p:nvSpPr>
        <p:spPr>
          <a:xfrm>
            <a:off x="-198315" y="594668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任意多边形: 形状 12" descr="D:\51PPT模板网\51pptmoban.com\图片.jpg"/>
          <p:cNvSpPr/>
          <p:nvPr userDrawn="1"/>
        </p:nvSpPr>
        <p:spPr>
          <a:xfrm>
            <a:off x="-198315" y="5394910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19"/>
          <p:cNvSpPr/>
          <p:nvPr userDrawn="1"/>
        </p:nvSpPr>
        <p:spPr>
          <a:xfrm>
            <a:off x="-198315" y="3958731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 descr="D:\51PPT模板网\51pptmoban.com\图片.jpg"/>
          <p:cNvSpPr/>
          <p:nvPr userDrawn="1"/>
        </p:nvSpPr>
        <p:spPr>
          <a:xfrm>
            <a:off x="-198315" y="2932855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20"/>
          <p:cNvSpPr/>
          <p:nvPr userDrawn="1"/>
        </p:nvSpPr>
        <p:spPr>
          <a:xfrm>
            <a:off x="-2857" y="4303174"/>
            <a:ext cx="4885" cy="5"/>
          </a:xfrm>
          <a:custGeom>
            <a:avLst/>
            <a:gdLst>
              <a:gd name="connsiteX0" fmla="*/ 0 w 4286"/>
              <a:gd name="connsiteY0" fmla="*/ 0 h 4"/>
              <a:gd name="connsiteX1" fmla="*/ 0 w 4286"/>
              <a:gd name="connsiteY1" fmla="*/ 0 h 4"/>
              <a:gd name="connsiteX2" fmla="*/ 0 w 4286"/>
              <a:gd name="connsiteY2" fmla="*/ 4 h 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67B5A4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" name="组合 21" descr="D:\51PPT模板网\51pptmoban.com\图片.jpg"/>
          <p:cNvGrpSpPr/>
          <p:nvPr userDrawn="1"/>
        </p:nvGrpSpPr>
        <p:grpSpPr>
          <a:xfrm>
            <a:off x="381998" y="244064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3" name="矩形: 圆角 22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: 圆角 23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1" name="组合 30" descr="D:\51PPT模板网\51pptmoban.com\图片.jpg"/>
          <p:cNvGrpSpPr/>
          <p:nvPr userDrawn="1"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02877-C04F-477B-A76F-70CA9A5663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750B-449A-4A63-9717-17FC9025A8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microsoft.com/office/2007/relationships/hdphoto" Target="../media/image2.wdp"/><Relationship Id="rId6" Type="http://schemas.openxmlformats.org/officeDocument/2006/relationships/image" Target="../media/image1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13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microsoft.com/office/2007/relationships/hdphoto" Target="../media/image2.wdp"/><Relationship Id="rId5" Type="http://schemas.openxmlformats.org/officeDocument/2006/relationships/image" Target="../media/image1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tags" Target="../tags/tag19.xml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任意多边形: 形状 34" descr="D:\51PPT模板网\51pptmoban.com\图片.jpg"/>
          <p:cNvSpPr/>
          <p:nvPr/>
        </p:nvSpPr>
        <p:spPr>
          <a:xfrm>
            <a:off x="-198315" y="1291191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857" y="4303174"/>
            <a:ext cx="4885" cy="5"/>
          </a:xfrm>
          <a:custGeom>
            <a:avLst/>
            <a:gdLst>
              <a:gd name="connsiteX0" fmla="*/ 0 w 4286"/>
              <a:gd name="connsiteY0" fmla="*/ 0 h 4"/>
              <a:gd name="connsiteX1" fmla="*/ 0 w 4286"/>
              <a:gd name="connsiteY1" fmla="*/ 0 h 4"/>
              <a:gd name="connsiteX2" fmla="*/ 0 w 4286"/>
              <a:gd name="connsiteY2" fmla="*/ 4 h 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67B5A4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383" name="椭圆 8382"/>
          <p:cNvSpPr/>
          <p:nvPr/>
        </p:nvSpPr>
        <p:spPr>
          <a:xfrm>
            <a:off x="0" y="-584200"/>
            <a:ext cx="266700" cy="266700"/>
          </a:xfrm>
          <a:prstGeom prst="ellipse">
            <a:avLst/>
          </a:prstGeom>
          <a:solidFill>
            <a:srgbClr val="2A75B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384" name="椭圆 8383"/>
          <p:cNvSpPr/>
          <p:nvPr/>
        </p:nvSpPr>
        <p:spPr>
          <a:xfrm>
            <a:off x="403225" y="-584200"/>
            <a:ext cx="266700" cy="266700"/>
          </a:xfrm>
          <a:prstGeom prst="ellipse">
            <a:avLst/>
          </a:pr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385" name="椭圆 8384"/>
          <p:cNvSpPr/>
          <p:nvPr/>
        </p:nvSpPr>
        <p:spPr>
          <a:xfrm>
            <a:off x="806450" y="-584200"/>
            <a:ext cx="266700" cy="266700"/>
          </a:xfrm>
          <a:prstGeom prst="ellipse">
            <a:avLst/>
          </a:prstGeom>
          <a:solidFill>
            <a:srgbClr val="CFE0C8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386" name="椭圆 8385"/>
          <p:cNvSpPr/>
          <p:nvPr/>
        </p:nvSpPr>
        <p:spPr>
          <a:xfrm>
            <a:off x="1209675" y="-584200"/>
            <a:ext cx="266700" cy="266700"/>
          </a:xfrm>
          <a:prstGeom prst="ellipse">
            <a:avLst/>
          </a:prstGeom>
          <a:solidFill>
            <a:srgbClr val="D6DD23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387" name="椭圆 8386"/>
          <p:cNvSpPr/>
          <p:nvPr/>
        </p:nvSpPr>
        <p:spPr>
          <a:xfrm>
            <a:off x="1612900" y="-584200"/>
            <a:ext cx="266700" cy="266700"/>
          </a:xfrm>
          <a:prstGeom prst="ellipse">
            <a:avLst/>
          </a:prstGeom>
          <a:solidFill>
            <a:srgbClr val="D5F1F3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91036" y="5950521"/>
            <a:ext cx="11600999" cy="538039"/>
            <a:chOff x="3086965" y="6108437"/>
            <a:chExt cx="6018070" cy="316935"/>
          </a:xfrm>
        </p:grpSpPr>
        <p:sp>
          <p:nvSpPr>
            <p:cNvPr id="85" name="文本框 84"/>
            <p:cNvSpPr txBox="1"/>
            <p:nvPr/>
          </p:nvSpPr>
          <p:spPr>
            <a:xfrm>
              <a:off x="3289732" y="6117902"/>
              <a:ext cx="1600752" cy="307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答辩学生：陈博闻  余佳欣 高愉坤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     吴海兴  何至轩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6" name="graduate_57239"/>
            <p:cNvSpPr/>
            <p:nvPr/>
          </p:nvSpPr>
          <p:spPr>
            <a:xfrm>
              <a:off x="3086965" y="6111372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DEEAF5"/>
            </a:solidFill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university-teacher_65684"/>
            <p:cNvSpPr/>
            <p:nvPr/>
          </p:nvSpPr>
          <p:spPr>
            <a:xfrm>
              <a:off x="5172715" y="6108437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DEEAF5"/>
            </a:solidFill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5350829" y="6117902"/>
              <a:ext cx="1777436" cy="180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指导老师：黄华 吴永烽 李晓东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436830" y="6111372"/>
              <a:ext cx="1668205" cy="180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2025.12.20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7211877" y="6143941"/>
              <a:ext cx="226482" cy="226482"/>
              <a:chOff x="8223250" y="6921890"/>
              <a:chExt cx="723900" cy="723900"/>
            </a:xfrm>
            <a:solidFill>
              <a:srgbClr val="DEEAF5"/>
            </a:solidFill>
          </p:grpSpPr>
          <p:sp>
            <p:nvSpPr>
              <p:cNvPr id="91" name="任意多边形: 形状 90"/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29" name="文本框 128"/>
          <p:cNvSpPr txBox="1"/>
          <p:nvPr/>
        </p:nvSpPr>
        <p:spPr>
          <a:xfrm>
            <a:off x="1338580" y="1605915"/>
            <a:ext cx="951484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solidFill>
                  <a:schemeClr val="tx1">
                    <a:lumMod val="95000"/>
                    <a:lumOff val="5000"/>
                  </a:schemeClr>
                </a:solidFill>
                <a:latin typeface="MiSans Bold" panose="00000800000000000000" charset="-122"/>
                <a:ea typeface="金山云技术体" charset="-122"/>
                <a:cs typeface="创客贴金刚体" panose="00020600040101010101" pitchFamily="18" charset="-122"/>
                <a:sym typeface="+mn-lt"/>
              </a:rPr>
              <a:t>电子电路设计课程结题答辩</a:t>
            </a:r>
            <a:endParaRPr lang="zh-CN" altLang="en-US" sz="8800" dirty="0">
              <a:solidFill>
                <a:schemeClr val="tx1">
                  <a:lumMod val="95000"/>
                  <a:lumOff val="5000"/>
                </a:schemeClr>
              </a:solidFill>
              <a:latin typeface="MiSans Bold" panose="00000800000000000000" charset="-122"/>
              <a:ea typeface="金山云技术体" charset="-122"/>
              <a:cs typeface="创客贴金刚体" panose="00020600040101010101" pitchFamily="18" charset="-122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298280" y="4599004"/>
            <a:ext cx="5312230" cy="439420"/>
            <a:chOff x="3448140" y="3332179"/>
            <a:chExt cx="5312230" cy="439420"/>
          </a:xfrm>
        </p:grpSpPr>
        <p:sp>
          <p:nvSpPr>
            <p:cNvPr id="54" name="矩形: 圆角 53"/>
            <p:cNvSpPr/>
            <p:nvPr/>
          </p:nvSpPr>
          <p:spPr>
            <a:xfrm>
              <a:off x="3448140" y="3332179"/>
              <a:ext cx="5312230" cy="439132"/>
            </a:xfrm>
            <a:prstGeom prst="roundRect">
              <a:avLst>
                <a:gd name="adj" fmla="val 50000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3796755" y="3372819"/>
              <a:ext cx="466026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  <a:cs typeface="+mn-ea"/>
                  <a:sym typeface="+mn-lt"/>
                </a:rPr>
                <a:t>水下的音乐革命</a:t>
              </a:r>
              <a:endParaRPr lang="zh-CN" altLang="en-US" sz="2000" b="1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 descr="D:\51PPT模板网\51pptmoban.com\图片.jpg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 descr="D:\51PPT模板网\51pptmoban.com\图片.jpg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 descr="D:\51PPT模板网\51pptmoban.com\图片.jpg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b="24800"/>
          <a:stretch>
            <a:fillRect/>
          </a:stretch>
        </p:blipFill>
        <p:spPr>
          <a:xfrm>
            <a:off x="4606290" y="164465"/>
            <a:ext cx="2741295" cy="1036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 descr="D:\51PPT模板网\51pptmoban.com\图片.jpg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-198315" y="1291191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857" y="4303174"/>
            <a:ext cx="4885" cy="5"/>
          </a:xfrm>
          <a:custGeom>
            <a:avLst/>
            <a:gdLst>
              <a:gd name="connsiteX0" fmla="*/ 0 w 4286"/>
              <a:gd name="connsiteY0" fmla="*/ 0 h 4"/>
              <a:gd name="connsiteX1" fmla="*/ 0 w 4286"/>
              <a:gd name="connsiteY1" fmla="*/ 0 h 4"/>
              <a:gd name="connsiteX2" fmla="*/ 0 w 4286"/>
              <a:gd name="connsiteY2" fmla="*/ 4 h 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67B5A4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4264660" y="127000"/>
            <a:ext cx="4031615" cy="1121566"/>
            <a:chOff x="4919431" y="-1033233"/>
            <a:chExt cx="2438400" cy="1121409"/>
          </a:xfrm>
        </p:grpSpPr>
        <p:sp>
          <p:nvSpPr>
            <p:cNvPr id="4" name="文本框 3"/>
            <p:cNvSpPr txBox="1"/>
            <p:nvPr/>
          </p:nvSpPr>
          <p:spPr>
            <a:xfrm>
              <a:off x="5315428" y="-1033233"/>
              <a:ext cx="1561645" cy="829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4800" b="1" i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阿里巴巴普惠体 2.0 115 Black" panose="00020600040101010101" pitchFamily="18" charset="-122"/>
                  <a:ea typeface="阿里巴巴普惠体 2.0 115 Black" panose="00020600040101010101" pitchFamily="18" charset="-122"/>
                  <a:cs typeface="阿里巴巴普惠体 2.0 115 Black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  <a:sym typeface="+mn-lt"/>
                </a:rPr>
                <a:t>目 录</a:t>
              </a:r>
              <a:endParaRPr lang="zh-CN" altLang="en-US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919431" y="-218486"/>
              <a:ext cx="2438400" cy="306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defRPr sz="2400" i="1">
                  <a:solidFill>
                    <a:srgbClr val="020202">
                      <a:alpha val="16000"/>
                    </a:srgb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defRPr>
              </a:lvl1pPr>
            </a:lstStyle>
            <a:p>
              <a:pPr algn="dist"/>
              <a:r>
                <a:rPr lang="zh-CN" altLang="en-US" sz="1400" i="0" dirty="0">
                  <a:solidFill>
                    <a:schemeClr val="bg1"/>
                  </a:solidFill>
                  <a:latin typeface="+mn-lt"/>
                  <a:ea typeface="MiSans" panose="00000500000000000000" charset="-122"/>
                </a:rPr>
                <a:t>CONTENTS</a:t>
              </a:r>
              <a:endParaRPr lang="zh-CN" altLang="en-US" sz="1400" i="0" dirty="0">
                <a:solidFill>
                  <a:schemeClr val="bg1"/>
                </a:solidFill>
                <a:latin typeface="+mn-lt"/>
                <a:ea typeface="MiSans" panose="00000500000000000000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1"/>
            </p:custDataLst>
          </p:nvPr>
        </p:nvGrpSpPr>
        <p:grpSpPr>
          <a:xfrm>
            <a:off x="1940046" y="2154634"/>
            <a:ext cx="8311907" cy="652164"/>
            <a:chOff x="1803647" y="2198176"/>
            <a:chExt cx="8311907" cy="652164"/>
          </a:xfrm>
        </p:grpSpPr>
        <p:grpSp>
          <p:nvGrpSpPr>
            <p:cNvPr id="36" name="组合 35"/>
            <p:cNvGrpSpPr/>
            <p:nvPr/>
          </p:nvGrpSpPr>
          <p:grpSpPr>
            <a:xfrm>
              <a:off x="1803647" y="2198176"/>
              <a:ext cx="3805333" cy="652164"/>
              <a:chOff x="1803647" y="2198176"/>
              <a:chExt cx="3805333" cy="652164"/>
            </a:xfrm>
          </p:grpSpPr>
          <p:sp>
            <p:nvSpPr>
              <p:cNvPr id="26" name="矩形: 圆角 25" descr="D:\51PPT模板网\51pptmoban.com\图片.jpg"/>
              <p:cNvSpPr/>
              <p:nvPr>
                <p:custDataLst>
                  <p:tags r:id="rId2"/>
                </p:custDataLst>
              </p:nvPr>
            </p:nvSpPr>
            <p:spPr>
              <a:xfrm>
                <a:off x="1803647" y="2198176"/>
                <a:ext cx="3805333" cy="652164"/>
              </a:xfrm>
              <a:prstGeom prst="roundRect">
                <a:avLst>
                  <a:gd name="adj" fmla="val 0"/>
                </a:avLst>
              </a:prstGeom>
              <a:solidFill>
                <a:srgbClr val="2A75B5"/>
              </a:solidFill>
              <a:ln w="12700">
                <a:noFill/>
              </a:ln>
              <a:effectLst>
                <a:outerShdw blurRad="127000" dist="63500" dir="5400000" sx="95000" sy="95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077457" y="2314381"/>
                <a:ext cx="208280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</a:rPr>
                  <a:t>项目</a:t>
                </a:r>
                <a:r>
                  <a:rPr lang="zh-CN" altLang="en-US" sz="20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背景与目的</a:t>
                </a: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283911" y="2269689"/>
                <a:ext cx="681968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MiSans" panose="00000500000000000000" charset="-122"/>
                    <a:ea typeface="MiSans" panose="00000500000000000000" charset="-122"/>
                  </a:rPr>
                  <a:t>01</a:t>
                </a:r>
                <a:endPara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310221" y="2198176"/>
              <a:ext cx="3805333" cy="652164"/>
              <a:chOff x="1803647" y="2198176"/>
              <a:chExt cx="3805333" cy="652164"/>
            </a:xfrm>
          </p:grpSpPr>
          <p:sp>
            <p:nvSpPr>
              <p:cNvPr id="39" name="矩形: 圆角 38"/>
              <p:cNvSpPr/>
              <p:nvPr>
                <p:custDataLst>
                  <p:tags r:id="rId5"/>
                </p:custDataLst>
              </p:nvPr>
            </p:nvSpPr>
            <p:spPr>
              <a:xfrm>
                <a:off x="1803647" y="2198176"/>
                <a:ext cx="3805333" cy="652164"/>
              </a:xfrm>
              <a:prstGeom prst="roundRect">
                <a:avLst>
                  <a:gd name="adj" fmla="val 0"/>
                </a:avLst>
              </a:prstGeom>
              <a:solidFill>
                <a:srgbClr val="2A75B5"/>
              </a:solidFill>
              <a:ln w="12700">
                <a:noFill/>
              </a:ln>
              <a:effectLst>
                <a:outerShdw blurRad="127000" dist="63500" dir="5400000" sx="95000" sy="95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212828" y="2314461"/>
                <a:ext cx="1812106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</a:rPr>
                  <a:t>方案</a:t>
                </a:r>
                <a:r>
                  <a:rPr lang="zh-CN" altLang="en-US" sz="20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蓝图</a:t>
                </a:r>
                <a:endParaRPr lang="en-US" altLang="zh-CN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283911" y="2269689"/>
                <a:ext cx="6819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MiSans Heavy" panose="00000A00000000000000" pitchFamily="2" charset="-122"/>
                    <a:ea typeface="MiSans Heavy" panose="00000A00000000000000" pitchFamily="2" charset="-122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endParaRPr>
              </a:p>
            </p:txBody>
          </p:sp>
        </p:grpSp>
      </p:grpSp>
      <p:grpSp>
        <p:nvGrpSpPr>
          <p:cNvPr id="45" name="组合 44"/>
          <p:cNvGrpSpPr/>
          <p:nvPr>
            <p:custDataLst>
              <p:tags r:id="rId8"/>
            </p:custDataLst>
          </p:nvPr>
        </p:nvGrpSpPr>
        <p:grpSpPr>
          <a:xfrm>
            <a:off x="1940046" y="4018776"/>
            <a:ext cx="8311907" cy="823040"/>
            <a:chOff x="1803647" y="2198176"/>
            <a:chExt cx="8311907" cy="823040"/>
          </a:xfrm>
        </p:grpSpPr>
        <p:grpSp>
          <p:nvGrpSpPr>
            <p:cNvPr id="46" name="组合 45"/>
            <p:cNvGrpSpPr/>
            <p:nvPr/>
          </p:nvGrpSpPr>
          <p:grpSpPr>
            <a:xfrm>
              <a:off x="1803647" y="2198176"/>
              <a:ext cx="3805333" cy="823003"/>
              <a:chOff x="1803647" y="2198176"/>
              <a:chExt cx="3805333" cy="823003"/>
            </a:xfrm>
          </p:grpSpPr>
          <p:sp>
            <p:nvSpPr>
              <p:cNvPr id="53" name="矩形: 圆角 52"/>
              <p:cNvSpPr/>
              <p:nvPr>
                <p:custDataLst>
                  <p:tags r:id="rId9"/>
                </p:custDataLst>
              </p:nvPr>
            </p:nvSpPr>
            <p:spPr>
              <a:xfrm>
                <a:off x="1803647" y="2198176"/>
                <a:ext cx="3805333" cy="652164"/>
              </a:xfrm>
              <a:prstGeom prst="roundRect">
                <a:avLst>
                  <a:gd name="adj" fmla="val 0"/>
                </a:avLst>
              </a:prstGeom>
              <a:solidFill>
                <a:srgbClr val="2A75B5"/>
              </a:solidFill>
              <a:ln w="12700">
                <a:noFill/>
              </a:ln>
              <a:effectLst>
                <a:outerShdw blurRad="127000" dist="63500" dir="5400000" sx="95000" sy="95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文本框 5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965911" y="2314424"/>
                <a:ext cx="2515282" cy="7067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</a:rPr>
                  <a:t>进展与展望</a:t>
                </a: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283911" y="2269689"/>
                <a:ext cx="6819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MiSans Heavy" panose="00000A00000000000000" pitchFamily="2" charset="-122"/>
                    <a:ea typeface="MiSans Heavy" panose="00000A00000000000000" pitchFamily="2" charset="-122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6310221" y="2198176"/>
              <a:ext cx="3805333" cy="823040"/>
              <a:chOff x="1803647" y="2198176"/>
              <a:chExt cx="3805333" cy="823040"/>
            </a:xfrm>
          </p:grpSpPr>
          <p:sp>
            <p:nvSpPr>
              <p:cNvPr id="48" name="矩形: 圆角 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1803647" y="2198176"/>
                <a:ext cx="3805333" cy="652164"/>
              </a:xfrm>
              <a:prstGeom prst="roundRect">
                <a:avLst>
                  <a:gd name="adj" fmla="val 0"/>
                </a:avLst>
              </a:prstGeom>
              <a:solidFill>
                <a:srgbClr val="2A75B5"/>
              </a:solidFill>
              <a:ln w="12700">
                <a:noFill/>
              </a:ln>
              <a:effectLst>
                <a:outerShdw blurRad="127000" dist="63500" dir="5400000" sx="95000" sy="95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212828" y="2314461"/>
                <a:ext cx="2238134" cy="7067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</a:rPr>
                  <a:t>人员</a:t>
                </a:r>
                <a:r>
                  <a:rPr lang="zh-CN" altLang="en-US" sz="2000" b="1" dirty="0">
                    <a:solidFill>
                      <a:schemeClr val="bg1"/>
                    </a:solidFill>
                  </a:rPr>
                  <a:t>分工</a:t>
                </a: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文本框 5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283911" y="2269689"/>
                <a:ext cx="6819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MiSans Heavy" panose="00000A00000000000000" pitchFamily="2" charset="-122"/>
                    <a:ea typeface="MiSans Heavy" panose="00000A00000000000000" pitchFamily="2" charset="-122"/>
                  </a:rPr>
                  <a:t>04</a:t>
                </a:r>
                <a:endParaRPr lang="zh-CN" altLang="en-US" sz="2800" dirty="0">
                  <a:solidFill>
                    <a:schemeClr val="bg1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endParaRPr>
              </a:p>
            </p:txBody>
          </p:sp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857" y="4303174"/>
            <a:ext cx="4885" cy="5"/>
          </a:xfrm>
          <a:custGeom>
            <a:avLst/>
            <a:gdLst>
              <a:gd name="connsiteX0" fmla="*/ 0 w 4286"/>
              <a:gd name="connsiteY0" fmla="*/ 0 h 4"/>
              <a:gd name="connsiteX1" fmla="*/ 0 w 4286"/>
              <a:gd name="connsiteY1" fmla="*/ 0 h 4"/>
              <a:gd name="connsiteX2" fmla="*/ 0 w 4286"/>
              <a:gd name="connsiteY2" fmla="*/ 4 h 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67B5A4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 descr="D:\51PPT模板网\51pptmoban.com\图片.jpg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 descr="D:\51PPT模板网\51pptmoban.com\图片.jpg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4252865" y="3267520"/>
            <a:ext cx="3686271" cy="971129"/>
            <a:chOff x="1803647" y="2198176"/>
            <a:chExt cx="3805333" cy="834082"/>
          </a:xfrm>
        </p:grpSpPr>
        <p:sp>
          <p:nvSpPr>
            <p:cNvPr id="26" name="矩形: 圆角 25" descr="D:\51PPT模板网\51pptmoban.com\图片.jpg"/>
            <p:cNvSpPr/>
            <p:nvPr/>
          </p:nvSpPr>
          <p:spPr>
            <a:xfrm>
              <a:off x="1803647" y="2198176"/>
              <a:ext cx="3805333" cy="652164"/>
            </a:xfrm>
            <a:prstGeom prst="roundRect">
              <a:avLst>
                <a:gd name="adj" fmla="val 0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472839" y="2325503"/>
              <a:ext cx="2466950" cy="7067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项目背景与目的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701640" y="602891"/>
            <a:ext cx="27887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rPr>
              <a:t>01</a:t>
            </a:r>
            <a:endParaRPr lang="en-US" altLang="zh-CN" sz="8800" dirty="0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88955" y="221615"/>
            <a:ext cx="803275" cy="813435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3053546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项目</a:t>
              </a:r>
              <a:r>
                <a:rPr lang="zh-CN" altLang="en-US" sz="2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背景与目的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6" name="图片 5" descr="post_object_image_6045548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8154" y="1308600"/>
            <a:ext cx="5848350" cy="406717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405407" y="1562309"/>
            <a:ext cx="4973955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游泳者长时间面对 </a:t>
            </a:r>
            <a:r>
              <a:rPr lang="zh-CN" altLang="en-US">
                <a:solidFill>
                  <a:schemeClr val="accent1"/>
                </a:solidFill>
                <a:cs typeface="Arial" panose="020B0604020202020204" pitchFamily="34" charset="0"/>
              </a:rPr>
              <a:t>单调水声与空白视觉</a:t>
            </a:r>
            <a:r>
              <a:rPr lang="zh-CN" altLang="en-US"/>
              <a:t> ，大脑缺乏节奏反馈，易进入“机械划水”状态，导致疲劳感提前、动作变形、训练效率下降。</a:t>
            </a:r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240030" y="859155"/>
            <a:ext cx="1579880" cy="46037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痛点！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12" name="图片 11" descr="post_object_image_30314306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58" y="2727402"/>
            <a:ext cx="34740" cy="497946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502814" y="2806800"/>
            <a:ext cx="7315200" cy="337185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 sz="1600"/>
              <a:t>传统方案失效</a:t>
            </a:r>
            <a:endParaRPr lang="zh-CN" altLang="en-US" sz="160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40035" y="3593874"/>
            <a:ext cx="2830195" cy="46037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</a:rPr>
              <a:t>困境</a:t>
            </a:r>
            <a:endParaRPr lang="zh-CN" altLang="en-US" sz="2400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05412" y="4270584"/>
            <a:ext cx="455803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蓝牙的“无力”与有线的“隐患”</a:t>
            </a:r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1221304" y="5006181"/>
            <a:ext cx="720505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 b="1"/>
              <a:t>蓝牙</a:t>
            </a:r>
            <a:endParaRPr lang="zh-CN" altLang="en-US" sz="2000" b="1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2983482" y="5006169"/>
            <a:ext cx="789798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 b="1"/>
              <a:t>有</a:t>
            </a:r>
            <a:r>
              <a:rPr lang="zh-CN" altLang="en-US" sz="2000" b="1">
                <a:cs typeface="Arial" panose="020B0604020202020204" pitchFamily="34" charset="0"/>
              </a:rPr>
              <a:t>线</a:t>
            </a:r>
            <a:endParaRPr lang="zh-CN" altLang="en-US" sz="2000" b="1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2253901" y="5017119"/>
            <a:ext cx="434420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b="1"/>
              <a:t>or</a:t>
            </a:r>
            <a:endParaRPr lang="zh-CN" altLang="en-US" b="1"/>
          </a:p>
        </p:txBody>
      </p:sp>
      <p:sp>
        <p:nvSpPr>
          <p:cNvPr id="20" name="椭圆 19"/>
          <p:cNvSpPr/>
          <p:nvPr userDrawn="1"/>
        </p:nvSpPr>
        <p:spPr>
          <a:xfrm>
            <a:off x="1167020" y="4899316"/>
            <a:ext cx="829038" cy="604709"/>
          </a:xfrm>
          <a:prstGeom prst="ellipse">
            <a:avLst/>
          </a:prstGeom>
          <a:noFill/>
          <a:ln w="38100">
            <a:solidFill>
              <a:srgbClr val="086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 b="1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 userDrawn="1"/>
        </p:nvSpPr>
        <p:spPr>
          <a:xfrm>
            <a:off x="2914032" y="4899309"/>
            <a:ext cx="816084" cy="605265"/>
          </a:xfrm>
          <a:prstGeom prst="ellipse">
            <a:avLst/>
          </a:prstGeom>
          <a:noFill/>
          <a:ln w="28575">
            <a:solidFill>
              <a:srgbClr val="086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 b="1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3079589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项目背景与目的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2" name="图片 1" descr="post_object_image_38429177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3144" y="970690"/>
            <a:ext cx="5057775" cy="552450"/>
          </a:xfrm>
          <a:prstGeom prst="rect">
            <a:avLst/>
          </a:prstGeom>
        </p:spPr>
      </p:pic>
      <p:pic>
        <p:nvPicPr>
          <p:cNvPr id="3" name="图片 2" descr="post_object_image_11907583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05" y="1854835"/>
            <a:ext cx="3483610" cy="2355850"/>
          </a:xfrm>
          <a:prstGeom prst="rect">
            <a:avLst/>
          </a:prstGeom>
        </p:spPr>
      </p:pic>
      <p:pic>
        <p:nvPicPr>
          <p:cNvPr id="4" name="图片 3" descr="post_object_image_21520586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385" y="1768475"/>
            <a:ext cx="3464560" cy="24123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41450" y="4542155"/>
            <a:ext cx="95510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2.4GHz </a:t>
            </a:r>
            <a:r>
              <a:rPr lang="zh-CN" altLang="en-US"/>
              <a:t>无线信号在水介质中衰减极快，有效传输距离不足</a:t>
            </a:r>
            <a:r>
              <a:rPr lang="en-US" altLang="zh-CN"/>
              <a:t> 5cm</a:t>
            </a:r>
            <a:r>
              <a:rPr lang="zh-CN" altLang="en-US"/>
              <a:t>，导致水下音频频繁断连。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37005" y="4910455"/>
            <a:ext cx="99752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音质损耗：</a:t>
            </a:r>
            <a:r>
              <a:rPr lang="zh-CN" altLang="en-US" sz="1600"/>
              <a:t> 划水产生的气泡与动态水流会造成严重的信号多路衰减，无法保证竞技训练所需的音质稳定性。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3676650" y="544988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选择</a:t>
            </a:r>
            <a:r>
              <a:rPr lang="en-US" altLang="zh-CN" sz="2400" b="1">
                <a:solidFill>
                  <a:srgbClr val="FF00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本地存储 </a:t>
            </a:r>
            <a:r>
              <a:rPr lang="en-US" altLang="zh-CN" sz="2400" b="1">
                <a:solidFill>
                  <a:srgbClr val="FF0000"/>
                </a:solidFill>
              </a:rPr>
              <a:t>+ </a:t>
            </a:r>
            <a:r>
              <a:rPr lang="zh-CN" altLang="en-US" sz="2400" b="1">
                <a:solidFill>
                  <a:srgbClr val="FF0000"/>
                </a:solidFill>
              </a:rPr>
              <a:t>有线传输</a:t>
            </a:r>
            <a:r>
              <a:rPr lang="en-US" altLang="zh-CN" sz="2400" b="1">
                <a:solidFill>
                  <a:srgbClr val="FF00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路线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 descr="D:\51PPT模板网\51pptmoban.com\图片.jpg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 descr="D:\51PPT模板网\51pptmoban.com\图片.jpg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 descr="D:\51PPT模板网\51pptmoban.com\图片.jpg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4701640" y="602891"/>
            <a:ext cx="27887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rPr>
              <a:t>02</a:t>
            </a:r>
            <a:endParaRPr lang="en-US" altLang="zh-CN" sz="8800" dirty="0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52865" y="3267520"/>
            <a:ext cx="3686271" cy="971129"/>
            <a:chOff x="1803647" y="2198176"/>
            <a:chExt cx="3805333" cy="834082"/>
          </a:xfrm>
        </p:grpSpPr>
        <p:sp>
          <p:nvSpPr>
            <p:cNvPr id="4" name="矩形: 圆角 25" descr="D:\51PPT模板网\51pptmoban.com\图片.jpg"/>
            <p:cNvSpPr/>
            <p:nvPr/>
          </p:nvSpPr>
          <p:spPr>
            <a:xfrm>
              <a:off x="1803647" y="2198176"/>
              <a:ext cx="3805333" cy="652164"/>
            </a:xfrm>
            <a:prstGeom prst="roundRect">
              <a:avLst>
                <a:gd name="adj" fmla="val 0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992611" y="2325503"/>
              <a:ext cx="2466950" cy="7067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方案</a:t>
              </a:r>
              <a:r>
                <a:rPr lang="zh-CN" altLang="en-US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蓝图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 userDrawn="1"/>
        </p:nvSpPr>
        <p:spPr>
          <a:xfrm>
            <a:off x="6911609" y="1312273"/>
            <a:ext cx="3507105" cy="338455"/>
          </a:xfrm>
          <a:prstGeom prst="roundRect">
            <a:avLst/>
          </a:prstGeom>
          <a:solidFill>
            <a:schemeClr val="accent5">
              <a:lumMod val="75000"/>
              <a:alpha val="100000"/>
            </a:schemeClr>
          </a:solidFill>
          <a:ln>
            <a:solidFill>
              <a:srgbClr val="086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4725488" y="56387"/>
            <a:ext cx="3548374" cy="751527"/>
            <a:chOff x="2420310" y="2269689"/>
            <a:chExt cx="3548374" cy="751527"/>
          </a:xfrm>
        </p:grpSpPr>
        <p:sp>
          <p:nvSpPr>
            <p:cNvPr id="70" name="文本框 69"/>
            <p:cNvSpPr txBox="1"/>
            <p:nvPr/>
          </p:nvSpPr>
          <p:spPr>
            <a:xfrm>
              <a:off x="3305822" y="2314461"/>
              <a:ext cx="2662862" cy="7067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底层</a:t>
              </a:r>
              <a:r>
                <a:rPr lang="zh-CN" altLang="en-US" sz="2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架构与控制中枢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99745" y="1916112"/>
            <a:ext cx="4859469" cy="1488129"/>
            <a:chOff x="550863" y="1524000"/>
            <a:chExt cx="5456423" cy="1904999"/>
          </a:xfrm>
        </p:grpSpPr>
        <p:sp>
          <p:nvSpPr>
            <p:cNvPr id="18" name="矩形: 折角 17"/>
            <p:cNvSpPr/>
            <p:nvPr/>
          </p:nvSpPr>
          <p:spPr>
            <a:xfrm>
              <a:off x="550863" y="1524000"/>
              <a:ext cx="5427821" cy="1904999"/>
            </a:xfrm>
            <a:prstGeom prst="foldedCorner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>
                <a:lnSpc>
                  <a:spcPct val="90000"/>
                </a:lnSpc>
                <a:spcBef>
                  <a:spcPts val="1000"/>
                </a:spcBef>
                <a:buNone/>
              </a:pPr>
              <a:endParaRPr lang="zh-CN" altLang="en-US" sz="2800" dirty="0">
                <a:solidFill>
                  <a:schemeClr val="tx1"/>
                </a:solidFill>
                <a:latin typeface="+mn-ea"/>
                <a:ea typeface="MiSans" panose="00000500000000000000" charset="-122"/>
                <a:cs typeface="+mn-ea"/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 rot="18931191">
              <a:off x="5665575" y="3114634"/>
              <a:ext cx="341711" cy="180566"/>
            </a:xfrm>
            <a:prstGeom prst="triangle">
              <a:avLst>
                <a:gd name="adj" fmla="val 51069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</a:pPr>
              <a:endParaRPr lang="zh-CN" altLang="en-US" sz="2800" dirty="0">
                <a:solidFill>
                  <a:schemeClr val="tx1"/>
                </a:solidFill>
                <a:latin typeface="+mn-ea"/>
                <a:ea typeface="MiSans" panose="00000500000000000000" charset="-122"/>
                <a:cs typeface="+mn-ea"/>
              </a:endParaRPr>
            </a:p>
          </p:txBody>
        </p:sp>
      </p:grpSp>
      <p:sp>
        <p:nvSpPr>
          <p:cNvPr id="3" name="文本框 2"/>
          <p:cNvSpPr txBox="1"/>
          <p:nvPr userDrawn="1"/>
        </p:nvSpPr>
        <p:spPr>
          <a:xfrm>
            <a:off x="412617" y="1937327"/>
            <a:ext cx="4555627" cy="1476375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endParaRPr lang="en-US" altLang="zh-CN">
              <a:latin typeface="MiSans" panose="00000500000000000000" charset="-122"/>
              <a:ea typeface="MiSans" panose="00000500000000000000" charset="-122"/>
              <a:cs typeface="Arial" panose="020B0604020202020204" pitchFamily="34" charset="0"/>
            </a:endParaRPr>
          </a:p>
          <a:p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集成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32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位精简指令集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MCU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+ 高性能音频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Codec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在原始规划中，我们充分利用其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SPI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通信能力，实现本地无损解码，规避水下无线传输的物理屏蔽。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7063275" y="1310859"/>
            <a:ext cx="3793472" cy="40792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存储革命：</a:t>
            </a:r>
            <a:r>
              <a:rPr lang="en-US" altLang="zh-CN" sz="160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W25Q128 </a:t>
            </a:r>
            <a:r>
              <a:rPr lang="zh-CN" altLang="en-US" sz="160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贴片闪存</a:t>
            </a:r>
            <a:r>
              <a:rPr lang="en-US" altLang="zh-CN">
                <a:latin typeface="MiSans" panose="00000500000000000000" charset="-122"/>
                <a:ea typeface="MiSans" panose="00000500000000000000" charset="-122"/>
              </a:rPr>
              <a:t> </a:t>
            </a:r>
            <a:endParaRPr lang="zh-CN" altLang="en-US"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880970" y="1916080"/>
            <a:ext cx="5155672" cy="1606480"/>
            <a:chOff x="550863" y="1524000"/>
            <a:chExt cx="5456423" cy="1904999"/>
          </a:xfrm>
        </p:grpSpPr>
        <p:sp>
          <p:nvSpPr>
            <p:cNvPr id="8" name="矩形: 折角 17"/>
            <p:cNvSpPr/>
            <p:nvPr/>
          </p:nvSpPr>
          <p:spPr>
            <a:xfrm>
              <a:off x="550863" y="1524000"/>
              <a:ext cx="5427821" cy="1904999"/>
            </a:xfrm>
            <a:prstGeom prst="foldedCorner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>
                <a:lnSpc>
                  <a:spcPct val="90000"/>
                </a:lnSpc>
                <a:spcBef>
                  <a:spcPts val="1000"/>
                </a:spcBef>
                <a:buNone/>
              </a:pPr>
              <a:endParaRPr lang="zh-CN" altLang="en-US" sz="2800" dirty="0">
                <a:solidFill>
                  <a:schemeClr val="tx1"/>
                </a:solidFill>
                <a:latin typeface="+mn-ea"/>
                <a:ea typeface="MiSans" panose="00000500000000000000" charset="-122"/>
                <a:cs typeface="+mn-ea"/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rot="18931191">
              <a:off x="5665575" y="3114634"/>
              <a:ext cx="341711" cy="180566"/>
            </a:xfrm>
            <a:prstGeom prst="triangle">
              <a:avLst>
                <a:gd name="adj" fmla="val 51069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</a:pPr>
              <a:endParaRPr lang="zh-CN" altLang="en-US" sz="2800" dirty="0">
                <a:solidFill>
                  <a:schemeClr val="tx1"/>
                </a:solidFill>
                <a:latin typeface="+mn-ea"/>
                <a:ea typeface="MiSans" panose="00000500000000000000" charset="-122"/>
                <a:cs typeface="+mn-ea"/>
              </a:endParaRPr>
            </a:p>
          </p:txBody>
        </p:sp>
      </p:grpSp>
      <p:sp>
        <p:nvSpPr>
          <p:cNvPr id="4" name="文本框 3"/>
          <p:cNvSpPr txBox="1"/>
          <p:nvPr userDrawn="1"/>
        </p:nvSpPr>
        <p:spPr>
          <a:xfrm>
            <a:off x="7063275" y="1504633"/>
            <a:ext cx="4797655" cy="2204657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endParaRPr lang="zh-CN" altLang="en-US">
              <a:latin typeface="MiSans" panose="00000500000000000000" charset="-122"/>
              <a:ea typeface="MiSans" panose="00000500000000000000" charset="-122"/>
            </a:endParaRPr>
          </a:p>
          <a:p>
            <a:endParaRPr lang="zh-CN" altLang="en-US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原始规格： 放弃传统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TF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卡槽（机械结构、易氧化、体积大）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技术优势： 采用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SOP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-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8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封装，通过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SPI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总线与主控直连。实现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128Mbit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的板载存储，彻底解决水下震动导致的掉卡、读卡失败问题。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sp>
        <p:nvSpPr>
          <p:cNvPr id="12" name="圆角矩形 11"/>
          <p:cNvSpPr/>
          <p:nvPr userDrawn="1"/>
        </p:nvSpPr>
        <p:spPr>
          <a:xfrm>
            <a:off x="412617" y="1336903"/>
            <a:ext cx="3507105" cy="338455"/>
          </a:xfrm>
          <a:prstGeom prst="roundRect">
            <a:avLst/>
          </a:prstGeom>
          <a:solidFill>
            <a:schemeClr val="accent5">
              <a:lumMod val="75000"/>
              <a:alpha val="100000"/>
            </a:schemeClr>
          </a:solidFill>
          <a:ln>
            <a:solidFill>
              <a:srgbClr val="086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791" y="1361484"/>
            <a:ext cx="3339216" cy="2892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核心主控</a:t>
            </a:r>
            <a:r>
              <a:rPr lang="en-US" altLang="zh-CN" sz="1600" b="1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 (SoC)</a:t>
            </a:r>
            <a:r>
              <a:rPr lang="zh-CN" altLang="en-US" sz="1600" b="1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：杰理</a:t>
            </a:r>
            <a:r>
              <a:rPr lang="en-US" altLang="zh-CN" sz="1600" b="1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阿里巴巴普惠体 2.0 115 Black" charset="0"/>
              </a:rPr>
              <a:t> AC6905A</a:t>
            </a:r>
            <a:endParaRPr lang="en-US" altLang="zh-CN" sz="1600" b="1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  <a:cs typeface="阿里巴巴普惠体 2.0 115 Black" charset="0"/>
            </a:endParaRPr>
          </a:p>
          <a:p>
            <a:endParaRPr lang="zh-CN" altLang="en-US" sz="1600" b="1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  <a:cs typeface="阿里巴巴普惠体 2.0 115 Black" charset="0"/>
            </a:endParaRPr>
          </a:p>
        </p:txBody>
      </p:sp>
      <p:sp>
        <p:nvSpPr>
          <p:cNvPr id="14" name="圆角矩形 13"/>
          <p:cNvSpPr/>
          <p:nvPr userDrawn="1"/>
        </p:nvSpPr>
        <p:spPr>
          <a:xfrm>
            <a:off x="4125222" y="3921901"/>
            <a:ext cx="3507105" cy="338455"/>
          </a:xfrm>
          <a:prstGeom prst="roundRect">
            <a:avLst/>
          </a:prstGeom>
          <a:solidFill>
            <a:schemeClr val="accent5">
              <a:lumMod val="75000"/>
              <a:alpha val="100000"/>
            </a:schemeClr>
          </a:solidFill>
          <a:ln>
            <a:solidFill>
              <a:srgbClr val="086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4481143" y="3947944"/>
            <a:ext cx="3070099" cy="33909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chemeClr val="bg1"/>
                </a:solidFill>
              </a:rPr>
              <a:t>交互逻辑：无孔式磁敏传感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3439820" y="4406582"/>
            <a:ext cx="4859469" cy="1488129"/>
            <a:chOff x="550863" y="1524000"/>
            <a:chExt cx="5456423" cy="1904999"/>
          </a:xfrm>
        </p:grpSpPr>
        <p:sp>
          <p:nvSpPr>
            <p:cNvPr id="20" name="矩形: 折角 17"/>
            <p:cNvSpPr/>
            <p:nvPr/>
          </p:nvSpPr>
          <p:spPr>
            <a:xfrm>
              <a:off x="550863" y="1524000"/>
              <a:ext cx="5427821" cy="1904999"/>
            </a:xfrm>
            <a:prstGeom prst="foldedCorner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>
                <a:lnSpc>
                  <a:spcPct val="90000"/>
                </a:lnSpc>
                <a:spcBef>
                  <a:spcPts val="1000"/>
                </a:spcBef>
                <a:buNone/>
              </a:pPr>
              <a:endParaRPr lang="zh-CN" altLang="en-US" sz="2800" dirty="0">
                <a:solidFill>
                  <a:schemeClr val="tx1"/>
                </a:solidFill>
                <a:latin typeface="+mn-ea"/>
                <a:ea typeface="MiSans" panose="00000500000000000000" charset="-122"/>
                <a:cs typeface="+mn-ea"/>
              </a:endParaRPr>
            </a:p>
          </p:txBody>
        </p:sp>
        <p:sp>
          <p:nvSpPr>
            <p:cNvPr id="21" name="等腰三角形 20"/>
            <p:cNvSpPr/>
            <p:nvPr/>
          </p:nvSpPr>
          <p:spPr>
            <a:xfrm rot="18931191">
              <a:off x="5665575" y="3114634"/>
              <a:ext cx="341711" cy="180566"/>
            </a:xfrm>
            <a:prstGeom prst="triangle">
              <a:avLst>
                <a:gd name="adj" fmla="val 51069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</a:pPr>
              <a:endParaRPr lang="zh-CN" altLang="en-US" sz="2800" dirty="0">
                <a:solidFill>
                  <a:schemeClr val="tx1"/>
                </a:solidFill>
                <a:latin typeface="+mn-ea"/>
                <a:ea typeface="MiSans" panose="00000500000000000000" charset="-122"/>
                <a:cs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582670" y="4525645"/>
            <a:ext cx="4624070" cy="126365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利用霍尔传感器感应外部磁吸滑块/拨片的磁场变化，将物理位移转化为电平信号。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密封优势： 实现外壳全封闭设计，消除了机械按键的胶圈老化和渗水隐患</a:t>
            </a:r>
            <a:endParaRPr lang="en-US" altLang="zh-CN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pic>
        <p:nvPicPr>
          <p:cNvPr id="23" name="图片 22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" y="3921760"/>
            <a:ext cx="2129155" cy="1851025"/>
          </a:xfrm>
          <a:prstGeom prst="rect">
            <a:avLst/>
          </a:prstGeom>
        </p:spPr>
      </p:pic>
      <p:pic>
        <p:nvPicPr>
          <p:cNvPr id="24" name="图片 23" descr="生成特定信息图片 (2)"/>
          <p:cNvPicPr>
            <a:picLocks noChangeAspect="1"/>
          </p:cNvPicPr>
          <p:nvPr/>
        </p:nvPicPr>
        <p:blipFill>
          <a:blip r:embed="rId4"/>
          <a:srcRect l="18765" t="7190" r="19097" b="20204"/>
          <a:stretch>
            <a:fillRect/>
          </a:stretch>
        </p:blipFill>
        <p:spPr>
          <a:xfrm>
            <a:off x="8849360" y="4100195"/>
            <a:ext cx="2734945" cy="1797050"/>
          </a:xfrm>
          <a:prstGeom prst="rect">
            <a:avLst/>
          </a:prstGeom>
        </p:spPr>
      </p:pic>
      <p:pic>
        <p:nvPicPr>
          <p:cNvPr id="25" name="图片 24" descr="生成特定信息图片 (3)"/>
          <p:cNvPicPr>
            <a:picLocks noChangeAspect="1"/>
          </p:cNvPicPr>
          <p:nvPr/>
        </p:nvPicPr>
        <p:blipFill>
          <a:blip r:embed="rId5"/>
          <a:srcRect l="18515" t="8225" r="13263" b="7259"/>
          <a:stretch>
            <a:fillRect/>
          </a:stretch>
        </p:blipFill>
        <p:spPr>
          <a:xfrm>
            <a:off x="5139690" y="2360295"/>
            <a:ext cx="1751965" cy="1221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原理图设计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11" name="图片 10" descr="post_object_image_31579367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430" y="1213280"/>
            <a:ext cx="5770577" cy="3889460"/>
          </a:xfrm>
          <a:prstGeom prst="rect">
            <a:avLst/>
          </a:prstGeom>
        </p:spPr>
      </p:pic>
      <p:sp>
        <p:nvSpPr>
          <p:cNvPr id="29" name="文本框 28"/>
          <p:cNvSpPr txBox="1"/>
          <p:nvPr userDrawn="1"/>
        </p:nvSpPr>
        <p:spPr>
          <a:xfrm>
            <a:off x="6788689" y="2996249"/>
            <a:ext cx="4823699" cy="2030095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MiSans" panose="00000500000000000000" charset="-122"/>
                <a:ea typeface="MiSans" panose="00000500000000000000" charset="-122"/>
              </a:rPr>
              <a:t>亮点：</a:t>
            </a:r>
            <a:r>
              <a:rPr lang="en-US" altLang="zh-CN">
                <a:latin typeface="MiSans" panose="00000500000000000000" charset="-122"/>
                <a:ea typeface="MiSans" panose="00000500000000000000" charset="-122"/>
              </a:rPr>
              <a:t>  </a:t>
            </a:r>
            <a:endParaRPr lang="en-US" altLang="zh-CN">
              <a:latin typeface="MiSans" panose="00000500000000000000" charset="-122"/>
              <a:ea typeface="MiSans" panose="00000500000000000000" charset="-122"/>
            </a:endParaRPr>
          </a:p>
          <a:p>
            <a:r>
              <a:rPr lang="en-US" altLang="zh-CN">
                <a:latin typeface="MiSans" panose="00000500000000000000" charset="-122"/>
                <a:ea typeface="MiSans" panose="00000500000000000000" charset="-122"/>
              </a:rPr>
              <a:t>         </a:t>
            </a:r>
            <a:r>
              <a:rPr lang="zh-CN" altLang="en-US" sz="1600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主动阻抗监测保护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： 在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L/R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音频输出端设计了微电流监测支路。若耳机孔因渗水产生短路，反馈至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MCU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引脚，强制关闭功放，防止电解腐蚀。          </a:t>
            </a:r>
            <a:r>
              <a:rPr lang="zh-CN" altLang="en-US" sz="1600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电源稳压系统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： 采用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LDO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低功耗方案，确保在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3.7V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锂电驱动下，音频底噪受电源波纹影响降至最低（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SNR &gt; 95dB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）。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45616" y="1265154"/>
            <a:ext cx="1611663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 defTabSz="0" rtl="0" eaLnBrk="1" latinLnBrk="0" hangingPunct="1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50FF"/>
                </a:solidFill>
              </a:rPr>
              <a:t>高度集成</a:t>
            </a:r>
            <a:endParaRPr lang="zh-CN" altLang="en-US" b="1">
              <a:solidFill>
                <a:srgbClr val="0050FF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45616" y="1753600"/>
            <a:ext cx="180679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 defTabSz="0" rtl="0" eaLnBrk="1" latinLnBrk="0" hangingPunct="1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50FF"/>
                </a:solidFill>
              </a:rPr>
              <a:t>低功耗设计</a:t>
            </a:r>
            <a:endParaRPr lang="zh-CN" altLang="en-US" b="1">
              <a:solidFill>
                <a:srgbClr val="0050FF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45616" y="2244707"/>
            <a:ext cx="1889412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 defTabSz="0" rtl="0" eaLnBrk="1" latinLnBrk="0" hangingPunct="1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50FF"/>
                </a:solidFill>
              </a:rPr>
              <a:t>适配水下使用</a:t>
            </a:r>
            <a:endParaRPr lang="zh-CN" altLang="en-US" b="1">
              <a:solidFill>
                <a:srgbClr val="0050FF"/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高集成</a:t>
              </a:r>
              <a:r>
                <a:rPr lang="en-US" altLang="zh-CN" sz="2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PCB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6545580" y="1264920"/>
            <a:ext cx="190627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50FF"/>
                </a:solidFill>
              </a:rPr>
              <a:t>三分区布局</a:t>
            </a:r>
            <a:endParaRPr lang="zh-CN" altLang="en-US" b="1">
              <a:solidFill>
                <a:srgbClr val="0050FF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2"/>
            </p:custDataLst>
          </p:nvPr>
        </p:nvSpPr>
        <p:spPr>
          <a:xfrm>
            <a:off x="6545616" y="2022717"/>
            <a:ext cx="180679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 defTabSz="0" rtl="0" eaLnBrk="1" latinLnBrk="0" hangingPunct="1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50FF"/>
                </a:solidFill>
              </a:rPr>
              <a:t>短音频走线</a:t>
            </a:r>
            <a:endParaRPr lang="zh-CN" altLang="en-US" b="1">
              <a:solidFill>
                <a:srgbClr val="0050FF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45616" y="2748216"/>
            <a:ext cx="2297428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 defTabSz="0" rtl="0" eaLnBrk="1" latinLnBrk="0" hangingPunct="1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50FF"/>
                </a:solidFill>
              </a:rPr>
              <a:t>防护涂层与工艺</a:t>
            </a:r>
            <a:endParaRPr lang="zh-CN" altLang="en-US" b="1">
              <a:solidFill>
                <a:srgbClr val="0050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6479" y="579643"/>
            <a:ext cx="5758224" cy="4501543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 userDrawn="1">
            <p:custDataLst>
              <p:tags r:id="rId4"/>
            </p:custDataLst>
          </p:nvPr>
        </p:nvSpPr>
        <p:spPr>
          <a:xfrm>
            <a:off x="8229767" y="1265185"/>
            <a:ext cx="7315200" cy="337185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 sz="1600">
                <a:latin typeface="MiSans" panose="00000500000000000000" charset="-122"/>
                <a:ea typeface="MiSans" panose="00000500000000000000" charset="-122"/>
              </a:rPr>
              <a:t>数字、电源、模拟区域独立，避免干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</a:rPr>
              <a:t>扰</a:t>
            </a:r>
            <a:endParaRPr lang="zh-CN" altLang="en-US" sz="1600"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文本框 3"/>
          <p:cNvSpPr txBox="1"/>
          <p:nvPr userDrawn="1">
            <p:custDataLst>
              <p:tags r:id="rId5"/>
            </p:custDataLst>
          </p:nvPr>
        </p:nvSpPr>
        <p:spPr>
          <a:xfrm>
            <a:off x="8229767" y="2022082"/>
            <a:ext cx="7315200" cy="337185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</a:rPr>
              <a:t>音频走线包地 </a:t>
            </a:r>
            <a:r>
              <a:rPr lang="en-US" altLang="zh-CN" sz="16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</a:rPr>
              <a:t>&lt;15mm </a:t>
            </a:r>
            <a:r>
              <a:rPr lang="zh-CN" altLang="en-US" sz="16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</a:rPr>
              <a:t>，远离干扰源</a:t>
            </a:r>
            <a:endParaRPr lang="zh-CN" altLang="en-US" sz="16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7357110" y="3239135"/>
            <a:ext cx="5086985" cy="737235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黑色工业级哑光阻焊 + 沉金，增强焊盘抗氧化能力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indent="0">
              <a:buNone/>
            </a:pP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全板涂覆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Parylene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（派瑞林）纳米涂层，利用真空沉积技术实现分子级包覆，即便外壳破损，电路板仍能在水中短时正常工作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2438417" y="5159317"/>
            <a:ext cx="7315200" cy="645160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针对泳镜侧边的 </a:t>
            </a:r>
            <a:r>
              <a:rPr lang="en-US" altLang="zh-CN" b="1">
                <a:solidFill>
                  <a:srgbClr val="FF0000"/>
                </a:solidFill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18mm</a:t>
            </a:r>
            <a:r>
              <a:rPr lang="en-US" altLang="zh-CN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 </a:t>
            </a:r>
            <a:r>
              <a:rPr lang="zh-CN" altLang="en-US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极窄空间进行堆叠设计，</a:t>
            </a:r>
            <a:r>
              <a:rPr lang="zh-CN" altLang="en-US">
                <a:solidFill>
                  <a:srgbClr val="FF0000"/>
                </a:solidFill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减小电路寄生电容</a:t>
            </a:r>
            <a:r>
              <a:rPr lang="zh-CN" altLang="en-US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，优化信号完整性</a:t>
            </a:r>
            <a:endParaRPr lang="zh-CN" altLang="en-US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 descr="D:\51PPT模板网\51pptmoban.com\图片.jpg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 descr="D:\51PPT模板网\51pptmoban.com\图片.jpg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 descr="D:\51PPT模板网\51pptmoban.com\图片.jpg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4701640" y="602891"/>
            <a:ext cx="27887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rPr>
              <a:t>0</a:t>
            </a:r>
            <a:r>
              <a:rPr lang="en-US" altLang="zh-CN" sz="8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Arial" panose="020B0604020202020204" pitchFamily="34" charset="0"/>
              </a:rPr>
              <a:t>2</a:t>
            </a:r>
            <a:endParaRPr lang="zh-CN" altLang="en-US" sz="8800" dirty="0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52865" y="3267520"/>
            <a:ext cx="3686271" cy="971129"/>
            <a:chOff x="1803647" y="2198176"/>
            <a:chExt cx="3805333" cy="834082"/>
          </a:xfrm>
        </p:grpSpPr>
        <p:sp>
          <p:nvSpPr>
            <p:cNvPr id="4" name="矩形: 圆角 25" descr="D:\51PPT模板网\51pptmoban.com\图片.jpg"/>
            <p:cNvSpPr/>
            <p:nvPr/>
          </p:nvSpPr>
          <p:spPr>
            <a:xfrm>
              <a:off x="1803647" y="2198176"/>
              <a:ext cx="3805333" cy="652164"/>
            </a:xfrm>
            <a:prstGeom prst="roundRect">
              <a:avLst>
                <a:gd name="adj" fmla="val 0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992611" y="2325503"/>
              <a:ext cx="2466950" cy="7067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组装</a:t>
              </a:r>
              <a:r>
                <a:rPr lang="zh-CN" altLang="en-US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方案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外壳</a:t>
              </a:r>
              <a:r>
                <a:rPr lang="zh-CN" altLang="en-US" sz="2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包装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</a:t>
              </a:r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  <a:cs typeface="Arial" panose="020B0604020202020204" pitchFamily="34" charset="0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3" name="图片 2" descr="post_object_image_39282156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8276" y="2649222"/>
            <a:ext cx="3790950" cy="221932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/>
        </p:nvGraphicFramePr>
        <p:xfrm>
          <a:off x="460047" y="2382848"/>
          <a:ext cx="6705600" cy="29083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</a:tblGrid>
              <a:tr h="254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特性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具体表现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超强韧性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拉伸强度达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5-10MPa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，抗撕裂性强，可承受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30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倍以上压缩不变形</a:t>
                      </a:r>
                      <a:endParaRPr lang="zh-CN" altLang="en-US"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卓越防水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完全密封后可达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IP8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级别，可在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2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米水下长期使用不渗水</a:t>
                      </a:r>
                      <a:endParaRPr lang="zh-CN" altLang="en-US"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耐温范围广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-60℃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至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+200℃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，不易老化变形，使用寿命长</a:t>
                      </a:r>
                      <a:endParaRPr lang="zh-CN" altLang="en-US"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慢回弹特性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受力后缓慢恢复原状，提供独特解压体验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安全无毒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通过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FDA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MiSans" panose="00000500000000000000" charset="-122"/>
                          <a:ea typeface="MiSans" panose="00000500000000000000" charset="-122"/>
                        </a:rPr>
                        <a:t>认证，不含塑化剂和重金属，适合长期接触皮肤</a:t>
                      </a:r>
                      <a:endParaRPr lang="zh-CN" altLang="en-US">
                        <a:latin typeface="MiSans" panose="00000500000000000000" charset="-122"/>
                        <a:ea typeface="MiSans" panose="00000500000000000000" charset="-122"/>
                      </a:endParaRPr>
                    </a:p>
                  </a:txBody>
                  <a:tcPr marL="0" marR="0" marT="0" marB="0" vert="horz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图片 5" descr="post_object_image_38682069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852" y="1202339"/>
            <a:ext cx="8534400" cy="390525"/>
          </a:xfrm>
          <a:prstGeom prst="rect">
            <a:avLst/>
          </a:prstGeom>
        </p:spPr>
      </p:pic>
      <p:pic>
        <p:nvPicPr>
          <p:cNvPr id="7" name="图片 6" descr="post_object_image_24377973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852" y="5594990"/>
            <a:ext cx="8534400" cy="238125"/>
          </a:xfrm>
          <a:prstGeom prst="rect">
            <a:avLst/>
          </a:prstGeom>
        </p:spPr>
      </p:pic>
      <p:pic>
        <p:nvPicPr>
          <p:cNvPr id="8" name="图片 7" descr="post_object_image_20199388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366" y="1798320"/>
            <a:ext cx="8534400" cy="2286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耳机</a:t>
              </a:r>
              <a:r>
                <a:rPr lang="zh-CN" altLang="en-US" sz="2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选型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</a:t>
              </a:r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  <a:cs typeface="Arial" panose="020B0604020202020204" pitchFamily="34" charset="0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227445" y="1793875"/>
            <a:ext cx="5636260" cy="26149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800" b="1">
                <a:solidFill>
                  <a:srgbClr val="0050FF"/>
                </a:solidFill>
              </a:rPr>
              <a:t>频响曲线优化</a:t>
            </a:r>
            <a:r>
              <a:rPr lang="zh-CN" altLang="en-US" sz="1600" b="1"/>
              <a:t>：</a:t>
            </a:r>
            <a:r>
              <a:rPr lang="zh-CN" altLang="en-US" sz="1600"/>
              <a:t> </a:t>
            </a:r>
            <a:endParaRPr lang="zh-CN" altLang="en-US" sz="1600"/>
          </a:p>
          <a:p>
            <a:pPr indent="0">
              <a:buFont typeface="Wingdings" panose="05000000000000000000" charset="0"/>
              <a:buNone/>
            </a:pPr>
            <a:r>
              <a:rPr lang="en-US" altLang="zh-CN" sz="1600"/>
              <a:t>      		</a:t>
            </a:r>
            <a:r>
              <a:rPr lang="zh-CN" altLang="en-US" sz="1600"/>
              <a:t>针对水下声传导特性，预设中高频补</a:t>
            </a:r>
            <a:r>
              <a:rPr lang="en-US" altLang="zh-CN" sz="1600"/>
              <a:t>		</a:t>
            </a:r>
            <a:r>
              <a:rPr lang="zh-CN" altLang="en-US" sz="1600"/>
              <a:t>偿算法，抵消水流产生的低频掩蔽效应</a:t>
            </a:r>
            <a:r>
              <a:rPr lang="en-US" altLang="zh-CN" sz="1600"/>
              <a:t>		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800" b="1">
                <a:solidFill>
                  <a:srgbClr val="0050FF"/>
                </a:solidFill>
              </a:rPr>
              <a:t>材料规格</a:t>
            </a:r>
            <a:r>
              <a:rPr lang="zh-CN" altLang="en-US" sz="1600" b="1"/>
              <a:t>：</a:t>
            </a:r>
            <a:r>
              <a:rPr lang="zh-CN" altLang="en-US" sz="1600"/>
              <a:t> </a:t>
            </a:r>
            <a:endParaRPr lang="zh-CN" altLang="en-US" sz="1600"/>
          </a:p>
          <a:p>
            <a:pPr lvl="3" indent="0">
              <a:buFont typeface="Wingdings" panose="05000000000000000000" charset="0"/>
              <a:buNone/>
            </a:pPr>
            <a:r>
              <a:rPr lang="en-US" altLang="zh-CN" sz="1600"/>
              <a:t>    </a:t>
            </a:r>
            <a:r>
              <a:rPr lang="zh-CN" altLang="en-US" sz="1600"/>
              <a:t>选用 </a:t>
            </a:r>
            <a:r>
              <a:rPr lang="en-US" altLang="zh-CN" sz="1600" b="1"/>
              <a:t>LSR</a:t>
            </a:r>
            <a:r>
              <a:rPr lang="zh-CN" altLang="en-US" sz="1600" b="1"/>
              <a:t>（液态硅胶）注塑线材</a:t>
            </a:r>
            <a:r>
              <a:rPr lang="zh-CN" altLang="en-US" sz="1600"/>
              <a:t>，确保在含氯池水中不硬化、不电解。</a:t>
            </a:r>
            <a:endParaRPr lang="zh-CN" altLang="en-US" sz="1600"/>
          </a:p>
        </p:txBody>
      </p:sp>
      <p:pic>
        <p:nvPicPr>
          <p:cNvPr id="5" name="图片 4" descr="生成特定信息图片 (1)"/>
          <p:cNvPicPr>
            <a:picLocks noChangeAspect="1"/>
          </p:cNvPicPr>
          <p:nvPr/>
        </p:nvPicPr>
        <p:blipFill>
          <a:blip r:embed="rId3"/>
          <a:srcRect l="1494" t="-9786" r="-1494" b="20970"/>
          <a:stretch>
            <a:fillRect/>
          </a:stretch>
        </p:blipFill>
        <p:spPr>
          <a:xfrm>
            <a:off x="1664335" y="499745"/>
            <a:ext cx="3469005" cy="46253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04720" y="54565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/>
              <a:t>物理隔音</a:t>
            </a:r>
            <a:r>
              <a:rPr lang="en-US" altLang="zh-CN" sz="2400" b="1"/>
              <a:t> + </a:t>
            </a:r>
            <a:r>
              <a:rPr lang="zh-CN" altLang="en-US" sz="2400" b="1"/>
              <a:t>深度防水，确保护耳压力平衡</a:t>
            </a:r>
            <a:endParaRPr lang="zh-CN" alt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成果</a:t>
              </a:r>
              <a:r>
                <a:rPr lang="zh-CN" altLang="en-US" sz="2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建模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</a:t>
              </a:r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  <a:cs typeface="Arial" panose="020B0604020202020204" pitchFamily="34" charset="0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2" name="图片 1" descr="post_object_image_16151298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08" y="1268499"/>
            <a:ext cx="10653912" cy="41560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 descr="D:\51PPT模板网\51pptmoban.com\图片.jpg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 descr="D:\51PPT模板网\51pptmoban.com\图片.jpg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 descr="D:\51PPT模板网\51pptmoban.com\图片.jpg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4701640" y="602891"/>
            <a:ext cx="27887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rPr>
              <a:t>0</a:t>
            </a:r>
            <a:r>
              <a:rPr lang="en-US" altLang="zh-CN" sz="8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Arial" panose="020B0604020202020204" pitchFamily="34" charset="0"/>
              </a:rPr>
              <a:t>3</a:t>
            </a:r>
            <a:endParaRPr lang="zh-CN" altLang="en-US" sz="8800" dirty="0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52865" y="3267520"/>
            <a:ext cx="3686271" cy="971129"/>
            <a:chOff x="1803647" y="2198176"/>
            <a:chExt cx="3805333" cy="834082"/>
          </a:xfrm>
        </p:grpSpPr>
        <p:sp>
          <p:nvSpPr>
            <p:cNvPr id="4" name="矩形: 圆角 25" descr="D:\51PPT模板网\51pptmoban.com\图片.jpg"/>
            <p:cNvSpPr/>
            <p:nvPr/>
          </p:nvSpPr>
          <p:spPr>
            <a:xfrm>
              <a:off x="1803647" y="2198176"/>
              <a:ext cx="3805333" cy="652164"/>
            </a:xfrm>
            <a:prstGeom prst="roundRect">
              <a:avLst>
                <a:gd name="adj" fmla="val 0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790717" y="2325503"/>
              <a:ext cx="2466950" cy="7067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进展与展望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目前</a:t>
              </a:r>
              <a:r>
                <a:rPr lang="zh-CN" altLang="en-US" sz="2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进展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132239" y="2467143"/>
            <a:ext cx="651986" cy="556998"/>
            <a:chOff x="587034" y="5197643"/>
            <a:chExt cx="651986" cy="556998"/>
          </a:xfrm>
        </p:grpSpPr>
        <p:sp>
          <p:nvSpPr>
            <p:cNvPr id="4" name="椭圆 3"/>
            <p:cNvSpPr/>
            <p:nvPr/>
          </p:nvSpPr>
          <p:spPr>
            <a:xfrm>
              <a:off x="587034" y="5620284"/>
              <a:ext cx="651986" cy="134357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" name="iš1ïḍè"/>
            <p:cNvSpPr/>
            <p:nvPr/>
          </p:nvSpPr>
          <p:spPr>
            <a:xfrm rot="8100000">
              <a:off x="708954" y="5197643"/>
              <a:ext cx="382270" cy="410845"/>
            </a:xfrm>
            <a:prstGeom prst="teardrop">
              <a:avLst/>
            </a:prstGeom>
            <a:solidFill>
              <a:srgbClr val="2A75B5"/>
            </a:solidFill>
            <a:ln w="25400">
              <a:solidFill>
                <a:schemeClr val="bg1"/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cs typeface="+mn-ea"/>
              </a:endParaRPr>
            </a:p>
          </p:txBody>
        </p:sp>
        <p:sp>
          <p:nvSpPr>
            <p:cNvPr id="6" name="椭圆 5" descr="D:\51PPT模板网\51pptmoban.com\图片.jpg"/>
            <p:cNvSpPr/>
            <p:nvPr/>
          </p:nvSpPr>
          <p:spPr>
            <a:xfrm flipH="1">
              <a:off x="839764" y="5355123"/>
              <a:ext cx="110490" cy="9144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pic>
        <p:nvPicPr>
          <p:cNvPr id="2" name="ECB019B1-382A-4266-B25C-5B523AA43C14-1" descr="C:/Users/tulip/AppData/Local/Temp/wpp.UUupDh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75" y="288290"/>
            <a:ext cx="7336155" cy="79051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05295" y="1067753"/>
            <a:ext cx="5080000" cy="2338070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电路系统：</a:t>
            </a:r>
            <a:r>
              <a:rPr lang="zh-CN" altLang="en-US" sz="14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 采用 AC6905A 最小系统板，验证了高保真音频信号在模拟输出端的稳定性。</a:t>
            </a:r>
            <a:endParaRPr lang="zh-CN" altLang="en-US" sz="14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结构方案</a:t>
            </a:r>
            <a:r>
              <a:rPr lang="zh-CN" altLang="en-US" sz="14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：复合防水装甲。</a:t>
            </a:r>
            <a:endParaRPr lang="zh-CN" altLang="en-US" sz="14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内壳： 3D 打印精密结构件，负责固定电路板与接口位置。</a:t>
            </a:r>
            <a:endParaRPr lang="zh-CN" altLang="en-US" sz="14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外层： 选用高密度耐氯橡胶套（或硅胶蒙皮），利用材料的弹性张力实现物理阻隔。</a:t>
            </a:r>
            <a:endParaRPr lang="zh-CN" altLang="en-US" sz="14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选型说明</a:t>
            </a:r>
            <a:r>
              <a:rPr lang="zh-CN" altLang="en-US" sz="14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： 现阶段采用标准有线耳机，旨在排除耳机变量，优先标定主控板的放音特性；在耳机线与 3D 打印盒连接处，增加二次滴胶加固工艺，模拟工业级的模内注塑效果。</a:t>
            </a:r>
            <a:endParaRPr lang="zh-CN" altLang="en-US" sz="14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  <p:pic>
        <p:nvPicPr>
          <p:cNvPr id="8" name="图片 7" descr="_cgi-bin_mmwebwx-bin_webwxgetmsgimg__&amp;MsgID=3950438842162060287&amp;skey=@crypt_e59a8c6d_0caabd0b693bf60f8c00248213db016c&amp;mmweb_appid=wx_webfilehel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0" y="3575050"/>
            <a:ext cx="3733165" cy="2538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实验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验证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6365" y="1546860"/>
            <a:ext cx="6496050" cy="292290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测试项目清单：</a:t>
            </a:r>
            <a:endParaRPr lang="zh-CN" altLang="en-US" sz="2000" b="1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endParaRPr lang="zh-CN" altLang="en-US" sz="14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 sz="1600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静态浸泡测试</a:t>
            </a:r>
            <a:r>
              <a:rPr lang="zh-CN" altLang="en-US" sz="14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：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将 V1.0 模块置于静水深环境下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                            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结果： 内部腔体无渗漏，音频信号无波动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914400" lvl="2" indent="457200">
              <a:buFont typeface="Arial" panose="020B0604020202020204"/>
              <a:buNone/>
            </a:pP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动态水压模拟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： 模拟划水动作产生的动水压力，测试防水密封持久性和音质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indent="0">
              <a:buFont typeface="Arial" panose="020B0604020202020204"/>
              <a:buNone/>
            </a:pPr>
            <a:endParaRPr lang="zh-CN" altLang="en-US" b="1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电路温升监控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： 验证在密闭橡胶套内，AC6905A 连续工作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散热情况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 indent="457200">
              <a:buFont typeface="Arial" panose="020B0604020202020204"/>
              <a:buNone/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 </a:t>
            </a:r>
            <a:r>
              <a:rPr lang="en-US" altLang="zh-CN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                      </a:t>
            </a: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结果： 温度稳定，无热降频现象。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  <p:pic>
        <p:nvPicPr>
          <p:cNvPr id="2" name="298616768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22415" y="1546860"/>
            <a:ext cx="5264150" cy="3207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实物展示</a:t>
              </a:r>
              <a:r>
                <a:rPr lang="en-US" altLang="zh-CN" sz="2000" b="1" dirty="0">
                  <a:solidFill>
                    <a:schemeClr val="bg1"/>
                  </a:solidFill>
                </a:rPr>
                <a:t> 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  <p:pic>
        <p:nvPicPr>
          <p:cNvPr id="7" name="图片 6" descr="_cgi-bin_mmwebwx-bin_webwxgetmsgimg__&amp;MsgID=3062483624298524894&amp;skey=@crypt_e59a8c6d_b79d867ec063b9fa5ab2801df26fc536&amp;mmweb_appid=wx_webfilehel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465" y="868680"/>
            <a:ext cx="4175125" cy="3131185"/>
          </a:xfrm>
          <a:prstGeom prst="rect">
            <a:avLst/>
          </a:prstGeom>
        </p:spPr>
      </p:pic>
      <p:pic>
        <p:nvPicPr>
          <p:cNvPr id="9" name="图片 8" descr="_cgi-bin_mmwebwx-bin_webwxgetmsgimg__&amp;MsgID=7297367365326559592&amp;skey=@crypt_e59a8c6d_b79d867ec063b9fa5ab2801df26fc536&amp;mmweb_appid=wx_webfilehel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180" y="3305810"/>
            <a:ext cx="3867785" cy="2900045"/>
          </a:xfrm>
          <a:prstGeom prst="rect">
            <a:avLst/>
          </a:prstGeom>
        </p:spPr>
      </p:pic>
      <p:pic>
        <p:nvPicPr>
          <p:cNvPr id="15" name="图片 14" descr="_cgi-bin_mmwebwx-bin_webwxgetmsgimg__&amp;MsgID=3996811865540375642&amp;skey=@crypt_e59a8c6d_b79d867ec063b9fa5ab2801df26fc536&amp;mmweb_appid=wx_webfilehel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20" y="899795"/>
            <a:ext cx="4133850" cy="3100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展望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817245" y="1875155"/>
            <a:ext cx="5659120" cy="29279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b="1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基于划水频率的 BPM 自动匹配</a:t>
            </a:r>
            <a:endParaRPr lang="zh-CN" altLang="en-US" b="1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>
              <a:spcAft>
                <a:spcPct val="60000"/>
              </a:spcAft>
            </a:pP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>
              <a:spcAft>
                <a:spcPct val="60000"/>
              </a:spcAft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技术路径： 在 V2.0 预留的 IMU（惯性传感器）接口基础上，通过 AI 滤波算法提取划水的周期性特征。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>
              <a:spcAft>
                <a:spcPct val="60000"/>
              </a:spcAft>
            </a:pP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  <a:p>
            <a:pPr>
              <a:spcAft>
                <a:spcPct val="60000"/>
              </a:spcAft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思源宋体 CN Heavy" charset="0"/>
              </a:rPr>
              <a:t>应用场景： 当 AI 监测到游泳者体力下降、划水频率减慢时，系统自动调取更高 BPM 的音乐，通过节奏诱导补偿疲劳感，帮助用户维持稳定的竞技水平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思源宋体 CN Heavy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0365" y="102743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50FF"/>
                </a:solidFill>
                <a:sym typeface="+mn-ea"/>
              </a:rPr>
              <a:t>AI 节奏诱导</a:t>
            </a:r>
            <a:endParaRPr lang="zh-CN" altLang="en-US" sz="2800" b="1">
              <a:solidFill>
                <a:srgbClr val="0050FF"/>
              </a:solidFill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  <p:pic>
        <p:nvPicPr>
          <p:cNvPr id="3" name="图片 2" descr="生成图片"/>
          <p:cNvPicPr>
            <a:picLocks noChangeAspect="1"/>
          </p:cNvPicPr>
          <p:nvPr/>
        </p:nvPicPr>
        <p:blipFill>
          <a:blip r:embed="rId3"/>
          <a:srcRect l="8703" r="11021" b="9764"/>
          <a:stretch>
            <a:fillRect/>
          </a:stretch>
        </p:blipFill>
        <p:spPr>
          <a:xfrm>
            <a:off x="6610350" y="1283970"/>
            <a:ext cx="5265420" cy="3328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 descr="D:\51PPT模板网\51pptmoban.com\图片.jpg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 descr="D:\51PPT模板网\51pptmoban.com\图片.jpg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 descr="D:\51PPT模板网\51pptmoban.com\图片.jpg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4701640" y="602891"/>
            <a:ext cx="27887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rPr>
              <a:t>04</a:t>
            </a:r>
            <a:endParaRPr lang="en-US" altLang="zh-CN" sz="8800" dirty="0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52865" y="3267520"/>
            <a:ext cx="3686271" cy="971129"/>
            <a:chOff x="1803647" y="2198176"/>
            <a:chExt cx="3805333" cy="834082"/>
          </a:xfrm>
        </p:grpSpPr>
        <p:sp>
          <p:nvSpPr>
            <p:cNvPr id="4" name="矩形: 圆角 25" descr="D:\51PPT模板网\51pptmoban.com\图片.jpg"/>
            <p:cNvSpPr/>
            <p:nvPr/>
          </p:nvSpPr>
          <p:spPr>
            <a:xfrm>
              <a:off x="1803647" y="2198176"/>
              <a:ext cx="3805333" cy="652164"/>
            </a:xfrm>
            <a:prstGeom prst="roundRect">
              <a:avLst>
                <a:gd name="adj" fmla="val 0"/>
              </a:avLst>
            </a:prstGeom>
            <a:solidFill>
              <a:srgbClr val="2A75B5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910675" y="2325503"/>
              <a:ext cx="2466950" cy="7067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人员</a:t>
              </a:r>
              <a:r>
                <a:rPr lang="zh-CN" altLang="en-US" sz="2400" b="1" dirty="0">
                  <a:solidFill>
                    <a:schemeClr val="bg1"/>
                  </a:solidFill>
                </a:rPr>
                <a:t>分工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7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4725488" y="56387"/>
            <a:ext cx="2741023" cy="521970"/>
            <a:chOff x="2420310" y="2269689"/>
            <a:chExt cx="2741023" cy="521970"/>
          </a:xfrm>
        </p:grpSpPr>
        <p:sp>
          <p:nvSpPr>
            <p:cNvPr id="70" name="文本框 69"/>
            <p:cNvSpPr txBox="1"/>
            <p:nvPr/>
          </p:nvSpPr>
          <p:spPr>
            <a:xfrm>
              <a:off x="3349227" y="2314461"/>
              <a:ext cx="181210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人员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分工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420310" y="2269689"/>
              <a:ext cx="68196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</a:rPr>
                <a:t>04</a:t>
              </a:r>
              <a:endParaRPr lang="en-US" altLang="zh-CN" sz="2800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endParaRPr>
            </a:p>
          </p:txBody>
        </p:sp>
      </p:grpSp>
      <p:pic>
        <p:nvPicPr>
          <p:cNvPr id="3" name="图片 2" descr="屏幕截图 2025-12-19 220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805" y="704215"/>
            <a:ext cx="10638790" cy="5566410"/>
          </a:xfrm>
          <a:prstGeom prst="rect">
            <a:avLst/>
          </a:prstGeom>
          <a:effectLst>
            <a:softEdge rad="2794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r="62659" b="24800"/>
          <a:stretch>
            <a:fillRect/>
          </a:stretch>
        </p:blipFill>
        <p:spPr>
          <a:xfrm>
            <a:off x="10608945" y="221615"/>
            <a:ext cx="803275" cy="81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/>
          <p:cNvSpPr/>
          <p:nvPr/>
        </p:nvSpPr>
        <p:spPr>
          <a:xfrm>
            <a:off x="-198315" y="4500587"/>
            <a:ext cx="12588630" cy="1282557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25400" cap="flat">
            <a:solidFill>
              <a:srgbClr val="DEEAF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-198315" y="3064408"/>
            <a:ext cx="12588630" cy="2709278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noFill/>
          <a:ln w="12700" cap="flat">
            <a:solidFill>
              <a:srgbClr val="DEEAF5">
                <a:alpha val="47000"/>
              </a:srgb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-198315" y="1291191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任意多边形: 形状 36" descr="D:\51PPT模板网\51pptmoban.com\图片.jpg"/>
          <p:cNvSpPr/>
          <p:nvPr/>
        </p:nvSpPr>
        <p:spPr>
          <a:xfrm>
            <a:off x="-198315" y="2038532"/>
            <a:ext cx="12588630" cy="3747786"/>
          </a:xfrm>
          <a:custGeom>
            <a:avLst/>
            <a:gdLst>
              <a:gd name="connsiteX0" fmla="*/ 0 w 12588630"/>
              <a:gd name="connsiteY0" fmla="*/ 3747786 h 3747786"/>
              <a:gd name="connsiteX1" fmla="*/ 1 w 12588630"/>
              <a:gd name="connsiteY1" fmla="*/ 3747786 h 3747786"/>
              <a:gd name="connsiteX2" fmla="*/ 1 w 12588630"/>
              <a:gd name="connsiteY2" fmla="*/ 3360605 h 3747786"/>
              <a:gd name="connsiteX3" fmla="*/ 5782594 w 12588630"/>
              <a:gd name="connsiteY3" fmla="*/ 3360605 h 3747786"/>
              <a:gd name="connsiteX4" fmla="*/ 6278269 w 12588630"/>
              <a:gd name="connsiteY4" fmla="*/ 3678808 h 3747786"/>
              <a:gd name="connsiteX5" fmla="*/ 6291694 w 12588630"/>
              <a:gd name="connsiteY5" fmla="*/ 3720697 h 3747786"/>
              <a:gd name="connsiteX6" fmla="*/ 6305120 w 12588630"/>
              <a:gd name="connsiteY6" fmla="*/ 3678808 h 3747786"/>
              <a:gd name="connsiteX7" fmla="*/ 6800793 w 12588630"/>
              <a:gd name="connsiteY7" fmla="*/ 3360605 h 3747786"/>
              <a:gd name="connsiteX8" fmla="*/ 12588630 w 12588630"/>
              <a:gd name="connsiteY8" fmla="*/ 3360605 h 3747786"/>
              <a:gd name="connsiteX9" fmla="*/ 12588630 w 12588630"/>
              <a:gd name="connsiteY9" fmla="*/ 2974518 h 3747786"/>
              <a:gd name="connsiteX10" fmla="*/ 12588630 w 12588630"/>
              <a:gd name="connsiteY10" fmla="*/ 2257820 h 3747786"/>
              <a:gd name="connsiteX11" fmla="*/ 12588630 w 12588630"/>
              <a:gd name="connsiteY11" fmla="*/ 1845608 h 3747786"/>
              <a:gd name="connsiteX12" fmla="*/ 12588630 w 12588630"/>
              <a:gd name="connsiteY12" fmla="*/ 1128910 h 3747786"/>
              <a:gd name="connsiteX13" fmla="*/ 12588630 w 12588630"/>
              <a:gd name="connsiteY13" fmla="*/ 0 h 3747786"/>
              <a:gd name="connsiteX14" fmla="*/ 6800793 w 12588630"/>
              <a:gd name="connsiteY14" fmla="*/ 0 h 3747786"/>
              <a:gd name="connsiteX15" fmla="*/ 6305120 w 12588630"/>
              <a:gd name="connsiteY15" fmla="*/ 318203 h 3747786"/>
              <a:gd name="connsiteX16" fmla="*/ 6291694 w 12588630"/>
              <a:gd name="connsiteY16" fmla="*/ 360092 h 3747786"/>
              <a:gd name="connsiteX17" fmla="*/ 6278269 w 12588630"/>
              <a:gd name="connsiteY17" fmla="*/ 318203 h 3747786"/>
              <a:gd name="connsiteX18" fmla="*/ 5782594 w 12588630"/>
              <a:gd name="connsiteY18" fmla="*/ 0 h 3747786"/>
              <a:gd name="connsiteX19" fmla="*/ 0 w 12588630"/>
              <a:gd name="connsiteY19" fmla="*/ 0 h 3747786"/>
              <a:gd name="connsiteX20" fmla="*/ 0 w 12588630"/>
              <a:gd name="connsiteY20" fmla="*/ 1845608 h 3747786"/>
              <a:gd name="connsiteX21" fmla="*/ 0 w 12588630"/>
              <a:gd name="connsiteY21" fmla="*/ 2974518 h 3747786"/>
              <a:gd name="connsiteX22" fmla="*/ 0 w 12588630"/>
              <a:gd name="connsiteY22" fmla="*/ 3747786 h 374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588630" h="3747786">
                <a:moveTo>
                  <a:pt x="0" y="3747786"/>
                </a:moveTo>
                <a:lnTo>
                  <a:pt x="1" y="3747786"/>
                </a:lnTo>
                <a:lnTo>
                  <a:pt x="1" y="3360605"/>
                </a:lnTo>
                <a:lnTo>
                  <a:pt x="5782594" y="3360605"/>
                </a:lnTo>
                <a:cubicBezTo>
                  <a:pt x="6005420" y="3360605"/>
                  <a:pt x="6196603" y="3491813"/>
                  <a:pt x="6278269" y="3678808"/>
                </a:cubicBezTo>
                <a:lnTo>
                  <a:pt x="6291694" y="3720697"/>
                </a:lnTo>
                <a:lnTo>
                  <a:pt x="6305120" y="3678808"/>
                </a:lnTo>
                <a:cubicBezTo>
                  <a:pt x="6386785" y="3491813"/>
                  <a:pt x="6577967" y="3360605"/>
                  <a:pt x="6800793" y="3360605"/>
                </a:cubicBezTo>
                <a:lnTo>
                  <a:pt x="12588630" y="3360605"/>
                </a:lnTo>
                <a:lnTo>
                  <a:pt x="12588630" y="2974518"/>
                </a:lnTo>
                <a:lnTo>
                  <a:pt x="12588630" y="2257820"/>
                </a:lnTo>
                <a:lnTo>
                  <a:pt x="12588630" y="1845608"/>
                </a:lnTo>
                <a:lnTo>
                  <a:pt x="12588630" y="1128910"/>
                </a:lnTo>
                <a:lnTo>
                  <a:pt x="12588630" y="0"/>
                </a:lnTo>
                <a:lnTo>
                  <a:pt x="6800793" y="0"/>
                </a:lnTo>
                <a:cubicBezTo>
                  <a:pt x="6577967" y="0"/>
                  <a:pt x="6386785" y="131208"/>
                  <a:pt x="6305120" y="318203"/>
                </a:cubicBezTo>
                <a:lnTo>
                  <a:pt x="6291694" y="360092"/>
                </a:lnTo>
                <a:lnTo>
                  <a:pt x="6278269" y="318203"/>
                </a:lnTo>
                <a:cubicBezTo>
                  <a:pt x="6196603" y="131208"/>
                  <a:pt x="6005420" y="0"/>
                  <a:pt x="5782594" y="0"/>
                </a:cubicBezTo>
                <a:lnTo>
                  <a:pt x="0" y="0"/>
                </a:lnTo>
                <a:lnTo>
                  <a:pt x="0" y="1845608"/>
                </a:lnTo>
                <a:lnTo>
                  <a:pt x="0" y="2974518"/>
                </a:lnTo>
                <a:lnTo>
                  <a:pt x="0" y="3747786"/>
                </a:lnTo>
                <a:close/>
              </a:path>
            </a:pathLst>
          </a:custGeom>
          <a:solidFill>
            <a:srgbClr val="DEEAF5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857" y="4303174"/>
            <a:ext cx="4885" cy="5"/>
          </a:xfrm>
          <a:custGeom>
            <a:avLst/>
            <a:gdLst>
              <a:gd name="connsiteX0" fmla="*/ 0 w 4286"/>
              <a:gd name="connsiteY0" fmla="*/ 0 h 4"/>
              <a:gd name="connsiteX1" fmla="*/ 0 w 4286"/>
              <a:gd name="connsiteY1" fmla="*/ 0 h 4"/>
              <a:gd name="connsiteX2" fmla="*/ 0 w 4286"/>
              <a:gd name="connsiteY2" fmla="*/ 4 h 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67B5A4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1238250" y="1870032"/>
            <a:ext cx="97155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solidFill>
                  <a:schemeClr val="tx1">
                    <a:lumMod val="95000"/>
                    <a:lumOff val="5000"/>
                  </a:schemeClr>
                </a:solidFill>
                <a:latin typeface="MiSans Bold" panose="00000800000000000000" charset="-122"/>
                <a:ea typeface="金山云技术体" charset="-122"/>
                <a:cs typeface="创客贴金刚体" panose="00020600040101010101" pitchFamily="18" charset="-122"/>
                <a:sym typeface="+mn-lt"/>
              </a:rPr>
              <a:t>感谢老师聆听指导</a:t>
            </a:r>
            <a:endParaRPr lang="zh-CN" altLang="en-US" sz="8800" dirty="0">
              <a:solidFill>
                <a:schemeClr val="tx1">
                  <a:lumMod val="95000"/>
                  <a:lumOff val="5000"/>
                </a:schemeClr>
              </a:solidFill>
              <a:latin typeface="MiSans Bold" panose="00000800000000000000" charset="-122"/>
              <a:ea typeface="金山云技术体" charset="-122"/>
              <a:cs typeface="创客贴金刚体" panose="00020600040101010101" pitchFamily="18" charset="-122"/>
              <a:sym typeface="+mn-lt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3439795" y="3616960"/>
            <a:ext cx="5312410" cy="439420"/>
          </a:xfrm>
          <a:prstGeom prst="roundRect">
            <a:avLst>
              <a:gd name="adj" fmla="val 50000"/>
            </a:avLst>
          </a:prstGeom>
          <a:solidFill>
            <a:srgbClr val="2A75B5"/>
          </a:solidFill>
          <a:ln w="12700">
            <a:noFill/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1998" y="495339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2" name="矩形: 圆角 1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01663" y="599646"/>
              <a:ext cx="692150" cy="48940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395362" y="6070337"/>
            <a:ext cx="423453" cy="266700"/>
            <a:chOff x="601663" y="406150"/>
            <a:chExt cx="692150" cy="435931"/>
          </a:xfrm>
          <a:solidFill>
            <a:srgbClr val="DEEAF5">
              <a:alpha val="27000"/>
            </a:srgbClr>
          </a:solidFill>
        </p:grpSpPr>
        <p:sp>
          <p:nvSpPr>
            <p:cNvPr id="11" name="矩形: 圆角 10"/>
            <p:cNvSpPr/>
            <p:nvPr/>
          </p:nvSpPr>
          <p:spPr>
            <a:xfrm>
              <a:off x="601663" y="406150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601663" y="599646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01663" y="793142"/>
              <a:ext cx="692150" cy="48939"/>
            </a:xfrm>
            <a:prstGeom prst="roundRect">
              <a:avLst>
                <a:gd name="adj" fmla="val 50000"/>
              </a:avLst>
            </a:pr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0" name="组合 29" descr="D:\51PPT模板网\51pptmoban.com\图片.jpg"/>
          <p:cNvGrpSpPr/>
          <p:nvPr/>
        </p:nvGrpSpPr>
        <p:grpSpPr>
          <a:xfrm>
            <a:off x="11615615" y="-649879"/>
            <a:ext cx="393700" cy="1589958"/>
            <a:chOff x="11615615" y="-611779"/>
            <a:chExt cx="393700" cy="158995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 descr="D:\51PPT模板网\51pptmoban.com\图片.jpg"/>
          <p:cNvGrpSpPr/>
          <p:nvPr/>
        </p:nvGrpSpPr>
        <p:grpSpPr>
          <a:xfrm flipH="1" flipV="1">
            <a:off x="209550" y="5950508"/>
            <a:ext cx="393700" cy="1589958"/>
            <a:chOff x="11615615" y="-611779"/>
            <a:chExt cx="393700" cy="158995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1818815" y="-350677"/>
              <a:ext cx="0" cy="1328856"/>
            </a:xfrm>
            <a:prstGeom prst="line">
              <a:avLst/>
            </a:prstGeom>
            <a:ln w="76200" cap="rnd">
              <a:solidFill>
                <a:srgbClr val="DEEAF5">
                  <a:alpha val="3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1615615" y="-350677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2009315" y="-611779"/>
              <a:ext cx="0" cy="964396"/>
            </a:xfrm>
            <a:prstGeom prst="line">
              <a:avLst/>
            </a:prstGeom>
            <a:ln w="76200" cap="rnd">
              <a:solidFill>
                <a:srgbClr val="DEEAF5">
                  <a:alpha val="1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01" b="24800"/>
          <a:stretch>
            <a:fillRect/>
          </a:stretch>
        </p:blipFill>
        <p:spPr>
          <a:xfrm>
            <a:off x="4606290" y="164465"/>
            <a:ext cx="2741295" cy="103632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91036" y="5950521"/>
            <a:ext cx="11600999" cy="538039"/>
            <a:chOff x="3086965" y="6108437"/>
            <a:chExt cx="6018070" cy="316935"/>
          </a:xfrm>
        </p:grpSpPr>
        <p:sp>
          <p:nvSpPr>
            <p:cNvPr id="5" name="文本框 4"/>
            <p:cNvSpPr txBox="1"/>
            <p:nvPr/>
          </p:nvSpPr>
          <p:spPr>
            <a:xfrm>
              <a:off x="3289732" y="6117902"/>
              <a:ext cx="1600752" cy="307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答辩学生：陈博闻  余佳欣 高愉坤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     吴海兴  何至轩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graduate_57239"/>
            <p:cNvSpPr/>
            <p:nvPr/>
          </p:nvSpPr>
          <p:spPr>
            <a:xfrm>
              <a:off x="3086965" y="6111372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DEEAF5"/>
            </a:solidFill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university-teacher_65684"/>
            <p:cNvSpPr/>
            <p:nvPr/>
          </p:nvSpPr>
          <p:spPr>
            <a:xfrm>
              <a:off x="5172715" y="6108437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DEEAF5"/>
            </a:solidFill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350829" y="6117902"/>
              <a:ext cx="1777436" cy="180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指导老师：黄华 吴永烽 李晓东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436830" y="6111372"/>
              <a:ext cx="1668205" cy="180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2025.12.20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7211877" y="6143941"/>
              <a:ext cx="226482" cy="226482"/>
              <a:chOff x="8223250" y="6921890"/>
              <a:chExt cx="723900" cy="723900"/>
            </a:xfrm>
            <a:solidFill>
              <a:srgbClr val="DEEAF5"/>
            </a:solidFill>
          </p:grpSpPr>
          <p:sp>
            <p:nvSpPr>
              <p:cNvPr id="20" name="任意多边形: 形状 90"/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91"/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92"/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93"/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94"/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95"/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grpFill/>
              <a:ln w="428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8" name="文本框 27"/>
          <p:cNvSpPr txBox="1"/>
          <p:nvPr/>
        </p:nvSpPr>
        <p:spPr>
          <a:xfrm>
            <a:off x="4438015" y="3630295"/>
            <a:ext cx="3711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rPr>
              <a:t>电子电路项目结题答辩</a:t>
            </a:r>
            <a:endParaRPr lang="zh-CN" altLang="en-US" sz="2400" b="1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2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3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4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5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6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7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8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9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10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11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12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13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14.xml><?xml version="1.0" encoding="utf-8"?>
<p:tagLst xmlns:p="http://schemas.openxmlformats.org/presentationml/2006/main">
  <p:tag name="KSO_WM_DIAGRAM_VIRTUALLY_FRAME" val="{&quot;height&quot;:211.58913385826773,&quot;left&quot;:152.7595275590551,&quot;top&quot;:169.65622047244094,&quot;width&quot;:654.4808661417322}"/>
</p:tagLst>
</file>

<file path=ppt/tags/tag15.xml><?xml version="1.0" encoding="utf-8"?>
<p:tagLst xmlns:p="http://schemas.openxmlformats.org/presentationml/2006/main">
  <p:tag name="KSO_WM_DIAGRAM_VIRTUALLY_FRAME" val="{&quot;height&quot;:88.76905511811023,&quot;left&quot;:515.4,&quot;top&quot;:99.6,&quot;width&quot;:708.6131496062993}"/>
</p:tagLst>
</file>

<file path=ppt/tags/tag16.xml><?xml version="1.0" encoding="utf-8"?>
<p:tagLst xmlns:p="http://schemas.openxmlformats.org/presentationml/2006/main">
  <p:tag name="KSO_WM_DIAGRAM_VIRTUALLY_FRAME" val="{&quot;height&quot;:88.76905511811023,&quot;left&quot;:515.4,&quot;top&quot;:99.6,&quot;width&quot;:708.6131496062993}"/>
</p:tagLst>
</file>

<file path=ppt/tags/tag17.xml><?xml version="1.0" encoding="utf-8"?>
<p:tagLst xmlns:p="http://schemas.openxmlformats.org/presentationml/2006/main">
  <p:tag name="KSO_WM_DIAGRAM_VIRTUALLY_FRAME" val="{&quot;height&quot;:88.76905511811023,&quot;left&quot;:515.4,&quot;top&quot;:99.6,&quot;width&quot;:708.6131496062993}"/>
</p:tagLst>
</file>

<file path=ppt/tags/tag18.xml><?xml version="1.0" encoding="utf-8"?>
<p:tagLst xmlns:p="http://schemas.openxmlformats.org/presentationml/2006/main">
  <p:tag name="KSO_WM_DIAGRAM_VIRTUALLY_FRAME" val="{&quot;height&quot;:88.76905511811023,&quot;left&quot;:515.4,&quot;top&quot;:99.6,&quot;width&quot;:708.6131496062993}"/>
</p:tagLst>
</file>

<file path=ppt/tags/tag19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MiSans Bold"/>
        <a:ea typeface="金山云技术体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086890"/>
          </a:solidFill>
        </a:ln>
      </a:spPr>
      <a:bodyPr rtlCol="0" anchor="ctr"/>
      <a:lstStyle>
        <a:defPPr algn="ctr">
          <a:defRPr>
            <a:cs typeface="+mn-ea"/>
            <a:sym typeface="+mn-lt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c3OTkyNTEwMjAzIiwKCSJHcm91cElkIiA6ICIyNjQ1NzU3MTI2IiwKCSJJbWFnZSIgOiAiaVZCT1J3MEtHZ29BQUFBTlNVaEVVZ0FBQkRJQUFBUTZDQVlBQUFDMitsMU5BQUFBQVhOU1IwSUFyczRjNlFBQUlBQkpSRUZVZUp6czNYbDhYSFgxLy9IM3VaTzlDOTNTQlpXQ3NxdlFObVYxb2JoaFFVcWJaQ0lXYVpxQzRvWUt1UDdjNmdJcTRnS0tDa0xURkw2b21TUXRpNEliMUExRW1yS0tnaXdGQkpLMnRJVXUyV2J1K2YyUk8yR2FKbW5TcHAwbWZUMGY1a0h2NTM3dXZXZHVrakgzelBsOFBoS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NQUFYSFBOTlFkY2YvMzFCMlk3RGdBQUFBQUFzTzhJc2gxQWIvTHo4MzhVaThWK1ZWMWRQUzNic1FBQUFBQUFnSDJEWlR1QW5peGR1clRNek9va3lkMjNCa0ZRMWRMUzhwc0xMcmhnVzdaakF3QUFBQUFBMmJOUFZtU1kyZEh1dmpuNjl3aDNyODdQejc5OHlaSWxyODkyYkFBQUFBQUFJSHYyeVVSR0dJYmZrelRQM1orTW1rYVkyUVd4V096Mm1wcWEyVmtPRHdBQUFBQUFaTWsrT2JRa3JicTYra2d6KzZtWnZVVlNYdFM4eGQwdmMvZWZWVlZWYmNweWlBQUFBQUFBWUMvYXB4TVprblRqalRlT1RpYVRuNU8wME13T2pHSnVkL2NHU1ZkVVZsYXVOalBQZHB3QUFBQUFBR0RQMitjVEdlcGNpalUzUHovL0pFay9Ock5qb21hWHRNYmR2OVBXMWxaOXdRVVhkR1E1VEFBQUFBQUFzSWNOaVVSRzJySmx5MGFFWVZoalp1K1ZWQlRGbjVSMGRVZEh4emZPUC8vOGpWR0NBd0FBQUFBQURFTkRLcEdoenVxTW9yeTh2SVZCRUZ3czZRM3BkbmRmS2VsYlU2ZE8vZk9wcDU2YXpHNlVBQUFBQUFCZ1R4aHlpUXhKdXV1dXUzS2VmZmJaTjB1NlhOSzdvdWJRM1orWDlKTTFhOVpjc1hqeDRqRExZUUlBQUFBQWdFRTJKQk1aYWRGUWt5OUorcWlaamNuWTlkdFVLblhoczg4K3U0YUVCZ0FBQUFBQXcwZVE3UUIyeDRJRkM3YXVXYk5tc2FRTEpLMlNsRTVhdkRjV2k5Vk9uVHIxN05yYTJsaVd3d1FBQUFBQUFJTmtTRmRrWktxdXJqN1N6TDVvWm1kTHlsUG52QmtiSk4xWVZGVDA5WXFLaWczWmpoRUFBQUFBQU95ZVlaUElrS1RhMnRyWXRtM2JQbTVtWDVVME5xbzQ4V2dpMEE4dFhMandLVlkxQVFBQUFBQmc2QnBXaVl5MEpVdVduQklFd1pja3pUS3ozS2o1c1RBTXZ6SnAwcVJiVGovOTlMWXNod2dBQUFBQUFIYkJzRXhrU0xKZi9PSVhyOG5MeTd0STBrVVpyM085bVYyNWFkT203MzN5azU4a21RRUFBQUFBd0JBelhCTVpYWll1WFhxT3BDdk1iRkw2OWJwN2JWNWUzaWZuejUrL2xxRW1BQUFBQUFBTUhjTitSWS9jM054SGp6amlpUHNsSFMzcFFFa3lzemVtVXFsVDU4NmR1eVkzTjNmTm80OCtTaklEQUFBQUFJQWhZTmhYWktSZGQ5MTFoK2JrNUh6SnpNNk5Famp1N3YrVDlLMkZDeGRlbSszNEFBQUFBQURBenUwM2lReEp1dXFxcS9KSGpScDFrWmw5d2N3T3lOaDFReXFWdW1UUm9rWHJzaGdlQUFBQUFBRFlpZjBxa2FGb2lkYlcxdGI1N242SnBHT2llNUIwOXorNit4ZXJxcW9leUhhTUFBQUFBQUNnWi90ZElpT3RwcWJtR0hmL3BxVDNtVmtnS1hUM0p5UjlZODJhTmI5Y3ZIaHhtTzBZQVFBQUFBREE5dmJiUklZa0xWdTJiRVFZaGo4MXN6SkpJNkxtRm5mL1FTcVYrdTU1NTUyM09jc2hBZ0FBQUFDQURNTisxWksrTEYrK3ZHUGF0R20zakI0OWVyMlpIVzVtNHlUbG10bUpRUkFjT0hmdTNDZFhyRmpCdkJrQUFBQUFBT3dqOXV0RWhpU3RYTG5TcDArZi91RDQ4ZU5YaFdGNGtwa1ZSL2RsbXFTVDVzMmI5OXlLRlN1ZXpIYWNBQUFBQUFCZ1B4OWEwbDF0YlczaHRtM2Ivcy9NM2l1cElMby9yN2o3UnpaczJMRGk0b3N2YnNsMmpBQUFBQUFBN00rQ2JBZXdMNm1vcUdqWnVuWHJBa2xmYy9jTlVmTm9NMXMyYnR5NHk2cXJxdy9PY29nQUFBQUFBT3pYcU1qb3dWVlhYWlYvd0FFSHZFM1N0WklPaVpyYkpkMlZUQ1lYblhmZWVTOWtPVVFBQUFBQUFQWkxKREw2OE10Zi92TEF0cmEyYTgzc05FazVVZlAvZ2lCNDN5MjMzUEpJSXBGSVpUbEVBQUFBQUFEMkt5UXlkdUtHRzI2WWtrcWx2aVRwZkRQTGx5UjNmeTRJZ2t0YVdscFdYSERCQlIzWmpoRUFBQUFBZ1AwRmMyVHN4TG5ubnZ0aUVBU2ZsM1NKdTc4c1NXYjIyakFNZjV5WGwzY0p5U0FBQUFBQUFQWWVIc0w3eWQxdDZkS2xId2lDNE1lU3htVzBMdzJDNEJNTEZpelltdDBJQVFBQUFBQVkvcWpJNkNjejg2cXFxcHZjdmNMZC95N0pvL1p6M0wyNnVycjZzR3pIQ0FBQUFBREFjRWRGeGk2b3FhazVYTklQM2YyOVpoWklTa2w2Uk5LSEt5c3IvNW50K0FBQUFBQUFHSzVJWk95aUcyKzhjWFF5bWJ3cGMwVVRkMThuNllOcjFxejU0K0xGaThOc3h3Z0FBQUFBd0hERDBKSmQ5TUVQZnZDVnRyYTJlZTcrZFROclZ1Y3drMkl6cTVrNmRlcW5hMnRyQzdNZEl3QUFBQUFBd3cwVkdidXB0clkyYjl1MmJXVm05bU5KNDZQbUZqTzdhY3VXTFovOTJNYyt0akhMSVFJQUFBQUFNR3lReUJna05UVTF4MGk2UTlLa3FOSWxsUFFyU1orc3JLeDhLZHZ4QVFBQUFBQXdIREMwWkpCVVZsWStGSWJoS1ZFeUl4bmQyL21TVnRUVTFKenE3aVNOQUFBQUFBRFlUYkZzQnpDYzNIenp6UnZPT09PTXZ3UkJNTWJNWmtUTkIwbDYrOE1QUC96TXNjY2UrL2pLbFNzOXkyRUNBQUFBQURCa1VTV3doOVRVMUh6VzNiOWhadm1Tek4wM205bjgyMjY3N2ZaRUlwSEtkbndBQUFBQUFBeEZEQzNaUTU1Kyt1a3JneUQ0cUtUbjFibWl5U2gzcnp2ampETytjT09OTjQ3T2Rud0FBQUFBQUF4RkRDM1pRMWF1WEprNjl0aGpIeGs3ZHV6ZDduNVN0RFJyanFRVDNUMXYvdno1ZHljU2lXUzI0d1FBQUFBQVlDaGhhTWxlc0dUSmt0Y0ZRWEN6bVUxTDMzTjNYK3J1SDYycXFtck5kbndBQUFBQUFBd1ZEQzNaQ3hZdFd2U2N1OCtYVkMvSjFUblVaR0VRQkwrNjRZWWJqc2gyZkFBQUFBQUFEQlZVWk94RlM1WXNLUTZDNEl0bTlzbG9XRS9TM2U5Mjk4cXFxcW8xMlk0UEFBQUFBSUI5SFltTXZheTJ0clp3MjdadDM1ZDB2cG5scW5PWXlRdVMzcjV3NGNLbjBoVWJBQUFBQUFCZ1J5UXlzdURxcTY4ZU9XTEVpSXNsZmNiTVJxa3ptZkY0RUFRWEZSUVUvSzZpb29MbFdRRUFBQUFBNkFGelpHVEJ4ei8rOFMxdGJXM2ZEb0xnRWtrdnFYUE9qTVBDTVB4NVMwdkx2R3pIQndBQUFBREF2b3FLak95eW1wcWFLbmYvdnBtTnlXZy83K21ubjE2MmVQRmlsbWNGQUFBQUFDQURpWXg5UUhWMTlabG05aDB6TzFxZHcweGVsblJsRUFTWEwxaXdZR3UyNHdNQUFBQUFZRjlCSW1NZlVWTlRjNUs3WDJsbU02UHZ5eFpKOWNYRnhSZWNmdnJwYmRtT0R3QUFBQUNBZlFHSmpIMUlkWFgxWVdhMndzeU9Tbjl2M0wzZTNjK3ZxcXJhbE8zNEFBQUFBQURJTmliNzNJZFVWVlg5MTh6ZUkrbjNranJVT1Fub0hEUDdXWFYxOWNIWmpnOEFBQUFBZ0d5akltTWZkTU1OTjB4SnBWS1htZGtISmVWSVNybjdRKzQrdjZxcTZqL1pqZzhBQUFBQWdHeWhJbU1mZE82NTU3NzR5aXV2Zk1UZGZ5MHBLU2xtWnRQTnJQN0dHMjk4YzdiakF3QUFBQUFnVzZqSTJJZlYxdGJHdG0zYmRwbVpmVWpTV0VrdTZSNTMvK1RDaFFzYnN4MGZBQUFBQUFCN0c0bU1mVnh0YlcxaFMwdkxoeVZkS21sRTUveWYvclM3bjFkVlZiVXkyL0VCQUFBQUFMQTNrY2dZSXBZdVhmcGhTVmVaV1g3VTlJeTdMMWk0Y09GZnNod2FBQUFBQUFCN0RYTmtEQkVMRnk2ODFzdytKZW5GcUdtcW1mMTh5WklscDJRNU5BQUFBQUFBOWhvU0dVTklZV0ZodGJ0ZkltbFQxSFJVTEJhN2FlblNwUlZaRGcwQUFBQUFnTDJDb1NWRDBMSmx5MDV6OTNwSlJaTE0zWnNsZlhqaHdvVzNaRHMyQUFBQUFBRDJKQ295aHFBRkN4Yjh6dDByM2YwWlNXNW1rOHpzcW1YTGxwMmU3ZGdBQUFBQUFOaVRTR1FNVVd2V3JMazVDSUtQdVB2bXFHbXF1eStMSmdXbDBnWUFBQUFBTUN6eHdEdkVMVnUyN0lRd0RPOHdzd09pNytmR01Bdy9WVlZWZGFNa3ozWjhBQUFBQUFBTXBsaTJBOER1V2I1OCtmTm5uWFhXYWtuSG05bDRTWVdTVHA0elo4NXplWGw1LzNuMDBVZEpaZ0FBQUFBQWhnMFNHY1BBT2VlYzgweEhSOGRxU1dlYTJRZ3pHeGtFd1hzT08reXc1TFJwMCs1ZHVYSmxtTzBZQVFBQUFBQVlEQXd0R1VadXVPR0dROE13L0l1a3lkSDNkb3U3ZitFM3Yvbk56eE9KUkNyYjhRRUFBQUFBc0x0SVpBd3pOVFUxSjBtNld0SzA2UHU3eWN5K3VHblRwdXBQZnZLVGJkbU9Ed0FBQUFDQTNjR3FKY1BNMDA4L2ZXOFlob3NrclltYXhvUmgrTU5SbzBaOXZiYTJ0akRMNFFFQUFBQUFzRnVveUJpbWxpMWJOdEhkL3k3cDlaSUNkMjh6czY4VkZoWmVVVkZSd1RBVEFBQUFBTUNRUkVYR01MVmd3WUsxWVJpV1NycGJVbWhtK1pMK1gydHI2Nks3N3Jvcko5dnhBUUFBQUFDd0s2aklHTjdzdXV1dWUyTnVibTY5cE1PanRzM3Uvcldpb3FLcnFNd0FBQUFBQUF3MVZHUU1iMzcrK2VjL2twT1RjNks3UHk3SkpZMHlzOFV0TFMxVjdrNGlDd0FBQUFBd3BKREkyQStjYzg0NUc5MzkvWklhbzJUR2FFbVgxdFRVbEZLVkF3QUFBQUFZU2toazdDZWVlZWFaaDFLcDFLZmN2VGxxbW1obVAxKzZkT201V1E0TkFBQUFBSUIrNDlQNC9jdzExMXp6aHZ6OC9MK2IyY1RvKzcvT3pNNWRzR0RCNzdJZEd3QUFBQUFBTzBORnhuN21nZ3N1ZU5MZHo1YVVuak9qT0F6REh5OVpzdVFkMlk0TkFBQUFBSUNkSVpHeEgzcm1tV2YrRm9iaHhlNitXWkxNN0xCWUxGYTliTm15MDdJZEd3QUFBQUFBZldGb3lYNXN5WklsSjhkaXNkOUpHaEg5TER3anFhS3lzdktmMlk0TkFBQUFBSUNlVUpHeEgxdTBhTkhka3Fva05VWERUS1pLK21GMWRmV2JzeDBiQUFBQUFBQTlJWkd4bnlzc0xMekYzYjhpcVMxcU9qa0lnaHV1di83Nlk3TWNHZ0FBQUFBQU8yQm9DU1JKMTE5Ly9ZSllMSGF0bWVWTGtydi9LeGFMelQzMzNIT2Z5SFpzQUFBQUFBQ2tVWkVCU2RKNTU1MjN6TjB2bHJSQm5ST0FIaDJHNFpYVjFkVUhaenMyQUFBQUFBRFNTR1NnUzN0NysxSkpQNWJVRVZYcnZOZk1sbDEzM1hWVHN4MGJBQUFBQUFCaWFBbDZVbE5UODIxSmwwaktqWnJ1VHFWU2N4Y3RXclF1eTZFQkFBQUFBUFp6VkdSZ0I1V1ZsVitVOUgxSlc2S200NE1nK05heVpjdEdaRGswQUFBQUFNQitqa1FHZWhTTHhiNHQ2WmVTVXBKeUpGVzYrK1cxdGJXeGJNY0dBQUFBQU5oLzhWQ0tIalUwTkxTOTR4M3YrSDFCUWNISmtnNDJzMXhKeDNWMGRJeWVObTNhbjFhdVhCbG1PMFlBQUFBQXdQNkhSQVo2ZGZ2dHQ2Zm16NSsvdktPajQ4MW1kcWlrd015T1BPQ0FBOVpQbno3OWdaVXJWM3EyWXdRQUFBQUE3RjhZV29JK1ZWUlViSkYwc2FSN0pibWtNV2EyZU9yVXFlL0pkbXdBQUFBQWdQMFBxNWFnWDVZdFczWlVHSVozbWRta3FDa2w2VzJWbFpYL2lCSWNBQUFBQUFEc2NWUmtvRjhXTEZqd2J6T2JKK25KcUNrbWFjblNwVXRuWkRrMEFBQUFBTUIraEVRRytxMnlzdkllZDc5WVVsUFVkTGlrSHl4WnNxUTR5NkVCQUFBQUFQWVRKREl3SUFzWExyekYzWDhvcVNPYS9QUHRRUkQ4OGE2NzdzckpkbXdBQUFBQWdPR1BSQVlHcktpbzZQdVNMcFhVSWtsbWRzeXp6ejViL1l0Zi9HTFN6bzhHQUFBQUFHRFhrY2pBZ0ZWVVZLUmFXMXN2azNTRnUzZEV6V1c1dWJtZnVlYWFhM0t6SEI0QUFBQUFZQmdqa1lGZGNzRUZGM1JzMmJMbGNqTmJFYTFhVW1obW44bkx5MXVZN2RnQUFBQUFBTU1YeTY5aXQ5eHd3dzFUVXFuVTlXWTJXNUxjUFpUMDRhS2lvaHNxS2lyYXN4MGZBQUFBQUdCNG9TSmprQjNmOE1yNDQrcWJYMzljN2RySnF2Vll0dVBaMDg0OTk5d1hVNm5VK2U3K0YzWE9seEdZMmRkYldsck9JRkVHQUFBQUFCaHNQR2p1cG9QdjhvTHhHNW8vS0ZOYzB2RW1qVW52YzFkbzBqTXUzUlpZclA2KzB1SS83K3AxU3VwZnZOck1Qclo5cS85NVZlbVVXYnYzQ2daSGRYWDF0Q0FJZmgwdHlTcEpMMG1hc1dEQmdyV1NSa25La1JTTHZpUXBKU21NVmovWmJHYXRXUXdmQUFBQUFEQkVrTWpZRFRNYm1zNXk2V2NtVGVubklmOE1MZmF4MWZPS0d3ZHluWkxsTDM3RDNMNnk0NTU5SjVFaFNUVTFOYk1sWFd0bXJ4MC9mcndtVFpxMDhhaWpqcnFucUtob3FxVHhrb29rall5NmI1RzBUZEpHU2Fza3JaWjByNlJWWnRheGswc0JBQUFBQVBaVEpESjJVVWw5OHlWbWZzVkFqM1AzZGpPclhGVTYrVmM3NjN2RXpldEdqVXltZm02bStiMmNiWjlLWkVpeWUrNjVwM0x5NU1uWEZCY1g1eFVXRmlvSStqMTZxVTNTT2tsL2x2UmRNM3Q0ejRZS0FBQUFBQmlLU0dUc2dwa056ZTkyK2U5c0YrK2Z1em9VVTBuajNNazlQNnk3MjR5R3RYUE4vSHNtdmFHUE0rMHppUXgzTDViMEpVbWZHcVJUL2x6U1Y4eHMvU0NkRHdBQUFBQXdET1JrTzRBaHljUHZtdGt1SjRITWxLdlFmeXhwdXlURThRMnZqRS82MWpPRDVjMlh5UFNtUVlsMUwzRDNVeVY5WGRKSmczamFEMGs2MnQwdk5iUGZEK0o1QVFBQUFBQkRHQlVaQTNSc3c3ckRjNVY2ckxmOTdyNU9udnYyMEdJdE1iWCtUV2F2N2JXdjJhR044eVk5T2ExdTdXRTVGbFpMT2xHbUFheDBrdjJLREhjL1RWSzFlcGtuNUtYV2xGYXRhOWY5TDNWb1hVdW9qZTJoWE5LNHZFREZoWUdPSForcjQ0dnpOTDZnMTVmZEpPbDhNL3ZOSG4waFE0MjdIVnZmZEhRc1ptK0plZXl4M1psSXRpOHpsemQ5d04ybVNGNHNWN0daN2w1Vk9ubko3cHp6emJkdEd2dncrOFpzM0ZtL2sycTlzRDE0YWVwMmpRZVBmN0p4WnYvbVVEbXVkdTNrK3lvbU51MUdxQUFBQUFEMlFWUmtERkRNa3llcnIySU1zOTgzbGszNGp5U1ZOTHo0SjVNcWUrMnFjTGFrbitURVVxK1IyMXYyVE1SN2hydWJwQk1rWGRzOWlaRU1YZXRiUS8zeWlXMnFYN05OYmFuZXoxUC9kSXZ5WTlLY2d3cTE0UEFSbWxBUUtDZlk3djVPbHJUVTNjK1VkSytaK1o1N1ZVTkRTY09MMzlQeXB2TXNzTEZ5S1ZUcVRrbnYzQlBYOHRCTHpWUXVkYVk5M2ZWMlNidVV5SmkrNHNXall5bTcwdHRhRHo3aTVuVXpIanVyZUhOZi9kdGphMzlxNWd1N1luRTkwVmpTdFNwT3IwcnExaDlwUWNmUFE0VlRUL2p0UzhmZWUvcjRWM1lsWGdBQUFBRDdKaElaQTJSbVIvVGR3NXRmL2FmVzkxbnpFdTdzWFB1MEtaS3VsblJRWnVQbWpsQ0pwMXJVOFBRMk5iZUUvVHBSVzBwS1BOMml1MTVvVS93TlJTbzl1RkJqOHJlYkpIU0NwQjlMcXBEMDlDQy9qaUhIVE0vSWJXeEcwNmtsdDJ3NHFISE91R2Y3ZTQ3cERjMG54ZHo3TVorSmIxY1JZYWJEU3VxYkdreHEzOG1CbTFhVlRmNUllcU5rZWZOSExmU3JaTW94U1NOVHFlc2t2YiszZzJjMHJIMnZLVnlZMldhbVEyY3NiejVqdFhSYmI4Zk5YTDUydG9jZEt5VExNMG5KMXZhckpIV2RaMlpEMDZVdUcwRFZVdzlNZHpiT204UndKd0FBQUNCTFNHUU1tQi9ZMTRnY2s3Vm1iUFg1c09mbWt3WTF0TDNySWtuVE1odGVhUS8xK1g5dTBzTXZkYWl0ZnptTTdheHZDN1hrUDF0MDc5bzJYWEhpR0kzSzNTNlpNU09hU1BUVHV4LzYwSlpVd1kwNTNucTV6QXJWV1NoaG51eW9rTlR2VlhSaThxbXkzaE1KcjlyeFo5MU04L3B4aVdaSlhZbU0wTUkvQjZIQzlOUXlKbFhNV043MHA5WHpKbC9iL2NEcE42ODcwRktwNjN1SjV2bzMzZHg4ekNOblRXcnVhWDhzUC9iM1ZFdTRJYXJra2NrcVp6UTAxYTB1bmR5Wi9IQjkzc3gzTDVIaFNrb2lrUUVBQUFCa0NZbU1BYlB4TytuUU5mVEJUSDArenBzMFNwSTZjbkwvbTV2c3VGQnV1UzRiSmRjaFp1R1ovYmhXVnJqN3RDaVJFVVRiMnRRZTZrdjN2YXhWNi9vMWZVR3Yya0pwOWZvT1hYVDNSbjMveERFYW5SY29ldmdOSkgzQzNXODBzMVdEOUZMMktTWDFUWGRLT242bkhjTTJ1U3cvTThWZzhtK1gxRGN0M3RtaGJrSDU2dEtKZCt4dXJBTjEvOXdwajg1YzNueVozTHRpTlBjZmx0U3QvMHRqZWVkUUxFazY1bmROSTRLdHlWdE5kbUJYek83L01iTWoxZms3TXpFLzZUY2Y4N3VtZHo1MDJ1U3QzYTl6Nytualg1bFozL3c1eVplOWVoMzkvSVRmdm5RMFEwd0FBQUNBNFlGRXhzQVZEdDZwckVDU0hqeHp3dk9TZnBLNXA2UiszUlJUOGhHWmpSdTg2KzArZHg4aDZYTHAxVWxKMjBQcDJuOXYxZXIxdTVmRXlQVHd4cVN1L2M5V2ZmeU5JMVdVMC9YSUhwTjBsYnUvMjh4MmVJZ2RCb3JNTkdJWGo4MHgyL252c3l2c3NVOUtkbkpiMHJxV0F5N0lDWTgzK1U4a2U5aWtoOXo5Z1paVXJNOEpSUXR6d3ArYmRFNXYrN2QxVFB4MlVVN1RmTWtPVjJlMVJKRmJ4emNseFNYcDRMdThJSGREVTYyWnpjZzQ3Sjk1cWNtek9tTE5mNVRwWkhVbUNFL0kyK3AxSmF0OFRrOFRmNjRxbTNSRFNjT0xIemJaVzlWNW9RTlRyY201a3BhNXRFWGU4MzB5ZVV6VytUdlplYk84MVdVOXpQQmliWDNkQndBQUFBQjdGb21NQWZQY3dWcnN4ZFY3aVh0aldmR0xKUTFOZjdUT2VTSDJKVytTZEhSbXd3dGJrN3JqdVZhbEJuRWF6dENsM3o3WHF0bXZLOUNieHVWbDdqbzhpdUhld2J2YS9zYzk5cmhaZUhWNk84eU5QZnRvNllRdGtsUnk2d3RGMW1FL2l4SU9SMG1xVUtCdlBsbzJzYytWWTJZc2I3N0RYSnM2eis4N1ZEODhXbUh0TTVldi9iUTgvSzI3dDB0MitVdmpKbDhxU1NmODlxWFJxWTFOdDhqc2xJd29YL0tjL1BnOXBkWXk0K2ExbFVFcVhLMm9pa215OStyWjVqdmVmTnVtOHA1V1FQRXcrTGlacjVicHI2SHMwL2VYVG5wUWtockxKby9wTGY3ajZwdmY1ZkkvZE4wVHMzalhrQlFBQUFBQSt3d1NHUU5rYnNGZ0xWcHJia0dmSGR4ZjZuT0ZsT3c0VGxMWGtCZDMxM1dQYmRXVzVPQXZKcktsdzNYRGY3ZnBPOGZucG9lWEtIcVFuVGtjRXhrbXE1YjhqOTNiWFg2QnlTYTh1cTFmbUxSMlY2NFJ4R0wvbFNTejFHZmRkV2E2UGFjOXViQ2t2bk9sVW12dlZwa2dTYUZkWEZMZmRIR2ZKdzlkbVQ4Rk0rdWJubHhWTm5tN3VTNVd6WnQ0ZTBsOTgxZVRGdnYxZzZYRmo2dHpJdEEzSkZzNzZrMTJiTmRyZElVS2d2bnBDVXhYbnpYeGlabkwxNzVmWVhocmVvbGlrOTZSMzk3eWorazNyenZuL3JPS3R4dHV0THA4MGtQVGxxK2QrY0M4aVEvc3luMENBQUFBc084aWtiRVBzMzJzaE4zZEM2SWxWN3NlY2w5cUMzWG44M3N1ekw4MHRlbWx0bEFUQ3JxS1YvSWtIZWZ1STgxc3l4NjdjQmFzS3B0MFRVL3RKZlZORlRKMUpUSVU1dnhnVmNhOEVydkNwY0xlaDdIME9NSG5nSWU4dUN5M3AvYkdza25mVFArN3BMNXB2cm4vL05WS2k4NGtocGxWcmVxMk1zaXFlUk52bjdHODZXT0JLK00rMmVGQk1uVnZTVVBUankwVys1bW53bE9WY2FLU2h1WVRBOWZ2N3l1YjlGUzZlVnJkMnNNQ0M4ZExVdUJCMjZyeWlmY1A5TFVCQUFBQXlCNFNHZnN5ODQ3QkdzWXlTRVpFUXcyNjNMdTJYWHVnR0tOTE1wVHVibXJYbklPM201cmthRWxqSkEyclJFYnZQQy96NXlDdzFNNldQdTNIS1ZVcjB5UGJOYmxQTjdQVFgrMmlOU2I5WDgrSCt5bGRjMUIwNWd6K2E2YmF6RDRwRHh0bjNMejJVRXVHWCtoK3ZKbTF4Z3B5L2wrcXRmMHF5YnFTR0hLbDNLeXlzWFJTajlkZFBXL3l0VFBybTFLU3J1bXF6REFGY25tWVRKNFVtUDFzeDFpRHVLU3VSRWFPcGI0dHM3TE9mZUh6a2w3Yjk4MENBQUFBc0M4aGtiRVBjd1doYVE5bUNRWXVSOUxZeklaL2J4eThDVDU3ODhqR0hSSVpZNkxLalAxRHRNeHFXbnRlYkxkTFlCckxKdCtVdVQyem9lbE5KbjEwdTA3dTlXNnhPNVRNZWJpeFl0ekxrbFN5eW5QMTdOcFBtWFJpVnpmcGhWRDU3NzYvZE93ejNhOVQwckQycldZNnIzdTd1Mis5OS9UeG41alowSHl4NURYcDl0RDhpMG5QL2ZOeHRXc24zMWN4c2FtbjJGZVZUYjUrUmtQelJuTmZacVlSTGwrdlZQNWl4ZHI2c3l3c0FBQUFnQ0dPUkFZR0lpWnBkR2JEdXRZK1Y1Z2RGTTB0TzF4anRLUWVoeTBNUzY0Um1ZVTVPUjBkajVmVU4vVTd3K1htRjY0dW5WTGQyLzZTMmcwSHVMY2xyTnNLT1daMmlSUmVvcHgybGRTLytLek1IdEl6elVlYTZkQlhROU9Eb2VlZmRYL1pqa21NL2xoVk9tbFpTWDNUeDB4K21Kc3NrRjJlWngyWGh6Ri9SdExCTzhTNnZQa05jdi84bGxod1NaRW5qdzlDSmVSMlkyUEZ1SmRuMURlMVNHcDJlWjdKeHZaOHhmNHorWEV6R25iSXBXeGJYVHI1enQwOU53QUFBSUJkUnlJREE1RWo2WURNaHVhV0hsYW5IR1JyOStORXhxeTdQR2ZMeHVidDVxY3dXZEZBUmh5NWdqNkhva1RWRmtjZGMwdlRJVGxKbXg2NG4rclNQRE85cHV1YVpnZEpPcWo3ZGMwOWpLbnRNek1hWGx6dENsWWZNSGJpdjFhZWFzbjAvbENlQ2x4Yk84K2gvSjdlYzFKQjhKRXdqSzNQODQ0N1pPb3hBWEYwcmVjVjVUUi9WbUg0WlprVmpFeW1paHRMSjVlVzNQYmljUjE1blRQQnJpNmIvR3RKdno2dXZ2bGRicSt1UHJLclRQYlY3cmZadmVjRUN3QUFBSUM5aDBRR0JtcTdyRUt3RjZid1NQa094UWRCanpOU0RrT2JONnd2M3QyRmE4dzZFd25kelZ6ZTlBRzUzdTJ1TVRLZm9BNHZOdE9CTW8zdTl5WE5wa3VhM3JtVWoydnp4cWEybWZVdlBpU3pSYXRLSno5eWYrbWtleVNOVk9jcUpyK1M2ZjNkVDVGZVdXUm1mUThqU1dvOVZoSnJmcjlaMDFjbE95SzlpbytaNXBZc1gvdVZ4dElEdnpHZ213RUFBQUJneUNPUmdZRklTdG9rYVZLNllYeCszeXZJRG9hSnI2NVlrclpSMHU1UGVEa0V1RkpUdXlVVlhuSHRPS0hsOWdlRlo1dloxUFJtRVBZOEtXb3FESjZQV1ZqVm1SdXdIbE5ETHJuSkgzZlhuUmJFYnJVTzNaL0tUYjNkWEtlYjIya3lUYzdzYjdKOGw4TEdlWlArTmNDWHVoMlRZaVgxVGVmTG1yOWcwaHQyQ003MXRKdWUzSjFyQUFBQUFCaWFTR1JnSUpLU1hzNU1aSXpiQzRtTUNRVTdYT1BsL1NXUllZRk8yRzYrVjlmRGpXV1RkbGdGSk5QTStoZFBrdFNWeUVqMlVwRnhmOW5Fdjh5c2I3cGJwcE03eiswdGJ2YUVwRWZjOVVqZy9rQnJXUFNQZ3B4dGZ6VlRoVHhWRWVZRTE2MmVOK1VMa21ybGJpVU42NmVicFdiTE5WdlNpVzRLTFBCUHltejNacWsxZTYxSnY5aWgzZFVVbW4vTHBrNitkdlZNMjZNenpicnNvd3BqSzdkcmpLWDIvT3kyQUFBQUFQcEVJZ01Ea2E3STZITGttRnhKclh2MG9tOGF0OE4wR0JzbDdmYktIVU9DZTFsbU5ZTExIK3JIVVVXWkd4YjJuTWlRcEtRSEMzUGtFMTNCVTQxbHhTLzIxR2RtUTlONFNlUFZXU2t4OHRVVG16ZEtxOVg1ZGVtYmI5czBOcWV0L2MzM2wwNzhaejlmWGIrNSs3TnUrb25sK2RXcnp6eHcyMkNmdjhkcnl2KzN1bnpDZi9iR3RRQUFBQUQwSDRtTUxITGJjZktIZmR3MlNmK1dkSHk2NFcxVDhwWDMwR2ExNzZIRlMvSUM2ZFFEODdzMy95ZXF5aGpXcGkxZk84MDhmRnRtbTF2d3g1MGQ1OUxJeklFWUZ0c3hrVkhTOEdLdHBEbFNLaXI0Q0ZYUzBHTWVRNUplL1FhNGY2U2s0Y1h6ZSt6VjNpS1p1czVqRnB1M2F0N0UyM2NXNzBtMVhuaFBoYlgwOGxydWRMZWZyRTVOdWtVVjFqV3piRW5EMmtxUkVrMFpBQUFnQUVsRVFWU1R2ekJ5N01TN01pY1g3YzNSdFo1WGtOTmN1YnAwOG81VkhnQUFBQUNHRkJJWkErVG1ib00wejZTNTl2emFwWVBJekZyZC9RRkpaNmNmYnNmbkIzcm5hL0oxKzNON3BrQmkxcFFDamQ5K2pvd09TUStZV2E5VkJzTkZ6TVBMTTdmZHRXVnJUckR6MVRqTXRsc2l0eTNvYVk0TXk3UE1CRVYvbVdJbTIySFNrcDZFSHU2MFg4bnk1dmQwZVBNWEpaMjYvUjUvS1ZUdTIxYVhUdmgzajJGNCtDR1ozcko1WTlQR21RMU52MnVOMmFjZk9XdFNjMDk5WFQ2MUtLZjVyeTQvVEQwTlZ3RUFBQUF3cEpESUdDQ1RCbTI5VWJlZGY1SzhEM29nR3RveFdaM0pEWDNveUpINlcxTzdObmNNYm9ISjZGelRnc09MdWpkdmtYVC9vRjVvSHpTenZ1azhTZS9lcnRIMHk4Zk9LdDY4MDROZEIyVG0ybHB6SjI3cTNzWGNIblA1dmIyZXczeWF5ZnBPZExpZWNtbGRiN3NEMmNZK3ptOHpsemQvelVQL3FwdTN5dDNVOEdvZXdsMWJWcGYxbk1TSWpqOUlNcGxzcktTekxaYi9zVDc2ZnE5em9STlR5UzBiRGxMSC9qRXFDUUFBQUJpdVNHUU0zS0NOenpmdmZlNkNmZGdEa2g1UEp6SWthVkpoVEdkTkxkU3ZuOXltd2NwbHhFeWFlM0NoRGhxNXc0ZjZheVE5T0RoWDJUZk5yRzkraXhUK2VMdTVNVndkZ2V3N096dTJwSGJEQVdidEl6SU9iSG5pZE52aHlYMVYyYVRQNzNCd3JjZG14cHJQa1B3cjJsa1NvL1BrVXlUN2plWEVybDUxVnZGak8rLy9LcE1WeVgxeHRHSkswZlNHVFFmMTk5aVRhcjJ3WGMydlRkOGRkMy8yNGZlTjZVcWFoQXJ6TTZ1bXRsdVBKZFV4WXlCeEFnQUFBTmoza01nWU1IdXByNzB1ZS9XZXV1V3FqOFViM0x6M1Q2ejNVV2EyeWQyL0lhbHJyb2JjUURyM3NDTDk5K1drN2wwM09JdUp2SGxjcnM0NXJFZ0ZzZTJIOGF4ZHUvYjdreVpOR3Jielk4eGMvdUlzRDMyRm1SVm10cHY1ais0cm5meFVud2ZYZWt3NXpWL1BiT3FyWXFLemd3Y2xOemNmcDVUT2twb1h5UFNhOUhPL3UwS1RYZUVXTGpMWmhPaDh2NWMweGFRM3k2elFwQXVWU2wwNHMvN0YrOXhVbjdMWTd4NllXL3hnVDZ1V3VIblEyN0NzV05CNmlEenpHSnR3Nkc4OXY2Y2tURnRPOHp1RGpPU0VtVlpsN3JjZ21LbHUwOCs0NUhML1dYdGV3Wi96Mmxvclh6MVlkblR0MnBHU2xMSnd1L1Z4QWc4SzB2c3lGUlltdzhhOU5PRW9BQUFBZ0IyUnlCZ2dOMy9hdkk4NU1qd2NsYkV4cHE5em1leTV3WXh0YnpHelA3bjdVa21Wblp1bWNRVXhYWGI4QWJydzdvMTZmRk5TeVYyc3pNZ3g2ZkF4T2ZyK2lXTTBPbS83WlZlZmV1b3AvZTF2ZjF0Y1cxdWJxS2lvR0hiTHI1YlVOMTNvb1Y5aHByek1kcGNlZnJsZzhsZlMyeWZWZW1GSHJPbHh5VHJjdk5Wa2JYSjN0K2JYbURSeHU1T2FudDNoT3JVYkRsQk8rMGZsT2tFTlRXOHhzK0x1K1FWMy9kZE5IMmtzblhUbnpJYW15bGRQWi8vZFZEQnh6cGlXdGQ5d2haODJzODVZelk0ejZiZ2NENzh6YzNuVFMxNy80aXBaOE1mRzBrbFh2SHBTZTEwUGVZek43dnBJWSttVWxUTWJtcnFHelpocHhKaldwdVV6NjV2cXd5QWptUkg2UWViK2FWbm1TaTdCMzdjN1l4aStiN3Y5N3V2Y1lnc0NoVmZrdDdkdXlJekJwQU9MY3NLZWgrdFltQ2pxNlIyeXd4NlRkR1NQeHdBQUFBRFk0NEorOUVFRzk5amRmZmV3bzZLTzV1WWxmZlVNWmFzSE5iaTk2MnVTdGxzS2RIUmVvSis4WmF6T1AzS2tKaFVPL0VkclFuNmdEeDAxVWxlZU5IYUhKTWFtVFp1U0R6NzRvQ1FkdW0zYnR1OWRmZlhWTzN4U1BwU1YzTExoSUptKzBaVVllRlZ6eW54T1ptWENQUlhXNHJML3lYU0lkZjY4VFpQWjlCMlNHSjJKaHp1NnR6WEd4MjZXL0Z3enpUV3o0dTEydXBwQytTZEdqWnQwOU9yU3lYZjJGT3NUcDF2YnFySkpuMDhGT3NMbHkrVGQ1NDJ4OFdaMm1pbnNpdWU0RlMrOUxuTzFtK2hhLytwUWJHWmoyZVNiMUpsd2VLRGJlV2JMZEYzZ2ZrUFhsK25TekpqZEZRYXVGWmxIaFFvdWUvVVN2anFJNVpXc0xwMjR3MzBBQUFBQU1EU1J5QmlnMWNuaVA3ajdEcDl5cDVucDFKbjFUWCtmMmREMFQ1UDFtc2h3K2NaWENpYitabzhGdXVjOUorbGlTUzlrTm83S0RYVHVZVVg2OGNsalZYWndvZkw2OFJPV0YwaHpEeTdRMVc4ZHF3OGVXcVF4K1RzY3RPR0pKNTc0MmViTm03ZXFzd1Jrd1lnUkk5NC9xSzhteXhybmpIdldwVEpKbVJQQU5xZGtwejB3YjhxYUhZL3d2Ky9ZMXEySCszKzJKWU1yZDloaEZyb0YzKzdxMS9tL1A0ZXVzMzNxcElOV2wwNjV1ajlMbWo0d2I4cWF4dElwbFIxNU9WTmQ5clZ1dnhmSmRzKzdLcjF4MzFuai9pZDVSakxCRzlwSDZvUUhTNHNmN3pyQWRiWExCellUcCtrbjk1Vk4ybTdJemVxeVNjc2xyWFRwbDNuSnlXKzliKzc0SVZuNUJBQUFBS0JuREMwWnFBcExXVVBUMXlWZDMyc2YwOG5heVJLdDV2cE9UK1AvaHdycm5BUGhUbmYvbUtScVNXUFQrL0ppcGtORzUrZ0wwMGZydkNOSDZCOXIyM1hmdW5hdGF3blYzSkpTYmlDTnk0OXBRa0dnNDRyemROS2tQQlVYOXJwUzV5WkpIMTY5ZXZYdCtmbjU0OHpzSEVsanpPeDd0YlcxZFJVVkZjTm12b3pWcFpQdkxLbC84Vk5tZHJYTC8rMngySno3ejVyNFJJK2RUVDJ1T09LdXJkWTVJZW9mbERmaTBrZlBITjNEMHF0U2E4ZkUycUtjNWpQa3RqTE1DVzY5LzZ6aUYzcnExeDhQbmpuaGVVbmZrUHMzWjZ4WVB5TlErRDRQUGVlaHN2SC9lelZlODdEMnhZVkJqaDZRL0tiR2VaTS8xMzBlalFmTHAveHIyb3JtZDhSQ1h5ejVkUG4yODRTa1g2S1piM1MzSjJSQlRXUHB4Sm9lNzBOdVVienh6TkhyTTl2Q1FGZFp1R1BWeW9CWnNMNGZ2UUFBQUFEc0lYMC9iYU5YSlExTnQ1cjB2bDA1MWwxM05aWk9lcGZNd3I2djBmd2RrKys0dXNTclovcnpxdElwczNZbGhzSGs3cWRLK3Jxa2t5WDFtcEVZb0pTa3V5VjkwOHorSUVuTGxpMDdKQXpEUDVqWkc2THJyazZsVW1lZWQ5NTV1L3dRdmkrYXNienB3OGtpL2Q5RHAwM3VkVldibzJzOUx5ZTJZV0lzSnd4VHFWVFM4d282Tm84NG9HWE5xZGE2ZDZNZG1HTnZYZithS1BFQkFBQUFBTHVFUk1ZdU92UzNuaittdGVrbXlVb0hjcHhMdCtVbEoxWGNVMkV0TytzN2hCSVpKdW0xa3I0aGFlRWduZmJYa2o0ajZYbkwrT1MrcHFibUdIZS8zY3dPaks2OTFOMHZxcXFxMmpSSTF3VUFBQUFBN01PWUkyTVhQWEc2dGEwcW5WSVdCcG9qNlo0ZEp6emNua3NQUy9wQTQ3eEpjL3FUeEJoS3pNek43RGt6cTVKMGlqcVg2SHhKVXNjQVR0TWhhWU9rMzBsNmw1bWRiV2IvczI3RER5b3JLeCtTOURsSnJkRzE1NXRaeGFDL0tBQUFBQURBUG9tS2pFRnl4TTNyUm8xT2hpZWtMSHhkSUJzanFVam1MeXVNTlhYa0JmZnNUK1gwN3A0bmFicWtFeVFkSjJtYXBBbVNpaVNsVnh2WkltbGJsTHhZTGFsUjBqOGxyVEt6UHBkV3ZmNzY2MGZGWXJIdm10bEhvNmIvQlVGdzZybm5udHZ6ZkJJQUFBQUFnR0dEUkFiMktIY2ZKV21jcFB4b2N0bmNhRmRITkE5R1cxUzlzYVY3OVVWZnJybm1taWtGQlFWM1NUb2l1czVEZVhsNTc1dy9mejRUTVFJQUFBREFNRVlpQTBQV2pUZmUrTnBrTXZtWW1SV3BjNWpKejU1NjZxbFBMRjY4dU05SlZBRUFBQUFBUXhkelpHREkrdUFIUC9nL1NWK01ocWxJVXVuQkJ4ODhMOHRoQVFBQUFBRDJJQklaR05MeTh2SnVrblM3T29lWFRES3pMOVhXMW83YytaRUFBQUFBZ0tHSVJBYUd0R2hPak0rNGUzbzR5ZlJ0MjdiVlp6a3NBQUFBQU1BZXdod1pHQmFXTGwxYVlXYlhTUnFsenVxTVQ2MVpzK2FuaXhjdlRtWTdOZ0FBQUFEQTRLRWlBOFBDd29VTGE5MzlXa25weE1XbkRqbmtrRGRuT1N3QUFBQUF3Q0Fqa1lGaG82T2o0MGVTN2xibkNpYXZkL2R2WkRzbUFBQUFBTURnWW1nSmhwV2xTNWVlWVdhMWtvcWlwaTgrL2ZUVFZ6REVCQUFBQUFDR2gxaTJBd0FHVTI1dTdsT0hIMzU0aDZSM1NqSjNmK3ZZc1dQL3ZXTEZpa2V6SFJzQUFBQUFZUGRSa1lGaGFlblNwYjgyczRwbzg0RXdET2RWVlZXdHlYSllBQUFBQUlEZHhCd1pHSlppc2RobDd2NmtPbGN3T1ViU2hkbU9DUUFBQUFDdyswaGtZRmpLejg5L3hNeCtwTTZKUDRNZ0NENWNVMVB6L216SEJRQUFBQURZUFF3dHdiQldVMU5US3lrZWJYb3FsWHJUb2tXTG1DOERBQUFBQUlZb0tqSXdySVZodUVEU1B5VzVKSXZGWWorNDZhYWJKbVE3TGdBQUFBREFyaUdSZ1dHdHFxcXFOUXpEcjBscWpwcmUxdEhSOFlFc2h3VUFBQUFBMkVVTUxjRitvYWFtNXZ1U0xsYm41SitiYzNOenA1NXp6amtic3gwWEFBQUFBR0JncU1qQWZpRU13Mis2KzBQcW5QeHpWREtadksyMnR2YUFiTWNGQUFBQUFCZ1lFaG5ZTDFSVlZXMHlzM1BkZlYzVWRISkxTOHZIYTJ0clkxa09EUUFBQUFBd0FDUXlzTitvckt4OHlNd1dTd3JWT2NUa0k5dTJiWnVXN2JnQUFBQUFBUDFISWdQN201dmQvZS9xSEdMeXVpQUlMbHE4ZUhGT3RvTUNBQUFBQVBRUGlRenNWeW9ySzUrWDlGMTNUMWRseEE4KytPQkYyWTRMQUFBQUFOQS9yRnFDL1ZKTlRjMjNKWDBodlIyRzRURlZWVlVQWnpjcUFBQUFBTURPVUpHQi9WSmhZZUdYM2YydmtseVNnaUM0ckxxNmVreTI0d0lBQUFBQTlJMUVCdlpMRlJVVnFUQU1MM1gzdFZIVEtVRVF2Qy9MWVFFQUFBQUFkb0pFQnZaYkhSMGRkNXJaSGRIbUtIZS83S3FycnNyUGNsZ0FBQUFBZ0Q0d1J3YjJhelUxTmE4eHM3KzQrK3ZWT2ZubkxVRVF6Rit3WU1IV2JNY0dBQUFBQU5nUkZSbllyMVZXVmo0ZmhtR1ZwQzNxWEpMMVRIZXZ5blpjQUFBQUFJQ2VrY2pBZm0vaHdvVi9jZmNybzAxejk0OWVmLzMxUjJRNUxBQUFBQUJBRDBoa0FKM0xyeTV4OTlYcXJNbzRLaGFMZlNMYk1RRUFBQUFBZGtRaUE1QlVWVlgxZEJBRVA0bzJ6Y3lxcXF1cjUyWTVMQUFBQUFCQU55UXlnTTdNaFJjVUZOd2s2ZGRSMDRnZ0NHNm9ycTZlbk9YUUFBQUFBQUFaU0dRQWtZcUtpbFJoWVdGVmVvaUpwSkZtOXVYYTJ0ckNMSWNHQUFBQUFJaVF5QUF5VkZSVXRFaTZUTkttcUdsZVcxdmJDVmtPQ3dBQUFBQVFJWkVCZEJNRXdSM3UvbmQxRGptWkVvYmhKZG1PQ1FBQUFBRFFpVVFHME0yQ0JRdTJ4bUt4eXlSdGxXU1MzbGRkWGYyaGJNY0ZBQUFBQU9oOFNBT3dJMXU2ZE9tWHpPeWIwZllHZDMvN3dvVUwvNVhsdVBhS1diTm1GWXdkTy9hSW5KeWNOMjdac3FYKzl0dHZieHZvT2NyS3lpb2tqUXVDNE1sRUl2R0hQUkZuYVducDI0TWdPTkRkdy9yNit0cUJIQnVQeHc5TkpwTUZacmF0b2FIaHFUNzZGYVpTcWFNNk9qcitjK3V0dDI0YmxNQjNVMWxaMmNlRElMQXdETmR1M3J6NU43Ly8vZSszcHZlVmxwYWUyTkRROEkvc1J0Z3Z3ZHk1Y3cvSnljbDVVM3Q3K3o5dXVlV1c1c0U4ZVR3ZWY3K2tReVNwdGJYMXVsdHZ2WFg5ZTk3em5oRUhISERBYXhPSnhHT0RlUzBNUC9QbXpadVlrNU96S1pGSXRQZldaKzdjdVc4SWdxQllrbUt4Mk9PSlJHTERYZzJ5QjBQcHZhRzB0SFNHbVIwazZUVkJFRHlYU0NSdXlYWk1BSUNoSXlmYkFRRDdLRit6WnMxM0RqbmtrTE1relpRMHp0MHZ2T2FhYXk2ODRJSUxPcklkM0o1V1hGeDhpNlIzUzFKUlVaRkwrdVZBejJGbVh6V3pOMHFxbC9RSHZmcEg5cFNkSGV2dVcrdnE2cjY5czM2eFdPei9TVHJOekRva0RTaVI0ZTRyY25KeTN1anU5MG82c2FjKzhYajhka252aWNWaWdabGRMT21IdlozdnpEUFBuRENRNi9mbWhSZGVlTG14c2JFanV2NXRrbDRqNlRsSjh4T0p4SmJaczJmbkIwSHdBMGw1UVJCMHRMZTNqMDRmVzE1ZS9rVXp1eXdlajk4azZmeEVJdEV5R0RFTnRsbXpaaFVVRnhjL0oybUNKT1hsNVgxQjBuY0grVElMSkowZW5mKzNaV1ZsYncyQzRHcDN6NG5INDhjbEVvbG5CL2w2Mkl2S3k4dG5TWm8yR09kYXYzNzl6MWV1WE5tYTJSYUx4WDRpYVhaNWVmbWYzUDFMOWZYMU95U3hjM0p5dm01bTUwU2JjVWwxUFoyZjk0YWVCVUh3TFRPYnJjNzM0NmNrN1RTUkVZL0hmOVhIN2o5SXVyS2ZsMzhta1VpOHNkL0JBZ0QyT1NReWdGNHNYcnc0V1YxZGZYa1FCTmRJR2hzRXdWbEZSVVVySk4yUjdkaDJWendlbnl6cHJYMTA2WHJJTTdOUHhlUHhYcE0zcVZUcUh3ME5EZitMeCtOejNQMDlacll0a1VoOHJxZStRUkI4U05LeC9RanhKVWs3VFdSSXlvMys2LzNvTzJCaEdONFdCTUY3MVJuN0pmRjQvT3FlUHFHZE5XdFdUa0ZCd2JyQnVPWWhoeHh5Wm1OajQyM3hlSHljcFBkS2lrazZJSkZJYkpHa3dzTEM2Wkx5b3U3M3B4L0E1czJiTjE3U3g2TDIrWklPbXpObnpwbURYZW5RWDdObXpjb3BMaTR1NkcyL3UvL1J6TTVXNTg5WVJUd2V2N3Ezdms4OTlWUmIrZ0Z1QUxxcWlJSWdDRktwVkpPa0NXYVc1KzcxczJmUGZ1dEFLNDNLeTh1L1ptYUxNNW9lU3lRU1IvYm4ySGc4ZnBDN2Y4ak0zdVh1cnplenNaSTJ1L3RhU2ZlNCs0L3E2K3NmNm41Y2FXbnBpVUVRZk1UTVRuSDNLWkxhemV4Lzd2NmR1cnE2WmQydWNiU2t6MHA2cDZSSmtsNTI5NythMldXSlJLS3hwN2htejU2ZFAyTEVpRStiMlFja0hTb3BKZW5STUF4L1VWOWZYOTM5ZDZ1c3JPeVlJQWdlN091MXBsS3BkemMwTlB5eHAzMVJWVXlUcEpIcE5uZi9RRjFkWFY4UHFEMHBON09QRC9DWUhvMGFOZXBHU1YySmpGbXpaaFZFRDlnakpaMFJodUdINTg2ZE95WTNOL2V2a3U2VzlKditWZy9zeis4TjVlWGxiNU5VMGtlWExlbC9tTm5yeTh2THZ5R3B4Nm9XZC85YmZYMzlLa252Nysxa1lSaXVESUpnUkg5aWMvZCs5WXZINDNXU3luWnlyZy9WMWRWZDErMjRVeVN0ekF4UDBrR0pST0w1ZEVOWldkbEhnaUQ0V1gvaXlEQXFrVWhzaWQ1UEZwblorOXo5ZFdZMld0THpraDZTOUpORUluRm45d09qOStTSzZCN09sRlFzcVVYU3Z5VGRJT25hUkNLUkdtQThBSkExSkRLQXZ2M0IzZjlnWmhXU0pxZFNxVXNXTDE3OCs4V0xGNGZaRG14M3VQdE1NMHYwcDYrWm5TQ3AxNzVCRUh4QTBxL2MvZVRvd2VKbFNabUpqRGVWbDVkL1IxS1RwRzNSM0NPSzV1aEpMMjNiTGluelFYV0wrdkV3TENrL2VqM0plRHcrc285K0xmMzVBeTBlanplNmU5ZW5kR2FXT2Z6dU5aSTJsNWVYYi9kZ2wwcWxYck54NDhhWGQzYnVYWkIrVUpHN2R6MFVCa0Z3U3ZyZjduNTMrdC9MbHk5L3FiUzA5SlJZTFBZblNRZExPaTR2TCs5TVNkZjFjTzQ5YnZ6NDhlZEw2dldQOU8xdnJXWkkydHhiMzllLy92VVhOalkyL2tUUlVKL1cxdForUFlSa0dOZlIwZkZRRUFUZmxQUTFNL3ZIeUpFakowUi8rUGVibVgyd1c5TVI4WGk4cExja1FTUW9MeS8vdXFUUG1WbWV0bi90NDh4c25LUWp6V3gxOUJEU3BieTgvTHVTUHB2K09ZeitreS9wS0VuSFMxcVcwVGZ1N2plWVdYN0dLWXJOckZUU1dXVmxaZk83RDcrYVBYdjI2SkVqUjk0VjNmOU1Kd1pCY0dKNWVma3BkWFYxQ3pPVEdWRzh1MnpVcUZIek1wTVlrWE1rRFRTUmtXbXJwT1FBanhtWi92M3Fidno0OGUvTmlQRTN5NWN2WDF0ZVhqNWIwcHVpcjd6K1ZBL3NRVVBsdmVFc00rdjNaTmxtOXBVKzluMVIwcW9CWFB0QmQxL2Z3M2xPbERUUTk0OWRjVzYzN2NEZHo1YjAvY0U0dWJ0L3pNdytyKzNmVDk0UWZjMkx4K05YSmhLSlQyY2VVMXhjZkc4UHYrdTVrazZLdnM0cUtTazVjeGVTeGdDUUZTUXlnRDVVVlZWdFdySmt5ZGRqc1ZoRjFQU09RdzQ1NU1JQmxLL3VrOHdzbVpGUWtEci9NTXFSbEdkbVBjNEQ0ZTVGMFJDT2ptN3RPL3VqNXdneis3eTcveXVSU0x3cDNWaFdWblo2RUFTLzBhdWZ5RFowUDdDNHVQaURrcXI3OFhxSytub1FUcGQ5eCtQeGFaSytFN1ZOalk0OU1oNlAzK0h1YTl3OXY5dURZSGQ1M1I3QWxVd21iZVhLbFdGNWVmazFHZkVjS1NuOVVQR291LysxaDNOOU9QMkE2dTZaeHo0VHRiMHJmUzB6bXhDUHg3OFFkVGs3bysvck10b1ZIZmRiTS91WXUvOHJmWnk3djFKWFYvZlRQbDdYa09IdWx4UVVGSHl6SDEwei9hbWdZTHQ4MkNmYy9RUHBvUzM5RVkvSFQ0b3FGaVRwRlVtam8zak9rZFJiSWlPSXgrTzFPL3RFdDVmcmZUVXpJUmlWM2plYVdSRE4vZEdWbUNzckt6dE1VbVlTNHdWMy80ZVpUWS82eHN5c09oNlAveU56U00zSWtTTi9sdkZnMHlIcGRuYy8yTXlPVWVmUDE0S3lzckk3NnV2cmY1a1J4L2owejZXN3J6V3pGN3ZIYm1hOS9pNmFXZGNEbnJ0dk5yTlJabmJhbVdlZU9lSFdXMi9kNGNHelA5ejk3THE2dXR1NjNiL3pKTDA1MnZ4ZTVpZmgwZjVWdlZVTEJFR3dJR016L2Y3enRuUkRHSVk5L1Q3M2lQZUdRVGRLbmEvbFFUTjd2YnZmYjJadmovWjFKUnJkL2N2ZGZ5YlVtZkI3SkJyeU9HRHV2cTJubi9jb2VkOWwxcXhaQlpMS284MnU5NG9vWWZmOWJzYzkyZTBhVTgwcy9iZjV4dTRWS3EydHJaa2ZvclM2KzJvemU4N2RKMFQzSVYybCtLbDU4K1pWTDErK1BMTjY2ZzNSZjdkSytrK1VrSHRqeHNUL3B4MXl5Q0VmYjJ4cy9GRi83d2tBWkJPSkRHQW5GaTFhOU9peVpjc3VjdmZ2bVZtT3UzKzNwcWJtcnNyS3loM0t3SWVLUkNKeFIrYW5vdVhsNVorTFB0M0pEY093b3I2Ky9yZVovY3ZLeWs0M3M5dWlQNXgrVUZkWDkvWCtYc3ZkbjVHMDBzeitOMi9ldk1OanNkajhhTmRKR2QxT0tTOHZQeWE5WVdZM0poS0pKM2J6WmU0Z2xVcE5pTVZpcDNWclBrRFNhVkY1N1ZmZGZaeWtnekkvSFhUM2IwYkRiZDRZL2RINFNucGZNcG5jTENtc3E2djdTTHF0dkx6OGZETTdKVHIycjVuNzB1THgrUG5wVDFWNzJoK1ZDcWZOaTc2NksrditrSnp4Z1BQRzlQQWNNM3RlVWpZZlZoNlE5T2NCSG5QS1lNMkJNRWd5UDJIOVAwa2ZqZjU5ZGp3ZS8yeFBGVC9sNWVWZnlmeit1UHNtTTdzaW1VemUzTnJhK3V6SWtTUEhwRktwZzRNZ0tET3pyZ2VXYUlqSWw2UE5WQmlHSDYydnI3OHVzekppMXF4WlhmLy9iV2FmeWtoaVBOYlIwWEhpaWhVck5zWGo4VUpKZjVKMGtwa1Z1ZnRGa2k1UzUzQ0RvOXo5QXhsSmliUHI2dW9hNHZGNExQcGV2U1U2OThYZDVzZ1psM0hkcXhLSnhLWDl2WUdscGFWVHpPeWQwZVlUWnJaRzByc2s1UllVRk1UN3F1RFppUVBLeTh2UDc5YjI4WXlmbjVmTHk4dWZTKzhJdy9CSjlTSWFobkdHb2tUTCt2WHJmNlBPMTlyMXZoRUV3Uy9pOGZpMTdwNjU4dHV2NC9GNDEvZkgzV3ZxNnVyTzQ3MmhTK202ZGV0dUx5NHVQcWExdGZXUnpaczNkejJRRnhjWEgrYnVVOVg1dlhsZ3c0WU42OVZaR2JPdys5Q0w5RENhOUwwMnN6RGRWbGEyZmI1d3pwdzVvM0p6YzQ5UTU3MSt2cUdob2Fja1JMK1oyVjhUaWNSN2Q5WnYvUGp4YzZML1g1R2tobWdvUjZHWlRaODNiOTVSeTVjdi83Y2tSUW5DN2VhZktpOHZYNU5Pc2t2NmFTS1IrUElPRitpTTVWZkpaUEo3eTVjdmZ5bmoyRmxtZGxkNk94YUx2VWxTVnlJakdzYjJtZlhyMTkrWUhuWVVqOGRMSlAxTlVqclRXeXFKUkFhQUlZRkVCdEFQTFMwdFYrZm41NTlsWnJPaUI0WUxhMnRyTDZxb3FOalNqOFAzS2ZGNFBFL1MwWmx0N2g1TFA2QUVRWEJUUEI0dlRYOFNsRXFsUmdSQlVCT3RjalRheklLb3NpSFRvKzQ5VDFOaFpxc1NpY1JDZGY2aDlUNHorMW9QZlQ3WnJla2Zrcm9uTXU1ejk4Y3pqckZvdkxja2JYWDNGZDNPZVZUM010b2dDRElyVWRMbHhhR2tsbWh1ajRib0huVU5wWWtlU0w0NmUvYnMvSkVqUno0Uy9ZRzZ1SzZ1N21kN2FtNk92YUcwdFBTNElBaE9jZmMvMWRmWDM3K0hML2ZuN21YT094T1B4MyswczBTR3UzL0x6SHA3S0MxUFA1Qksrb0draDd2dGIrM2htQjZWbEpUa3VudEY5Q0NZYW10cisxWitmdjc3bzZFaFUxS3AxS21TdHBzVElucG8vM3hHMHd2SlpQTHRLMWFzeUl6M2xTaEI5cGR1citzaU0wdC9zbnBwZlgzOUw3ckh0SExseXE2aEZHWjJVc2F4UzFhc1dMRkpuUTk5TFdWbFpaY0hRYkE4NmpjM25jaUl4V0lWR1VPbkhrdFhSQ1VTaVZSNWVmbVZacFpPWk15Y00yZk9wUFI4Q2tFUWpNKzQxb0RtV0FpQ1lIN0drSWpmUmhVRzc0cDJuN01iaVl3cFp2YTlQdlovTmJPU0toYUwvYnEzamprNU9ZdlM4MHlZMmJhVksxY200L0g0WkhlZm5uR09RRHNPaitxK25IMlB3MWIyVis3ZU1YNzgrSU1sL2JXZ29HQk5YbDdlZDRNZ3VER1JTTFRINC9FUG05a24xSGxQMzd0eTVjcmZxZlAvTHdZNlhHZzdlWGw1SjVuWjc2TE5MMHZxZDlKdGQyUldIVVZEa01aTE9sT2RQMS9uWkNRcGQxa2lrWGlnZTFzeW1Yd2dOemUzYXpzTXcrY3k5N2UxdFozY3Zlb3BrVWcwbHBlWC84UE1aa1d4VDlyZDJBQmdieUdSQWZUREJSZGMwRkZkWFgybG1VMlRORVpTV1Z0YlcyMTZOWTZocEtPajQ4RGMzTnp0SGx5Ny9VRitRUFFwcnRUNVIzLzNVM3cxK3VxU1RDYkxjbkp5M3FyT1AxZ0x5c3ZMRjV2WnhHajMwZVhsNVl1amZjOW1mQUs4emN3eVA4RzBhSWhJYjViVjFkWDlKTDBSajhjUFRTY3kzUDN4dXJxNjdlWXZLQzh2LzR5WmJaZklxS3VyV3lscFpHbHA2WXhZTE5ZWUhYdGZYVjNkaVJubkxjOG9DMzY2dmIzOVFra2FNV0xFcGYrZnZmTU9qNk00Ly9qM25iM1RuUzNaQWl6UkE3WUpMWFFNaEJDS2FBWmhiSFIzTXlaMFRESFZFQkpxUWhJSFFpaHAvQ2dKQ1VVMkdGTm03MlJiT0tZalFnc0VrNFNXaEdKTUNSQWtZMndrV2RMZDd2djc0MmJGYUgybjRrSko5dk04ZXJ5N1UzWjJiMjk5ODg3N2ZsOHJ0T0RBdGIySzJkcmFlbXh0YmUySm9jTUxBcEZXMy9lbkNpRUdsVTBtNUk0TXBkUU96UHcwRWNXSXFFY3B0ZU9hVGttNlpNbVNXMnByYTJjQjJJeVpUNWRTL25JbzdjMXE5MGxFcEJjdFdsUlNsTlAzL2ZubDBra3FwVGF4VnRhZmNsMDNsMHFsMWhkQ0hMNTQ4ZUk3aGhJSFBucjA2QWxFRkV6Z0g1czNiOTc3VXNvY0VaMkM0bmZrbUxBaFF3aHhuS1VCQXdBbmg0d1k1UkJFcElLZGZENS91ekhxS0JNSzg0WVI4K3VkOURQekNPdDcxZWU2aEJDMnNXRzBVcXBhYTcwTXdEZXQ5bjBNS2I3dlAyTi83eXNxS3JZSEVQUmplMlFjSmFVOGdJaTZtZm1WbnA2ZTJmUG16WHUvM0lYWkV6emY5KzhGOExZUTRwZEVSTXk4VjBORHcrZzVjK1lzSHNROUN2ZnJoMFBsekFwemNCRXJqTUV5dU42dWNJZ1lpcytNdzh4bmhjdDgzODhJSVlKUWp4ZUo2QjltZTA4aUNsYlBud0x3bmpXbVo0ZDZIWU5sYmI0YjFpUkV0RHg0Ym56Zjd4SkNTR2FPRTlGV1FvaGJtZm1uU3FrZm1aQStvUGk4ZGxqdE82M25ibFVXRFhvZlltWWVjZ3J4VldIaXhJazFnZmVPOGVoWlVGTlRNNXlJSnBvcVI2OEpRNGFOMFlmYW1wbHRqWkcvTzQ3emxGMnZYT2hXeU1Qbm96VTV0b2lJaUlpMVNXVElpSWdZSkk3alBPVDcvandpT2g3QXVyN3ZYL3I3My8vK3FkTk9PNjJrcHNUL0VrUTB6bkpGVHdDd3ZTNjJEYnd3akdBYlVEUitiQmVQeC9PKzc0OWc1bmJIY1pJQVhoL3NPVU1ycEVOS3BXbFdoZ1BXVTBvTjAxcXZVRXJ0ek15M1dmMitrRWdremxkSzFUTHo2ZWE4U3p6UE82Tmt4MnVRY0RwSTR3SWNHSXM2ZTNwNm1qNzk5Tk4rVnl4cmEydjlVbGxXQUh6ZGlzT3VZT2F4QU5hb0ljTjRETFNuMCttUmp1Tk1XOFZ1YnRWYWw5VkljUnhubTB3bXM5STlXTHg0OGQrWmVhazF1UjloNnA5TFJEOFlNMmJNajBlUEhqMnBWSmFRVXBTWWdNUDMvWHNjeHduQ0dkSjFkWFZuaEQ2ekE2M3RkMHc0MTRDa1VxbXRBN2QwWnY0MEZvczEydm9NeHB2cXQxTEtUVjNYL1NFKzAwN1kwbDZnWSs4QUFDQUFTVVJCVkd3ZlhWOWYvMXNySTB0WWRMQVd3RElpMnRJNjFzZDRrTXZsM2xkSytZR1hBVE52R3BUWkdoa0FEckRDRlpCSUpDNVhTcDJzdFo1ZDRycTJEeklXTWZON3VWenVhUUNzbEhvYXdMZUppR0t4Mk5FQWZqNlkrMlJqREpsOUJFU2xsSE9JNkFpenUxZDRCZHRvWklUN1VaWmhvaGNoUkpCaUZVUjBsdGI2U1hPT1dWWVl3TFZhNjVMcFY5YzBhL25kc01iUVdsOEc0REo4RnZid2JLRlEyQ1VXaTAwSDBFQkVtL3ErMzAxRVFSZ0dmTjlmYnJXZkRhRFBzNlNVdXRNSUwyOWlEbTJ0bEdvQjhKenYrNHRDUTdBTmlmMXBLSzB4RW9uRVVZRk9CUkUxdDdTMGRFMmFOR2xlSXBIb01zYTFNVkxLdlZ6WGZYcmczdnBIU25rcEVmWHFCUkVSbUxsQVJITUFuRGxJZ2V0djJaNkx6THhnZGNjVkVSRVI4WGtSR1RJaUlnYko4Y2NmM3pGanhveHJtRGxGUkNPWWVlOUVJbkZSYU5MK3BTY2VqNzhMWUtNMTJhZHhRNThmT2h5OFg3d2dCSU9abDl1cm5jeDhveERpQ0pQU2RraVRYU0k2MmRyMVRPakxnS0VlUmdQQUZzWGJrcG1mU3FmVEtRRFhFdEVJcTNwdm5MazFZVHZMOHp4cWFHaFlaODZjT1ora1VxbjFIY2U1Sm5TYUxhMys5NWRTemdpUGc1bEYwR2U0M1BmOVMwckVjLy9RNm5ONE1wbHNEUWxZbG1LaFNiUFhoOWJXMXViYTJ0b1pBQTVnNWdXdTZ6NVF1dm1YbmtZaHdoNzl3R2FiYmJZQmdONlVsMEtJZFNaTm1qU0NpTTVBOGY1VmRuZDNEMHFEWmNLRUNldGFuaDBGMy9kektCcEZIak5pbCtzREdGbFRVek14bE4xbnMyQ0RtUWV0cHhPTHhjWUcyK1paM0llWlc0eWV4S0VBTmpSbEY2ZFNxWmxOVFUyditiNS9seERpSUhOOHQ2cXFxbGVVVWs4QTJBYkFucUZUQk9rNXE2M3pMQS9WOFkwWFEyVnd2Nnk2L1dVdFNUTHp6RXdtODQ5d3VGSXNGck1GTkxYMVRyakhDbU01WmxVTUdTanFJV3hjVVZHeHIzVW9tT2lDbVErUlVnWnBjajkyWGZmQkVsMElJdnB4K0tCU2Fvenh2QUNBeFZycnAwcTBMY2xYOGQyd05xaXZyeDlKUkxNQWJCS0x4WjRCY0tubmVWY0xJVkxaYlBZdXBkU1VvRzZoVUZnNlFIZmZ0RVFyWWJTZTlqT2hZbjBNR2N5OGptWE1IS2pmd1hDSXJZTmlXS2ExWGlmWUNZV1YzQU1BOCtiTisxUksrVWVUUVFnbWpHcTFEUm1sSUtJWGZOOXZXYng0OFNjRDFVMmxVbHNaRFkrQTk0bW9iQnJzaUlpSWlDOGJrU0VqSW1JSW5IamlpYS9NbkRuemV3QnVOdGtETG1sc2JHeWFNbVhLU3ZHcVgxYk1LczJIS1A1SXp3SFlhMVg2WWVhSFhOY05mclJsQVdTVlVvN1cybXRvYUJnZGo4ZmZNbVZUdE5ZellEUXk3RDRzZ2NJaHBYdExwOU83RzRIT29KKzBsTkx0NmVrNWNkNjhlZjJ1dkRIek1VUzBpWDJNaUhaeEhPZDVacjYvbE11NTFmYWF0cmEydVRVMU5VOEEyQ3lUeVh4ZkNQRm5BQ2YwYzhxdGlHaXIvc1pFUkNlRTlxOEMwRHRaVVVvZFhFYlFiNVV3M2hKVEJsRjF0Y25sY3MvVzFkVU5HMFRWVXF4U2pMem5lU3VJNlAwZ1BJS1pONjZvcUxnWXdMcG0vemZOemMyRDhxUWFObXpZNU9BNUphSkhBbkU5b3lYaEFqalRWRDNHTm1UWWszODd3OGdncUxaM21QbGExM1hQUS9FNTJKQ1pYek1HRGhHTHhaVFIwSmdocFV3UlVmRDkyc0thN1AwRndPN1d2UW1NRmhYV09RWUtMK2dkditkNTMzVWNaMnA3ZS92eVdDem1KSlBKTFFDY0MrQmtjOTB4QU44TmZTZUVwV2ZUNjlWaTZtc2pMaWdBZkVNcHRYT3ArUCtCcUtpbzJKV0lTb1pUbU85VHdFSUFLeGt5bEZMYm1iUzJmZEJhdjVWS3BiWnhIT2M4bzlFemFGMmNXQ3cyOHF2MmJsZ2JKSlBKTVNaRHh5Wkc1UGtSeDNIbUF3Zzhabm85ZmlvcUt2clZYV0htRGlMcU1GbTB5REs2clFqWEZVS3NiN1ViVXFybFZVRXB0YlgxWFZ2ZTN0NXVHNGp2TmtLYUlLTEo0OGFOKys0YVNIUDZFalBmYWQ0Wld4c3ZxejJFRUh1TUhUdjIrSTAzM25qL2N1KzVUQ1p6Q0JIZGJVSmx3Y3lmK0w3ZmtNdmwxa1lxOFlpSWlJaTFRbVRJaUlnWUlpZWNjTUl0TTJiTU9JNkk5Z0VRSjZMdjMzdnZ2V2Q4RllVL1RiejdLb2w3RWRHNjlyN3hkSGhES2ZXM2NNcFVwZFNoWlNaTGdTYkdvTU56VEppSExjYkpWQ1NkU0NTMmJXaG9tRmhPaTZDdXJpNW1aeU1KOFc4aStySG5lYmM1anZNZkU3cHlvK1htUDh0MTNZdVZVck9DbFV3aU9xOVFLQndiaTYyOVY2bEo1WGREaWFJL01QTmo5Z0VqRVBscks2M29jMnR0WUFPUXlXUXl0Z2pscWlLbEJETy9tczFtYjBQeEdudVhtcG41SENJS3dwR3VDa0lYbGk5ZnZxSzJ0dFlXdXZzV0VRV3J6OHM2T2pwSzNjK1NoTktGamxWSzJTa2RON0hxMVN1bDF0TmFCOWxIUGdid05WTm1oM0VNUkIramgrLzd2UmtFdE5ZZktxVWVDRFJjbURud012RGIydHBTdGJXMTV3TTQwYVJjL1ppWk5UTTNDaUZlTVBYeWp1TUVNZkFkd2JNZE1yb0UzK1ZlNDVPZHBTZVh5NzBkR3U5TEFFNlJVbTVoQ1FidWJsZElwOU1IMlBmS2Nad2ZoVEo4ZEFYNk9DYWQ3ZW9haHJ0S0dJK0dsUkRrN0tXOXZmMjFxcXFxUElCT285K3prUm43cGtLSTc1bnIybHBLZVpQVmJBOXJlNnFVOGlDN3o1NmVudHNyS2lxd3R2aXF2QnRNQ3RBZE1wbk1jVUtJS3dCc3dzelB1NjdyQVNDVGNoUUFXZ2NLZDNGZGR5Y1VuOUUzakxIdXIxcnIzVkI4NS9USjhHTDFDOGR4aHF5OUVxWlUrbFg3dXhFSzR5cFVWVlZsbFZKQlBkdEZwbWJzMkxIakZ5NWNHUFppSEJLdTY4NEZNRGZZejJReUU0VVE5NW9RbGoyU3llUVBTdWh4Q0NubDVVUjBzZlY5K0JjelozSzUzQ3VyTTU2SWlJaUl6NXZJa0JFUnNRb1EwUytZZVNzaTJoREFZU3RXckRnWVFOTVhQYTdWZ1ptUFl1WitNemtJSWRZSkd5a0NmTjgvUkFneEdzQm9adjZkNWRrd2pKbHZNckhuZnc4MTI5Q2NlMGwvbmhBQmt5Wk4yaGpBSEN1T3ZjZjMvUU9FRUZjYXc5SzJzVmpzV2FWVXBsUVdsVkdqUmgwTzRPdkcrUEVwZ0pFQUZqTHpZOTNkM1ZjYk1iUzNwSlRmSjZLckxiRzQrVys5OWRaSlVzb3JySlhsWlo3bnFhYW1wcmVVVWlOQ3A3b1N3Tm40TExQRzFTVXU1eE9yL3o3dHM5bHNyK0JkVFUzTjlRQ0NWZHNnemhyTTNPRDcvblRielZ3cDFXaE5WTjVZdG16WkJRUGUxTFVFRVIxTVJLZXRvYjdtQTdqTjdQWnFJWGllOTNDUXlsQXBGZnhnN3pFZUorOUpLYnVKS0dHZURhQjQzMzY1WU1HQ2NDaEZTWlJTWXdMdEYzeG1rQ2hubEtnd0JvWS9tUE84VEVRN21iSnZaREtaWFFhVEhjYnp2STlzb2MwVksxYjBjWW0zdnl0V1pwUEF5K1lxODJkZmc3UjJYN0VtaWg4QTJOajArYlhRTURheEovM01QR0FZRGhFOUJhRE83UFl4akJqaFU1dkRRbTN0N2FNQVhHU0xjNjRDeDRYMUtxU1VMNXUwb3lWWnNHQkJ0MUxxVmQvM2J6WWhTQnVoT0FHdUFUQ1k1L2pnOER1c1VDamNVRkZSOFQvN2JsQksvVGlVb2haRzgrSjRBSEVqQWwxcGlUejdnVEIwR0NMcTBscGZWYXFzSDRLVTNoOXJyVmZiSTJPQTlLdGt2TElDMXJPeUpvVUZ0UU9EM1dvWk1zSmtzOWxtS2VWZFJCUjQyNDIzRFJsR3pIWTJFVTIybXMxWXRteloyUTgrK0dCWUxEY2lJaUxpUzA5a3lJaUlXQVdHRFJ2MllHZG41eU1BampHZUNULzRxaHN5aUdoQlcxdGJ2ejltYW10cnkzcHZDQ0dDMWJCbkNvWENhMEVhT0dZK1B6QThNUFBpWUhKSFJCWEJpcG1KLys4WFp0NHhrVWhjR3ZJZ09TMlh5ejJsbERyRTNQOURUSGFKaDRqbzloTFh1Q1M0Vm5QdTdaaTU0THJ1QlRDcnI0N2ozQWhna25YZW00am8zREZqeGx4SFJNRTFlZ0NPeitWeWkxQmNLZS9qaldNeVpnVG5mRGRjYnVyMGJwY3FOM1ZPQkJBSVNzTDMvZE9GRUhzQm1FcEU2d3NoN2xkS0hkTGEydnBKVFUzTkxkWVA2UjRBeC95WC9qanQxV2p3ZmIvM3Zsa2lsSUdSd2llaWZ3WmVHcWJPUDRub3Q0UFZVeWtobERrUXgxaUdqSGxHOHdFb2ZqOGFKMHlZc1AvOCtmUDdqZFZuNWhjREx5TVVzK1ZzYjhmVEU5RVdWdDMzeXZWallZY1F6Yk8yWHdJd3p2VFpKN3lNbWZleXN3czVqdlB5SU02em1iWGRPMm1jT0hIaWNFc2JZREJza2s2bjk4dmxjbzhOb200NTFrdW4wNXZhQnl4eDI3SXc4NjNaYlBaM1VzbzFJdVpiVVZIeHYvNXUrREVSbFV4RFMwUS9LSEY0ZzFMcHVRM0x3a2E2QWFnS25tOEFJNlNVaTVuNUNpSXFBUERNdjJ1TWREcTlENERSUTJoeWhGS3FxdHpudXhyWUhpMTJOaEl3OCtXQkVjT0lncDZ1dGI1MURaOC9JaUlpNG5Nak1tUkVSS3dDa3lkUDdybnR0dHQrN2pqT1lTYnVmcmZHeHNacFU2Wk11ZjZMSHR0cThFbHRiZTBxTlV5bFV0c3k4K0ZHTmYxbXU0eUlBdkhDeDVuNTFpQ1RRQ3dXK3lhQUJJby93bDhzSmRvWTZ1ZWZ4b05qWXJHSmYxWTJtNTJCNG8vOUZmWDE5VWRVVlZWbEFVeGc1c3NBckpSaWtZZ0MwY1ZyQVBTS21obFgrck1CL014YThmY0JYTkRXMXZiYm1wcWFXVUZLVEM2NmVwenF1dTQ4bElaTUhIakFvRVFsd3lpbEpnU1RZblBldWRsc2RtWmRYZDA5dGJXMU93UFlnNGgyQlBCa1RVM04waUIwZ3BtN2lTaWp0UjdJZFZ3b3BkYlhXdjluS0hIL2c2V2pvK1BjcXFxcTgwT0g3d0RRWU1aNUxCSE45VHh2VzhkeG5qUEgva3BFKzRiN2FtMXQ3WjEwR0U4b29PaTZ2d3pGU2NSR0pwd0NkdnBBWm40aE1Kd3hNL3UrZjVvUVloOHA1V1ZFOUhNQWJuL0svbWFNd2ZaMXJ1dWVHNjZUeVdST0VFTE1NSFgyVVVwdHByVitSd2lSTllhVElQeGpwK0hEaDcrZ2xQcFpUMC9QZ3hVVkZXMzVmSDZEZUR5K0pUTWZCZUFKMTNVYm01cWFsaWlsbmdxeVVCRFJqK3JxNmlhMnRMUVUwdW4wbmdBT3NFNy9vRFdPYjJheldUdmxwNUJTWG1SNVAzUjVuaGQ0dGNEMy9mdUVFRUVLejNGU3lnTmQxMzFrM0xoeGNhTnhFWENmMXJwWGYwQktlV1ozZC9jTU8vWStuVTd2Ynd2b0d2RmVvSmpGSVdWL3A3cTZ1allvbFFaU0tiVW8rQXhOT3R2Vk1XVDh2a1RhNkFGeFhYZWw5N2ZXK3NVU0hsY0J0d0E0RXNYN2Vad1FZbzVkMk5UVUZBNlorNnE4Rzc1U1NDbnJBQnhUS0JRdUFOQ0NvdUh3a09EL0Z4TUN1am1BYXEzMXpuVjFkY2x3NXBmVnhmWTZZdVlYZ3hBWUc2WFVaZ0RlaGhGbDlYMi9BY0Nzb1o0cm5VNXY1RGpPVVFCK1ozODNNNW5NanNIemFIalphak1XZ08yRmMzRmt4SWlJaVBpcUV4a3lJaUpXa1pOT091blZ4c2JHODRVUXR3QWdJY1RsalkyTkQwMlpNdVdmWC9UWVBtOWlzZGhHQUY1bjVoRkVkR2RuWjJkODVNaVJNeTJodXVXRlFtR3FTYk0zSDhVZmU2ZGFMdktINWZQNTM4VGo4Zmt3N3ZVbFR0UFQydG82dWJhMjloNW12akdiemZZUjdGdXdZRUYzZlgxOXByS3k4bWpYZFJ1bGxPRkpOTFRXeTZTVXQ3aXUrN2lVdHNjOTFqT2lqVlZtYks4RE9KbVpsOVhVMUR3ZmNrbDNYZGN0bXhKVVNubW9GVExEUkRUa2VQOTBPdjF0QUc2UXhnL0FtNFZDNFVTWTFJc1RKa3c0ZE5pd1lTMW1zcktGWmJCWlFVUkhhSzBmNnEvL2hvYUdkZUx4K0o4QTdLQ1VlcUc3dTd0dUlKSFVvV0xTZndZcFFKRktwVWJGWXJIZVNUZ1JQYTIxYmsrbFVpdXNZNzY5UXFtVWVnakFLNk5HamJvTHdMTW1zOFEyS043Ymp5b3JLNjgyM2pqclc1T1cxMHpiUFFKeFBjTWR1Vnp1VDFMS004MTl1OXNJM1Q1VGF2enBkSHJQa0xaRlNUZHdJY1FmamRGTEVCRVpvOFRWV210UEtUWFplRk1FRS9uUkFHNEpkQk1DcnlYeitiMWdkWHNGZ0NBTjRxRzF0YlV2R2syQUE2eVFqMmZzN0J0RTlMaFNhckdKZCs4Mms5bmVWS0xNZkxtdGI3RjQ4ZUo1WThhTWVUMjRSaUpxbGxJdU1LS0J3ZlB1R2FPZ3phOFRpY1JWU3FrL00zTWJFWTFtNWozTkpCMEFQdXpzN093MUNJU3lPRHhieW9oaDNkK3p6YmFzcjY4L3kwb2grMFhpbDFzMWwxSVdndStlRUtKcm9OWDFyOEs3d1l6ek1pSWF5Y3g1MTNVdlhGVkQ1N0pseTZxcnE2dEx4Z3kydDdlTHlzcktueEdSbmEzcTBudytmMmM4SGwvcEdWbTJiRm5KTVREenJrVDBHRE4vTUdmT25GTUJmREp4NHNTYVJDTHhBMk5ZL3pTVWlRbzFOVFhuU2luMzluMy9zbHd1OTVkVnVUYWIrdnI2UktCYll5ajVydEJhdjZPVWVobkE5dmdzcmUrUURSbSs3eWNjeC9rVmdKOUlLZjlNUkczTXZMRUpvYk10ZUwzZlF5SEVrYlpYRWhHZHJaUTZ0VVQzclZycmZVb2NqNGlJaVBqU0VSa3lJaUpXZzdmZmZudkdtREZqVGpHcmJOVUFUcDgrZmZyM3BrK2Z2anJ4M1Y4SW51ZU56dWZ6L2JvYko1UEo5UUdzSkFpbXRYNVVLZlVOei9PMlhicDBxVjliV3p2TnhBRERUS3FPYUdwcWVzMVVQMXhLT1kySXJndmFFOUU1OFhoOFB3QkhhNjFmTFhkK3M0cDJSTGx5TS9FcGEyUkFVUWp5dStGald1dldJNDQ0NHFDS2lvby9BZERkM2QzVGs4bms2UUIrYm1WV0NjYXFsRkxYYUswdkRzZngxOWZYanpTQ2VrSGRaeTN4eDBFamhGalhpbmYveFBPOGhqbHo1bnlDNHFyYmRpYU1aL01TVFdNQVRsTktWYmUzdHo5WVRndkNjWnp4QUhZd3U3c21Fb245UTJFSGE1VHg0OGRYeG1LeHV5MVg1NWUwMW04TjBBd0F0Z1p3a0JEaWJLWFVjR2JlemNycThRYUFWd0djSG1wenU4bHE4MkFveGVqNjV0L2VMQkhkM2QyTFVJYVFya05IUjBmSDQ2WHFhYTFibFZMUEJXbE9UVGpKMWFic3BWUXF0WGNzRnN1R1VrYjJpOWI2ZnFYVVZRQXVOb2UyRFdYVWVLT25wK2ZJRWsyM05vYUlQZ2VOTjBtZnRLWUxGeTdNangwNzlpZ0FqNXJQWlZnb0JNUm41dE96MmV4SzMzY3pNVHpZTWtRR1JmL3hmWDlpRUQ2amxOb1FnQzJBV1ZZVHdIaUlCSWFNNnNyS3lnbWgxSkQ5MHRIUjhhZXFxcXBkQnFwWEtCUUdMU3k4SnZtcXZCdVVVdXNCK0pFWjQ2T3I0NjFWS254RktlWDR2ait4cXFycVVpdjBJK0Juc1Zoc09vQ0hBY3p1N3U2ZUV6YXdUcG8wYVlPS2lvcVRtSGtqRTVaSVpxdzFBS2krdm41RUlwRzRML2krRzAyU1BzKytDVDg4M0hHY3c1VlNZd2Y1TGlwTFpXWGxKQ0xxVGNIcSszNS8yaGYzQllZTUFBZW5VcW4xbTVxYVNobnVCOE5JSWhxUGxUVTQ4c3o4WGRkMWU5OVpKYkxqbEF1RFdhZk04WWlJaUlndkhaRWhJeUppTlpnK2Ziby9ZOGFNRzRsb0J3QlZRb2dKWThhTW1mMUZab3RZVlJ6SDJjcHhuSlZTMklWWXIxeUIxcHFsbEZ2VjF0Yk9CckNEK1dIVlEwUkhhYTFiWU9MbEU0bkVsVVIwRHN5cU9oRzlBT0JRbzJYd2ZDYVRtWnJOWm9lOFNoVW15RHFBNGcvTDN0Q0VjckhoYytmT2ZWY3B0VFV6NzVWTUp2OEVZSnoxNC9EZnpQeWdKYUoyZ1pSeWk0Nk9qcU9EVmVQNit2cVJWVlZWRHdEWXh1cjJ0NnN5OXU3dTdrZVR5V1NlbWZORU5ERVdpM1VZQWRKTXlEVWR4cGpTWXlZM2NRQVpBSm1xcWlwUEtmVjNadjRMZ0tkZDErM1ZEQkZDUEdYdS9mb0EzaThVQ245ZWxYRU9oblE2ZlpBUTRucjd2akR6NWRaWTdJbFNyOUZvNHNTSk5WYW1pemUwMWoyeXJ4dk5jeVlWcVdjMFM5NDNhVHdySE1kNUxDdzRDZUJRcGRTSnpIeVErVnovUFcvZXZKS3BIazE0aFcwb2VLUS83d0JtYmlhaVBjM3VEcGxNWnNkc052c2lUTWFHY2VQR2JUdDI3TmhqVEpyTWNjeGNZOUkzTHpFZUZBOTdubmV2M2FmVytoS2wxRE1BcGpIemJrWVFjVEV6Wnd1RndqVno1ODc5eEs1dlJDTVBOeE9VS2dDdEFKNWs1cHRjMTIwcE5XNnQ5Y0owT3IyajR6Zy9Nc0tBR3hvdGdxZVorV3JYZFo4T3QySG1DNG5vQ0diZUNrQ3QwUnA0ZzVtYnU3dTcveS9rY1hHMHZVTHMrLzRmeTkxREljUmpBTm9EN3hVaU9uWUlob3dKVlZWVmc5SW5pTVZpVUVxTkI3QnFjWFNyd0ZmcDNXQm5ZbUhtNWxVWll3aVJ5V1MySXFJOWlHaC9BQk9FRVBhOXp4c2RvbjBCN0dTOEJnNEZjR2dpa2VoU1N0M0h6SGQxZEhUTUh6NTgrR1pDaUZjc2I1UUFEOEQ4VkNxMVl5d1dtMlVaQ2x6UDg1cGpzVmhneUhEUU41dEpENEIzVnZjQ1ExNUhTeDNIS2ZzK05lK0t3RURwQ0NHK0ErQzZjdlZMOGU2NzcvNTc3Tml4cHdBNDBud1BOeVFpbjVuZkpxTEhDb1hDOVlFSXNzV3Fwc0NPaUlpSStOSVNHVElpSWxhVDd1N3VCNUxKNUJNQTZnR01aZVpUdjRxR0REdmVmcWdvcGZabTVydUl5QmJZZXdlQUN1S3hsVkpUallKNmtDRmh1ZS83UitSeXVXZWxsSmNTMFhRQXc0UVFkeWlsZHROYW56ZVVNVWdwVHlHaVE1aTVnNGppekp5eDNMN2ZINmk5MGZtNGhvZ090NDh6ODcxRWRJYnJ1aDhycGY1aDlEVkFST25LeXNyNTQ4YU5xeDg5ZXZTdVFvamJyUXdDWU9ZblhOZTljeWpYRU5EYzNOd3BwWHpZNkRoc0F1Q0pFcXZzVEVUTmhVTGhoNzd2TDR2SDR6ODNHUitDaWFNRFlGY2kyaFZBbjNTMFd1dC9LNlcyWXVZZE96bzYvajdZTEI1RElaUEpuQ1NFT0RPODZzck0xN2l1MjVzK041L1B0eVVTaWFCc095bmxIUUNXRWRIZVZoakYzeVpNbUxBdUVVMjErcmsvbTgwK1lQOC9KcVc4a0lqdXRrNjMxUGY5VTRub1R1TlowMmpkeHlmTGpYM2h3b1g1aFFzWDFwUXJEMk84SFg1ZXJ0ejBOd1BBak1IMmllTG5ORyt3bmpKYTY1OEFLQ2VVV0JZVGJuTEtJS29DeGN3STF3MTI0cVcxL3JYdGhUQkEzWjV3aG83QllvbndmdW5JWkRMZi9DcTlHMnhEUnFGUVdDMURSaWFUMllhSUZscFpTY0s4Q3VBVTEzV2Z3V2ZoWUZPTjNrcWxNY0JJSXBKVlZWV3p0ZGJIS2FXV1dkbFgycGo1Vm1hZVFVUkhPbzd6dEpYUys5WHU3dTZURW9uRXhzSEppT2dFcFZUTXlpYnl0LzQwY2xCOExtVi81YWJPcElIcUJCampZTmtVWGE3ckRtaVFNKytUV3dFTVd1TkNhLzJka0k1TlJFUkV4RmVlL3RYMUlpSWlCdVMwMDA1cnMySlJCUkdkT0d2V3JCMEdhUFpsWk5rZy9zcE5lSjhEOERITWoyaG12cXRRS094cWk4b3g4M0RMaVBFV2dQMXl1ZHlmQWJEcnVwZWJUQ0h0cG01K3FDN05STlJwZnZTZUFPQm9LeVRremRiVzFoY0dhQTRpV28rSWJEZjR4Y3g4bE91NlJ3WXU0RnJyWHpDemJXQjVadUhDaFFVaHhBWDJSQVhBYTU3bnlkVkpJZG5XMXBiV1dqL1oydHFhdFVYYkFDeG41dDhUMGZaYTZ5T2FtcHBlbmp0MzdydXU2eDZYeitlL3pzelhBSGczcUd6MFB2NHYzTC9XZXBucnVrK3NEU01HaXNhamZNaUlzUUxBTk5kMUw3THJHYStJVjFIOERJaUlqaVdpczBMWlJtYk5uei8vazJBVm01ay82dXpzWE1uTHdQTzhabVplWW5ZLzluMS9mRGFiemRvcENBTjgzMStsaVdURWw1SXVBQjFEL1BzOHd2L29LL2h1Q0F3Wi81Z3paMDdZeURFa3N0bnNQMjFSVW90bmZOOC9UbXU5ZzlhNlY2TkdhLzJjMXZxVTd1N3VqWHpmUDhQV2pXSG0yMHk0MHdNQS9tWEtOM05kOTJKbTdpR2lzd0tEQ1RPL0F1QkFFNWJ5RGpNSDRVVGJHa0huU2xPdnJJZFFSRVJFUk1TWG44Z2pJeUppRFhEQ0NTY3NtREZqUmhNUnBRREVQTStiZmVPTk4zN3JyTFBPV3RPcDFkWW1tdzRrVm1kaTNqOElIOWRhOTJReW1hbEU5Q01pdWxScnZaS0luZXU2MTBvcE53V3dicUZRK0g0UTEyMzFNVCtUeWV3cmhEakpDTXdObFdlczFITjVBTXVZK2MrKzcxL1EwdEl5WUtxOVhDNzNWQ2FUT1VvSWNTTXpYMFZFdjNkZHR5ZGN6MXhITllEMVhkZjlrUm03a2xKZVJVUVhBbmlvVUNnYzFkVFV0S1RraVFaSm9LcHZzbFdjNHpqT05OLzNkVTlQejF3N1k0VE5uRGx6RmdPNENNREY2WFI2TnlIRVFRQ2VNYXZkbnl0YTZ6dWtsSWNCT0pLSTVuaWVkMzZRcnJZRTN3SHdXeVBjRjZ5b3JqQTZHTDkyWGZjKzArZUZTcWtQaWFpaVZLaEhVMVBUUHpLWnpBUWl1aG1BeW1hei8wTHhNL3RsSnBOWlFVUVhBS2dtb2h1ejJleWFjSnVQK0JMQXpDcDRSZ2FMVXVyNUVob05RTkdnVmpEaENxdWJvcE8vYXU4R1p0N2RlSGdNNlg2V282T2o0eWVWbFpWN0EzaURpSjdLNS9QM21iR1V4UmdnYmdKd1V5YVQyWTJJVXE3clBvTGlaM09lMXJyTk5uVG5jcmxGNlhSNmt1TTRqd040bUlpT3M0elBLNlNVSnpQelZRQTJNNW9hUFFBZUlLSnIxOFExUmtSRVJFUjhNWlIxYjR1SWlCZ2FqWTJOR3dvaG5nV3dHWW8vQ004KzhjUVRieHk0WlVRNUprMmFOQ0tSU0d4Z2RsdTExc3ZXOWptVlVzNUE3c1lHQ251TmxFaUIrVCtOVW1xOVFxSHd0YWFtcHIrdjRhNVh1dmRETEkvNDZpUHE2dW9FaWhONjc4ditlVWZ2aHJWUEtwWGFxYW1wNmNVdis3TVFFUkVSRWJGbWlBd1pFUkZya0Jrelp2eVFpQzQzMzYybmZkOC9ac3FVS2YydVBrVkVSRVJFUkVSRVJFUkVSRVFNbmtnakl5Sml6VElId0V0bWV6Y0FoMzNCNDRtSWlJaUlpSWlJaUlpSWlQaXZJakprUkVTc1FSWXZYdndQSWdwUzJWVVEwUVczM0hKTDJaU2xFUkVSRVJFUkVSRVJFUkVSRVVNak1tUkVSS3hCcGsrZjdpZVR5ZDhDZUI5RlliTE40L0Y0MmJTTUVSRVJFUkVSRVJFUkVSRVJFVU1qTW1SRVJLeGhKaytldklLWmp6Y3BBUW5Bc1hmY2NjZGVYL1M0SWlJaUlpSWlJaUlpSWlJaS9odUl4RDRqSXRZU00yZk92QlBBMFFCOEFMcWpvK09NTTg4OGMra1hQYTdCTW1uU3BBMFNpVVJDYS8zT1VOdW1VcW4xWTdIWUovMmwvV3hvYU5oQ0NGRUxBSTdqdkJha3kvdThPT0tJSTc0V2k4WDI3dXpzekpWSzVabE9wemR5SEdjbkFEc0FtSysxZnJXLy9wUlNWYjd2TjZDWXNlYU5YQzczNTFMMXBKUjdFZEZXQU9CNTNtTzVYTzd0d1l4WFN2a0hJaG9KNENXdDlSV2hjOThPWUQxbWZ0MTEzZlBHalJzWEh6Tm16UDZ1Nno1WXJyOTBPbjJRRUNJSkFHMXRiUThIS1IyL1RHUXltZE9KYUhzVXZadSt0emJUeU5iVjFTWFhYWGZkcldPeDJIYnQ3ZTNaVXMvRVFHUXltY2tBMWhOQ3ZLbTFmbWgxeHFPVWtyN3ZmMDBJOFlMVyt2SFY2V3R0a2Nsa3RpU2ljYTdyM3IybStsUktWVEZ6dmUvN1N3SDhNNWZMdmJlbStoN0V1U3VZdVo2WmlZaTRyYTF0ZmorcG0wa3B0YjNXK3FVeTVSRVJFUkVSRVJGcmtkZ1hQWUNJaVA5aUdnSHNEMkFqQVBWVlZWVjdBSGpnaXg3VVFDaWx6Z1Z3QVlCTm1QbEJBSWNNdFEvSGNXNEFVQytsZklTWmY1ak5abDhKMTRuRllqOGxvbU9DMHdKd3czWFM2ZlJHQUlZNWppTjgzeWNoaENnVUNuRWhSRklJa2ZROEx5bUVTREx6Q0NJYWFTYjYxY3k4TGhHdEQyQjlabDZmaUdacXJhK3krNDdINCtjUTBmbVZsWlZMcEpRbnU2NDdOM1FOMXdHUUtCb21kZ1Z3MUFDWHZhRVE0ZzZ6ZlN1QWtvWU1Jam9Kd01ubUhBckFvQXdaQU5JQVJqRnpEWUEraGd4bVBvaUlOaUtpRjlMcDlLNk80OHdDc0cwbWt6azVtODNlVnFvengzRmNBTlVBc082NjY5WVlENkpWb3E2dUxsbGJXN3RhLzUrMHRyWVd3c1lVSWNUaEFDYVkzWXNCOUNpbE5nUFFyMUVwZ0psZmNGMTMzOEhVcmEydG5RZmdZQUFZUG53NEE3aHJxTmRBUkQ4bW91MEFaQUU4aE9Kay95d2h4RWFER0d1SDY3cFhvbWdJSEFYZ1ZpSEVTR2ErV2ltMU1LaTNhTkdpN3RHalIyOHJoTGhtRUgxZTVycnUwMHFwWVFDY2N2WHkrWHdzSG8vdk9WQi9uWjJkejg2ZlAzOHBpb2ExYVVSMERUUEhsRklmYUswZlYwcDlLN2p1b1ZBb0ZIWnZhbXI2aHhuelBrUjByK000WU9iSkFIUlFUeW4xSElDUkEvWEh6QSs3cm51MnVlNGpTOVh4ZlorejJlek1VTHZ6aU9ncUlnS0FOMXBhV3BwTHRjMWtNdHNSMFIrWWVlZE1Kck56TnB0OTNZeXZhcWpYM3Q3ZW5sOFZvMWxFUkVSRVJNVC9PcEVoSXlKaUxlSDcvcE1BSGhSQ25BQmdKRE9mZSsrOTl6NDhlZkprNzRzZTJ3QzhCV0FURkNkbUJ5bWxOdEZhLzN1d2pldnE2cEpFVkErZzBXRVNVQUFBSUFCSlJFRlVDc0FFMy9lbk5qUTByQk9QeDU4QThMVHhicGczbUw0Y3gva3RnQVlVSjdWQTBRQmlsOE9NczA4N2U5OXNmOHN1bnpScDBnZ2lPdG1VeHdxRndqUHBkSHAzSXRyRXF2YXExWWVTVXQ3SHpCMTJQOHo4L05wYU1aWlNMamIzTUdBOU01WjlwWlJ0MXRodVpHYlBqSWNBZkFDZ0ZzVjc5cnRNSnZOaU5wdDlQdFE5QVJnUjdDeGR1blRaNm95MXBxYm1iZ0JIckU0ZnRiVzEyY0J3MUIvNWZGN0U0L0hLd2ZSSlJNT0RiYVhVaGdEMjdxZDZyK2NSRVoycmxNcVhxK2g1M3A5enVkeDdTcWxKekR5ZWlEcTExaGVXcWl1RU9CWEFUb01ZN2hJQVY2TDRYRjhhVE5pSjZDSUFGd1dWeG80ZGV3a3ovM2t3QmtZaXVoN0Y1K0l2eHNCU2tuZzhQc1VZWHZ0bCtQRGhPd0lJdk1vOEFFa2lBalBmTzJuU3BCMk5zV1JRbjAwSVJ5azFyS3VycXhMQWZtYk16TXgvbXpoeFlnMEFKSlBKNVFDMkNveHZBL0JQODI5MXVlc1NRaXdIMEd2SWFHaG9HRTFFbDFwVnZxNlV1bFJyZlZtNExSRWRURVI3bWUxR0FQdlUxZFU1QUQ0ZDZvVlhWbGJPQkhEaVVOdEZSRVJFUkVUOHJ4TVpNaUlpMWhKVHBrenB1dTIyMjY1aFprbEVsUUFPN3V6c25Md3FLNzFyRXFWVVJUNmZIOTVQbGVjQXJBQXdESUJnNXVNYkdocCtWNjV5UEI3dnRGMytSNDBhZGFnMUFaL2YxTlQwa1pTeUhzRDI1cThDd0tBTUdjejhOeUpxR0VTOVRnQWZFOUVuekx6VWJMY0JhUFY5L3lNaWV0MnVYMUZSY1M2QWRVM2J5NXVhbWo1U1N2MFdRS2JNS1J3aW1oVTJtUGkrZjV4UzZpNEF3M3pmSHg0WVc4d3FkWlc1ajY4R2hpRlRsckQ2dVVNcE5jTXFlOU4xM1oxUW5DRFZsSmtVeG9sb2xOV21rb2dLcGswOGw4dDlvSlE2RWNCOUpuUE9GZUZKYjMxOS9RaGJJNm0ydHJaTEtUWFFiZTRETS8vS2RkMkxCbEYxYmZJUU0vOHhmTkJNL2plMGp6SHpia1NrdzNWTFFVVGZ0RDBCd2dnaGpnSndOelB2UlVSbkFWZ0d3RFprYkMrbHZBckFod0E2QVFRR01HRytWd0RRQThBMmxyU2orUDNjajVuUER1cHdNYzRoSG54ZVp2OXQ0NVd6bS9YWjNtR01NWHNFbmlYbStWdVRmQmhzdUs3N082VlVBNENEaVdqOVJDSnhXMkNJUWZHN2tSSkNuQVJnSWpQZnpNeS9Ga0w4RWNBWTMvZlBKYUpQaUtqWGtNRE1aeVdUeVY4RSsxVGt0V1F5R1J4U1Z0MDdpZWltRXVPN0hjQ1lRVjVMYTdBeGJ0eTRlRHdldnlkNGJ6SHpwMFEwQXNCUHBKVC9jRjIzejdQUTF0WjJRMjF0N2NubWZmWnRwZFRwcmEydE53L3l2QkVSRVJFUkVSRnJnTWlRRVJHeEZqbnBwSk5lblRsejVpOEFUQWNRSTZKZlhIZmRkZlBQT2VlYzVWL2dzS2JHNC9IckIxdVppSDQrUU9hVmFRQnVDSGFFRU1kYlpjRnE2RDdCQWQvM254anN1WDNmbitFNHpsK1p1WXVJdW4zZkgwMUUzeU9pSFUyVk53RDh4TVRvKzBHN1ZDcTFWU3dXT3dYQUw3TFpiQi90RGJQQyszMFVKeXl2Qkt2V3E4SEJBQllFUmd3VTc5a0pBRTR3azdsSzJ5QVJNb1lrN1IxajhBSUFMRnUyYklQcTZ1cmV5c3k4bUloR01YTUxFVTIwMnZRQW1HanFKQUJBYXoxZktmVVRabjdmckJqM1lkaXdZV0gzL0xKaEIvM1EyNGFaSHdYd1NhbEt4aEFWcktMUForYTJVdldZK1MvQnRsTHFibU9JMk1HcXNrQXA1ZVh6K1pPdFk4KzVybnR0dUM4cDVTbEUxTWVRWVl3OVlZK2FtREgyZEpZWjAzQWl5b2NNRG1EbXN0NGFocTJKNkNKbWZrVnJ2WDF3TUpQSkhDYUVtRy82T01wMTNaemRLSjFPYnc3QUphSVlNNyszZlBueWJhcXJxMzBBL3dMd05RQTlSSlRWV3I4RjRGSXA1VDNCOCtSNTNvOXl1ZHpiVXNvZkVOSEI1bGp3bVRReTgwWkVkQ0NBbmMzNUd3RjhiTzdOTTh4OGxHV0FiRFVlRndCd0dSSHR3c3dGMTNYdHo0NDl6enZkY1p5WGpYSG1JOXRJSjRSWXpNekx6ZjdIMld6Mm4wcXBIbFAyZnJubllKQXM4enh2Y2ZpZzR6aDlORlMwMXY5UlNuMFR3RGNBZUYxZFhRc1NpY1R2aVNodEdUSm96Smd4dHhnREVKajVQaUw2a2ZFZUcwWkVzNlNVUFhib1dVdExTOEdFMWp4bTNqdGZiMmxwOFpWUzk1UVpyekpHNFUrSXFFOTRJUkU5dXhyM0lTSWlJaUlpNG4rV3lKQVJFYkdXNmVycXVqYVpUQjRGWUd0bVhuL0VpQkVuVFo4Ky9icnAwNmY3ZzJqK2xjTEU5aytBV2RWc2EydWJqK0tQOVY2UEFDSEV6VXFwUHpDem5UWHBIcVVVQnp2TVBOTjEzWk9ORU9hN1Nxa0RBVXdUUXFUTXl2VEx6UHlMdHJhMjJTMHRMWVc2dXJyWU91dXNNOUp4bkUySTZBSWlPaGFBdzh3VDArbjBvYmFnWmpLWnZBTEFPZ0E4My9lbitMNC9YRXA1bStkNVAvLzQ0NCtQUmRGRDRWSUFQelJqdWJxdHJXMDZBS3kzM25vNzUvUDVOejc5OU5OMkZDYzBQVXFwOGYzZEU5LzNyekhhSGNCbkUvdHhwdSs3QWRqNklSK2pPSkgvR1RNM01QZmVFaERST3ViZjNVMW9nYzNtUkFRaUdpMmxmTm4wSGR6TDcwb3BGN2l1ZTRIVlY2OTd2bGw5L2xQL24rektNSE52NkUwMm03MnVYRDJsMU51V0llUDdydXYrYXhCOTcwbEVtNGNPNzQyaUI1QnRDYnBRS2ZYZEVsME1DeC9RV3Q5dmgrcElLUzgwbmh0eDMvY25aN1BaUHA0ZG1Vem1NQ0s2RDBBWE0vL2FkZDJmRGpSdWEveHZBMmdob3ZkU3FkUldqdU1jYllyc0VLZjlwSlNCUVE1RU5JdVpMd1JRRXd4NTVNaVJ1elB6RVVUME5kUHZJd0EyVlVyOW01a1ZFVTAyeHo5eUhHZmRkRHE5dm0za2Noem5YUlM5SjM2RjRtZngxNkMrNjdxbjJNWS9LZVhwUlBSZEZBMGdHK2R5dVE5TW01K1o4WDBFNExNSEVrQXVsMXVrbExxUW1kOTNYVGVubExKRGR5b3NyeCtucnE0dUdRaU0rNzRmSjZLSzBHMWJBbUF4Z05GbS8xM2p6UkxjMDhBb0FpSTYwM0djTXdmelVRQ1laTDdMN3pjM045K2hsQXEraTYwQWhKVHlSaUlLaks5dkVkRkpXdXRXS2VWSkFHWVRVUVVSNVpSU0YyaXRmeFBjQTlkMVc2U1VselB6L0d3Mit5eUt6OWgzU2cxQ1N0bEFSQWtpZXJ0Y25ZaUlpSWlJaUlpaEVSa3lJaUxXTWg5ODhNR25vMGVQdmdYQXo4eVBkN25wcHBzMkRVSGtjVTN6Rm9CZ1ZUaE9SUFpFL0dFQXBZVG5xb0xZZGNOQ3k4MzhyZUJnTEJZN3lVeGdRRVNkTFMwdEJhWFVoc3k4aStXSklMQ3laMEk0RlhUdmFyK1U4bVlBSndYN3pGd2dJb2VJTHErcHFmbTFsTEtLaUJJbHh0eERSQTh3Yzd2VjE0SE1mS281OXdPTzQ2d2poTGllaUk1eEhPYzdvMGFOMnRiM2ZRbzhOZ0M4MDkzZGZaa3hXUHdCd0JRaHhPem01dWJqZ2o0TGhjTGJqdVBjQ0tEYUdGQUE0RlZtZmd6QW9tdzJPOGNlbEZKcWRHRElNS3ZySzRtY012T20vV2dhVlBaVEZpOVQ5cks5WXhzeWlPZ1ZyZlhoWmZwYkU5aWFCaC8yVTgrbUZVQ1NtZGNKUGx0bS9vaUlPSi9QY3p3ZUQrckZ6VisvS0tVcXpLcDhMOHpzQkxvalFvalpTcWwwWUVqeVBLOVNDREhUVEx4SEVwRlFTdTBjNnZaVjI5QmtRMFRQYTYxUFJQR1pPNXlJZmxLaXpqbWhRMzltNWhlc3lmcDVBTTRMdGFrSFVHOUNLNDZ4aW1ZQStHdWdHV091NzBYWGRYdkRKOUxwOU5qQUd3TkFrMjNFTUgwSGdxUys0emdmV1VWQldGVEp6MDVyZlVPcDR3Q2V0YTdsL05yYTJ2T0RBaUhFN0hCbDEzVWJwWlR0UkhRdkFQVDA5SHg3N3R5NTc5cDFsRkx0Zy96ZFlvZlVCSjQ1LzBieHZxeHZkRDA2cEpSemlTaDQ5cnNBbk9aNVhpS2RUbS9xKy82VGp1UDhCc0QzelB2cFYwcXAra0toY0V3c0Z0dkt0SG5RQ3Z2eFlZeTVoVUtCa3Nsa1htdTlXdG96RVJFUkVSRVJFZVdKREJrUkVXdVo2ZE9uKzQyTmpYT0ZFRWNEMkFYQW5yRlk3Q0NUMmVKelIyczlQekJrb0RnNWVBUEFGbWIzRnEzMVN1N1JVc3JUaUNnd1pPUUxoY0poVFUxTjltUUhTaW1IbWM4cW9TT1JFVUlRek9TS2lJTHNCUGFxKzFNQWVrVXpRKzdXejlpR0RDS0tBZGdXSlVRK1RiOE00QjdmOTMrWXkrVVdoWXAzb2M4YUhRYmdzR0NYbVcvdTdPeDhwNnFxNm1rcjVHTmFjM056cHlsZmw0Z0VFUjJieVdRZURqSWVtR3dMWnl1bHZnNGdNR1E4NDdydTJabE1acHRNSm5Pc1BRQm0zc0k2NXo2WlRDWWNYdkkyRWYzZTkvMkhnMk5DaU9HKzd3ZkdubmFFRUVLY2J3bEtIdS83UG9mS3cyNzR0bkdoWkVqSVlFbW4wNXVXSy9OOVAyR2RLKzk1M29oME9qMmlYUDFDb2VEUG16ZnZmZGQxZDBmeG1ib3Y4UEFob2kyMDF1MzE5ZlVqWTdIWWVlWDZzR0htLzZBb0VMcHhQQjcvcTEwV2VuYXFBVHdTN05nR0FjT1B6Wjg5MWt3c0Z0dmJuQ2NwcFp4dU11VUF3RGVrbE5OTjJUdlc1OTFKUkxibkVkbUNwQUJhVEJoTDNCSWYzY3lFUUwwWDZHRVEwVjBtbkdna015OXdYZmNTS2VYUlJCUjhGb3ROZUZNdlFvaGVRVW5mOTFjeW5wbnNTbURtTnRkMVBYeVdqblNVR1grdklVTXBWUjBXMEFYd1pJaytod1FSSFdRMlg0M0g0NDFLcVJyZjkyZG1zOWxyR3hvYU5zL244LzJKdGZaQktiV2VTZW5jeDVBUkNPRVMwZnNBVWxhVEpJQUhTM3oydlREekc3Rlk3TEN3Z0toU2FvVFd1aDFGWSs1L1lyR1lZNHk5dXczNjRpTWlJaUlpSWlLR1JHVElpSWo0SEpneVpjcnJNMmJNeUJIUkxrVGtBSmgyNzczM3pwNDhlZkthRnVOYkZiUkpiUWxtUGgxQXFUanZVNnp0K1dFamhtbXJTb1FEUUFqUnUzSk1SR2Rwclo5RTBUZ3lDMEJRLzlwU25na29yc3orTVpGSS9KR1ozeVNpZDVuNVA4eThsSWd5QUk0eGhvMkF4NGpvcHdDT2N4eW5FTzZyVUNnMHhlUHhYNFNQQTNpM3U3djdSMVZWVlhjQjJOVWN1OVhPcnNMTVB5U2lJd0E0UW9nYjArbjBFeVVNSlgwZ29rT0o2RGY5bEo5VHdoaVRYYlJvMFZHYmI3NzV1eWpldjgwQVBDR0tJaHd2ZTU1WGIxZG01aFZFTklHSUFrUEcvR3cyKzNFbWt6bU1tVnR6dWR4ZndpZXdEUm5NZkloU2FxVjcxUi9NL0V2WGRTK0dGYjVRaXRDa01ONWZYVk4vbVFuN0tVdGxaZVcrekR6WVZMSFZtVXhtTzgvek9nWlJkMGdRMFRnQTN6YmJDUUMyMThXMmdSY0dFVjBTSEN3VUN0dkY0L0c4Ny9zam1MbmRjWndrZ0Y0aFdxTWpjVHVBazVtNTJiUS95M3cvYnJIQ3IvN2wrLzVaUkRTaHJhMXRDZ0QyZmY4N0psWHh1MXJyMSt3d0VPT1IwcXN0NGpqT2Q2V1VaNXYrbDJxdHB4Z05EUkRSZjRKNnhnQVVHQ0Y3RFJtZTUyM3JPTTRDKzM0VUNvVWRZckhZYzU3bmZRM0Y1L1pDSXBwbWlpLzFQSzlQcWxPYnBVdVhmbWpPY1lqNVB0eHZQRTQySUtKTmxGS1Z0dWZYWUdEbUd3R2NIUmhvQWtPcEVkR0YwWSs1Z3BtdkpxSW5ndXhJWmZxYVNVUUg5UFQwVEU4a0V2WGw2a1ZFUkVSRVJFUjhma1NHaklpSXp3bkhjVzcxUE84TUl0b1l3STZkblowbkFianhpeDRYZ0Q4QXVNQms1cWhUU2gyZ3RYNDBLTXhrTWhPSnlGNVovRldKUGdRUi9UaDhVQ2sxeG5oZUFNQmlyZlZUUXgzY3ZIbnozZzlXNVUyZkVzQ3ZpR2hMcTlwREFINEI0RGxtZnNCa25UZ2duVTd2YTZkSG5UTm56cHRHYjZQVlRIS21vamhST1MyUlNQellXcUZkN3Z2K1hLWFVCQUJWdnUrUE5Eb1g3NWlzQ0pWQ2lGc0JIQkRXRFRCc0pxVzhFTUNXSmNvR1pPellzZHNCK0d1Sm91M0R4Z0Jtbmt0RTlySGErdnI2RGlIRUh3QnNvcFNhb2JXZUV1ckhEaTJob1lwOUVsR3A4S08xVG4xOWZRTEFkNFVRQnc2aDJUUWh4TytzQ2UwYWdZaStiWHMyR1lML1U3M2d1YkMxSGN6K2pVS0lJd0RjYjRSeSsyQkNwMkEvTzBTMHU1U3lqeWVPRUdJRWdEMXJhMnR2Yldob09NdHhuQ2ROKzZzRHc2VFY1L0htdlJNd3dSclRmOUEzdEdTVWxESUlGNm0xeHJDcmxQS0dRcUZRMWpCbnNoZTlsMHFsZGdxK1d3QldNUE83UW9pUzNoU2U1NzNRMHRKU1NLVlNPd1dHVU0vekZqaU8wMnNBN2VycThwUEo1SDlNS0ZEYzNLTWxvV3RNQkRveUpvdE1JS2k4b1NuMzArbjBua0VvRWhFbEFkelB6SC95UEk5TUtGRko4dm44Yy9sOGZzbUNCUXU2bFZMUE1mTjVSSFNHU1FjN0ZMYVFVajVzSHlnVUNxZk5tVFBuelNIMkV4RVJFUkVSOFQ5UFpNaUlpUGljT082NDR6NW9iR3o4b2NraVFRQitldlBOTjg4OTlkUlQzeHRFODdXRzF2b3RLYVVtb3UvQVRMVHE2dXAyYVdscDZSby9mbnlsRU9ML3JPb1BCeDRWTmtxcDdZSndqM0RmcVZScUc4ZHh6bVBtMThwTStnY0RLYVVtR3RHK1Bjd2tySWVaN3lhaVgycXRYd0tBdXJxNldFMU5UWkNsWkl6ak9JK2tVcWw5YkE4U3JmV2o2WFI2WDhkeGdoWHFXMTNYWFpESlpEYXlKbmNqaFJDOTNoaDJScExlQVJIVlpUS1owL0w1ZkZNaWtSalB6QWRhN1E4Mm1TTU83T3JxdXNSdWwwd210L045LzJ0bTk2ODlQVDMvQ2ZYYm5VZ2tScHNNR3hXV0JrU1hsVW5DWmdVemYyQ0ZMMnhVV1ZsWkgyZ2JNUE5LeGlPekdwM3Q5NDZ2ekI0bWMwYVE3amJvcTZ3eHp0eURZTEwzT0RPL1hLNnVxZDlaWDErZnFLcXEycDZaTndld21YV2VmMVJWVmVXWnVWOHZtRkpvcmIwZ05FSXBsUU93MTFEN01HTjR5SFhkUUI4bEN5Q3JsSEswMWw1RFE4UG9lRHdlZUExTTBWclBnTkhJQ0Yxam9PZlNiK2FUa0hiTlZDS2FhcGN6Y3dNUmpRWlFHNC9IN1RDUDA0eXhEOHg4WVhkMzkvMUVORDNVL2QrWmVheEpNUXFsbEdNSm9XNXN2RURDN0V4RU93c2hadnErM3lxRXVKT0l0Z0N3cDExSktiV2V1VGZCZFE2ejA2eUdjUnpuUEFDdkNTSEdXY2ZHQitNaG9tOG5rOGtmR0gyUHV3SHNaOUlwN3hHNlg0Y0dLWE9aK1hTVHlZZ0NUUXdpT3NkeEhGdVg1R2NBS3JMWjdFL3E2K3NUQ3hZc2VDMmRUdS92T002RkFMeEFOMFlwZFdRc0Z2dEdJcEY0Q3NWbjZWVUFyeHJ0azZFYU1xcE01cGhlNHZGNDJWQ3JpSWlJaUlpSWlQSkVob3lJaU0rUm5wNmVlNVBKNUZrQWRpT2k2bmc4ZnVyMDZkTXZuejU5K3BCYys5YzBoVUxoMG5nODNnQWdTVVRiMU5UVVhBZGc2c2lSSTI4eUhnZ0FrUGQ5Ly91bDJyZTN0NzlXVlZXVkI5QnBkQUEyZ3RGUEVFSjhEOFdKeHRaU3lwdXNadlpFWktxVThpQzd6NTZlbnN1V0wxLytVVTFOemRFbXUwUWcxcmdVd0MwQVpoQlJPNEJxa3kyaEdrQTFNei9DekFlWUNlTldqdVBjcjVUYVB4RGVVMHB0Q0dDMnlXcnlkazlQejNrb3Jyck9UeVFTZnpIZUdvZkJwS2owZlgrMjR6aXpBZFF5YzB0M2Q3ZEtKcE92TXZNQzMvZHpGUlVWRXdEY1ZrcXZBMEI3YzNOem56U1RTcW5qaEJDQkVVVTFOemUvVXFMZFMwcXBXZ0IvTTRhQU56bzdPL2NZUG54NHd0enZwUXNXTE9qMWlwQlM5cWE4SmFJOUFWeGl4di9QVXVsWHM5bHNNNERtVWdNdWgwbjFHUmhnZWcwWnJ1dWVYYTZOVXFvM1E0bm5lVC9MNVhJUGw2c2JrRXFsdGdMd2ZQaCtHdjBITzd6QWEyMXRyUUtBbXBxYUJwTkt0WFhKa2lXUDE5YlcxZ1BJaGZzMnJBZGdnNEhHVVFvaVd0ZmVOd2FBTjVSU2Z5dWhtM0FvTTVmS1RCUm9ZcFJNK1dvSjN6NXNORFFPWk9aR2sxa21PTWNPbHA1RXBmVWREYkxiQkJsdVJpYVR5UnBMSndKbWtyNnpVdXIrUUhPanRiV1ZhbXRyTVJpWWVZWHhJRGpXcExudE5XU01Ieisra3BuL2FBd2NDTHc5U3ZReHlnb0o4OHhZYld2aEJkYjJudWJQRGozYkZzQ25BNDFWS1ZYVDMrOGNaaVlwNWMxRU5MbWhvV0Vua3lyNVVBQmRTcWtLclhVUE0xL3RPTTdtUnF0bmxReGdGbjVJaUJSbGpKTVJFUkVSRVJFUkF4QVpNaUlpUGtlbVRwMjY0dmJiYjcrRm1iOUJSTU9KYU5MbW0yOStGNEIvZnBIam1qTm56cHRTeWl1STZISVVKeFduS3FXK0VXZ0FHSzdKWnJNdmxtcHZYSzVmOVgzL1p1Tnl2UkdLSzZzMUFFNGJ4QkFPRGs5Y0hjZTVZY1NJRVQxbUltNVBjaXFaK1h3aXVtQ2xYa29JZ0JMUkxnRG0xZFhWSFFLZ0FHQmU0SzFBUklzU2ljUk5TcW5OQVh4UGE3MUhKcFA1cGhBaU1HUThtY3ZsSGxaSzlaanV2T2JtNXJaVUtyVnRVMVBURWhSRGI1YUd6OG5NZndWd0pUTXZWMHIxY2ZNSHNLTlZyOEdJaEFhMGFxMERFZGpyQVd6RlJTNFlObXpZL21hbEc1V1ZsYWNhSVV4MGRYVXQ5MzMvVFV1UDRpZUJXQ2t6WHhJSU44Sk1OS3VycTB0YVhQcERhOTFoc2pNRTk3VGNKTHlYZERxOWYrQ053Y3dGeDNGT2tWSWVDd0J2dmZYV3FRc1hMaXpwa2JCMDZkSjN5a3lxWHdid3RDVk1pNWFXbGk0QUpLV2NiUVJsNTdlMHREd2dwY3lYTVN6MWdabVBHa2h2UXdpeFR0aElFZUQ3L2lGQ2lORUFSalB6NzZ4ekRtUG1tMHlveE45RHpZSlFoeVdseG1oQ0htQzhWK0lBRGdUd3ROWjZobElxR01lVjVqdnhNVE5mWkx3ZXJqUHRGZ1JHSEdaK0twdk52bU95YzZUTFhXTkxTMHNoU0kxYUNpbmxyVVIwRXZyNTdJbW9ldVRJa1ErYXNDNHc4NDNNM0x4NDhlSkg3YzlhS1pVaW9zQW84YzZLRlN0bVdmM2FobzlhQU1JWVJqLzFmVDl2ZVVhMUc0RmdoT3J2YWgvbzZ1cnFTQ2FUcFRRdDdqT0d6RFloeExFQVJzWmlzV005ei90ZExCWURnS1RuZWJ0T21qVHBMVXYzNTlFUy9ReVZsN1RXNGV3M0VSRVJFUkVSRWF0QVpNaUlpUGdjSVNLKzlkWmJtMk94MlBFQTltTG1IUjNIbWZSRkd6TE0ySzVrNWpyTDlkazJZanplMnRvYWRrL3ZBelBmbXMxbWZ5ZWxQR05OamFtNXVibE5LYlVRd083VzRZb3lrOVQzbWJuTlRJaFdtQlh2YmN6RWQ5OVJvMGJKYkRZN1N5bTFpZFZtLzJERDg3d0NpdmVoZHhZdGhGaGE2a1NCRVFQRnlld2JRb2lybUhreEVkMWsrbmhCYTYybGxIVm0wbG1TVUFwTk1QTXJWamFiM1V3ZElxS21VTHViZysxa01qbXRxNnZyYnN1UUVXUkJtWlBOWnVmWjdhcXJxLzhkeWxneUtKUlNHekZ6MHJydkE0blVDc2R4ZWtWVmllZ1JBSWNUVVNVQWpCZ3g0dlJ5b1JVdExTMWRVc29jZ0xlSTZCQUEyNXVpYjJtdDI4TWFBNmxVYXIwZ0V3MHp0NVhxc3h4RXRLQ3RyYTFmSWREYTJ0cXkzaHRDaU5QTjVqT0ZRdUcxSUMyc01iUnRicllYQjBLc1JGVEJ6SnViVUlkd0pwbUFZYWJ1Z1lGMkNSR2RvSlRxOVh4ZzVqK2Ivdi9ndXU0dERRME42OFRqOGV0TThZdXU2OTRTdXM0Ym1Ya1BLNnRKSDFLcDFMWkNpSzFMbGVYeitVY0M0NHFoNUdkUFJOVkVOTXJzem1mbUI0UVE5NDhaTStiMU1XUEduT3U2N2dLbFZNcDRRd2xtTGdBNGF2NzgrVXRSTkpiTk5tVkE4Wm43MEhqTy9FNXJmYjQ1RmhTL0MwQ0dodEFiV2hLUVRDYTdQYzk3R2NDbVFvaXZFZEhYOHZuODNIZzg3cUQ0K1hVd3N5YWlDNG5vMkthbXBwK1pMRTVmZHh4bkw4ZHhnaXcwWU9ZSFNsMTNRQ2FUMlMyYnpUN2ZYNTJJaUlpSWlJaUlOVWRreUlpSStKdzUrZVNUMzI5c2JMeFRDTEVYRVFuZjk4OXViR3o4dzVRcFUxWXJEZWJxb3JYMnBKUS9OU3ZBTnI3bmVkOHpxN1psY1YzMytoSjl2cWlVS2hjRGZndUFJMUUwQmh3bmhKaGpGelkxTlFVcnZ6OEZNTWIzL1VEbjRwK0ZRbUZwUlVYRmNwUHU5UXB6L0Z6WGRWMFV2UUgyWGJGaXhiUERoZzFiejNHY3A1bjVobXcyT3d2RkNjbkRBQ1FSdmM3TWl3RjhTRVJMbWZsdDAwL3ZpcW52K3lVbm0xTEtPaUo2WG12ZDN0VFU5REtBUzBLZUZVRjdYd2pSUnhqVHVOUUhWb2U4SFg0UUV0SHNORG9aQVk1bHBMRDFNbnFhbTV2YnBKVHZXUlBWandHY0lhWFVBSjVidm56NURROCsrT0JxWmU2d0o3Tys3L2Zya1NHbHZCekFPT3ZROVFES3BzNU1wOU9iNTNLNTRQN0RkZDBNaWhQWGJTeERScmx4YldQdC9xdWZxcVg0WkxBaEZXRlNxZFMyekh3NEVZR1piN2JMaUdpczJYeWNtVzgxMlc0UWk4VytHV2hIK0w3L1lpbnRGV2Jld05obGRyQU83MjNmUHlMNmxlbTN1NkdoWWJUak9DT3R1dFVORFEyalVkUmZ5R3V0LzYyMWZsUksrVGlBUG9hemdGZ3Nkb3pSbjFrSngzRjJzTUpoNERoT3ljL2U5LzEzZW5wNjlrNG1rNWUwdDdmL29LcXFhcm9aNjVZQS9paWxmTUlZUndVekY1ajVPOWxzOW1tckMxRmZYMTgxYk5pd1NzZHhLcGs1Wmd3K20wc3BqMkJtKzdNZFZHZ0pNMDl6SEtlUE9Ha3NGbnZUS3U4MVpBRFlPcFBKN0dqQ3ViNXV3a2cyTS9VK2FXdHJlNmFmVTEwc2hQZ3VnSkg5MUJrMFFWakxtdWdySWlJaUlpTGl2NVhJa0JFUjhjVXcyMlFzMk1ib0Rsd0M0S0l2YWpBVEpreFlkL2p3NFJjQytGNkpZdUU0enAra2xKZDFkM2ZmME56Y1BHQllnWVd2dFc0dlZTQ2xETEl6UUFqUlZhNmUxbnArWFYxZHNxYW1aaVlSN1F2ZzhMbHo1NzZMNGcvK2xUUUlqTkRoM1pXVmxhOFEwVkVBZG5CZHQ3ZnZqbzZPYVZWVlZTY1pBY2lWSUtMQVM4TVRRcnhlcHM3WkFQYVRVdjdDZGQxcnlsMThMcGY3azJWOENNWjNpNVVLOCtqQStGTGl1dnZFNHh2anlXTm05emc3WGExU2FnSXo5K29nK0w1L2NUYWIvVkFwTlJaQXVycTZlbCtUK2VVZVpxNHNOOTV5RU5FS1poNFJmRjc5aFpZb3BhWXlzeTF3K2lldDlYeHJOWDBsSE1kNVVDbmxNZlBzdHJhMlg1cVFrVUVoaE9qTmFFTkVXNHdmUDM3STE3Y3F4R0t4alFDOGJ1N0xuWjJkbmZHUkkwZk9KS0lUVEpYbGhVSmhLaEZWQjlsTm1QbFU2eDRlbHMvbmZ4T1B4K2VqNkJIMGtUbStzYW1yemZhM21Wa0RlSTZJQWkrWC9Zam9laFNORlgzR1JVU254K1B4d0ZQa1RUTXBYMTNzZTFyV0c4Zm93UVE2T3BkSUtkOEY4SDlFRkNPaWZjenhMZ0RIWkxQWlBob21tVXptWENIRXI2M3JDRFlsRWNtUWJzYWdRa3RLcFd3TnZJSmdNc3BrczltRnh2dGpReUpTQVA3R3pMc0NlSk9JZ3BTczh3Y3c1UDRReFdkL2xiSVVCV1F5bVhPRUVOT1plWVJTcXJtenMvUGt3R01sSWlJaUlpSWlvaStSSVNNaTRndGd5cFFwbjh5Y09YT2FTUnNLQUtjMU5qYk9takpseWt1ZjV6aVVVcHN3OCtsRU5LMUV5RUViZ0JxelhVbEVWeWVUeWZPbGxOZjd2dDlvcHpWZG02VFQ2WTBjeDhsWjJSRWVTcVZTVzlyaEhSWUN3QmttbGV5T0FKNEhjQ2FBR1VHRnFxb3EzL2Y5TGFXVW16SHpXQ0hFV0FCYk12TXpudWM5d016N20wblV3bkxHRlNNWVdVTkVrd0NVTldTc3hqVnZLb1RZMllUUnhIM2ZqOXNyOU15c3BKUzdBUmdCWUFremY5OFNUd1FSQmVFelFYaERHNHJHa2NIb2xaUkVLZFhyWnUvN2ZrbnZEaW5sUmN4OHBSWHE4YW5uZWFmMjEyOWRYVjNTWk5DSUFiZ1V3RlVERE9YSHZ1L2ZJSVR3TTVuTWprUmtaNkk0dWJxNnVoN0E5Y3ljWVdaZkNCSFdxT2pGODd6UitYeStYMCtWWkRLNVBvQ1ZCRm0xMW84cXBiN2hlZDYyUzVjdTlXdHJhNmN4OHpIbXVyc0JITkhVMVBTYXFYNjRsSEphb0dPQjRtZDBUandlM3cvQTBTWVRCb3dSWm93cG44WE00MDJhMXdkZDE3MUZLZldMOERoV0FVY3BWV0JtWVJrTDdpbVhVU1lXaTcxcnZSdThrS2RBci9ITWNaeXdFR290TSs5b2kzZ2E4ZG5KcnV1dTlKN3JMNlV2TTdNWlE1QUo1VVBmOXk4UlFpUTl6MHNTMFRBaHhGNldJZU5BcFZTblNXRjhLVE8vUmtTdkwxdTI3UFdxcXFvTmdqQXNabDVtTWluZGJ6eXhYZ2R3cCt1NlY2VFQ2YkVtZ3dtSWFFNkpZWTJ4ZDVqNXI3N3ZMN2RDdklhRWxMS2VpUDRQUUpkSkxac2FObXhZSjRCalY2bkRpSWlJaUlpSS8zSWlRMFpFeEJlRTcvdFBFdEg5UkhRSUVWVVIwY24zM252dmhaTW5UMTZyTHNWS3FXRm1kZjVvWnA1b1Q0QU5YUUIrdUdqUm91dkhqQmx6TVlBZlczVnFpZWd5eDNHbVN5a2ZBM0FmRWMzVldxKzA4cmtta0ZJZVQwVFhBZ2dtU2NzOXo1c2NHREdZT1JIU3kvQVhMVnAwNk5peFkzOE40R3lqTjlBb3Bmd21FWjFyUWxsdUQxejZRMjAvZGh6bk8vVFp3WHRLREtuQ25IZHpFMUpnWC9jd3U2SlNxcHBLait5VkFBQWdBRWxFUVZTWnA1WG9vemQwaFprelVrbzdOQ0x3ZG5qTHpyb1JEa0Vnb3NsbGJsbFFmbVltazNranVHOUUxRy9hMHdFZ0tlV1JkaXBVQUIvWUZZeEd3MDFCcUpEQk03b0RyeUhFcUZHanRnaU1BelUxTlFjRnp4Y1J2V0N2ZklkME9ZQmkyTW5URFEwTjZ4RFJhVUtJT3l4dmdlWEd0WDlqbzB2eXZPLzdwMlN6MmJMUHB1TTRXem1PTTVEZXgzcmxDclRXTEtYY3FyYTJkcmJKSkFJQVBVUjBsTmE2QlFBbVRwdzRQSkZJWEJrWVhKajVJeUo2d1dnNjdBVGcrVXdtTXpXYnpjNGFPWExrN29Hd2JhRlFXR1JQaXNlTkcyZTdYanlleitkN0o5S080NHdNRERiTWZGT2hVTGdhSnJTazNLWGI5OVdrTHk1cFJCMDNibHg4ekpneG8wMzkzbnVsbEpwcXdyNkE0bWQzbDFMcWVPUFJjQjZBYzRob0pENUwxM3R0ZDNmM0ZlVTh1cGo1Y1NLYUF1Qmp6L09XQ0NIbUV0RW9acjdXcEFwK3dxcitkU0hFQytiYVYrcUxpRTVoNWtyWGRlY0J1REtUeWV6a3V1N2ZZSXlFVnIxcUtlVXB2dTgvVDBSUEFhaGc1aWxTU2dEb1RXbkx6SnVhZW4vUDVYSi9TYWZUbTl1R0RHYSttWWpXY3h6bmRTdHNiQmVsVkdBSURRd3dPMWpIQXY2bHRSNEhJQkJqUGJHcnE2czVtVXd1QmpESmlMQ3VhdHJxaUlpSWlJaUkvMW9pUTBaRXhCZkVsQ2xUdWhzYkcyZWE5SVhyTVBOaEsxYXNtR2xXRWRjYUp0T0NSb2tNSDh3ODEvZjk3K1Z5dVVVQXNIRGh3c3RUcVZTVDR6alhXaUtnQUNETS9yNmU1NzFReW9WN2RURkdqSm5XMk40bW9vbENpQjhvcGFhWkgvajdXZVcrR1hOKzRjS0YwNlNVZnpHaW1CVkVkRG96djBsRS8ram5sRk1zVDRJUGVucDZicmI2N2pSRmUwZ3BteTBOaEw5SktjY1QwZW4yUkorWkM0VkNZZDE0UEg1NWY5ZElSTjhKSDJQbUpjeDhhQ245Qkt0TzkvK3pkK2Z4VWRUbkg4QS96OHdtMmQyRUcyOUZvWXB0dFZXcnJYZEZhN1ZZdEVCWWVtZ3JTUkE4eUhxMDFiWS9XOU83dFllYXFKVWpHMENzbFYzQW90WmJVS3Yxd3Z0V1JFUzhFQVNTUFpMc3pQUDdZMmZEN21hVGJKSU5TNUxQKy9YaVJXYjJPOTk1Wm5lek1NOSt2ODlYUk1MT1ozanladkVaRWZuQXVmblp6Ym5KQnhLdithb09PMHRSWGw0K1dVUnVjYjRkYndIUW9xckRSU1MxenNuRzVQc2plWXhoR0xVQTlrdHAwNnFxUDNKdUpKTXhmNW9jMW04WXhvTStuKysvVGhMaWhKUTJENTU1NXBtalMwcEs2Z0NvTTVVSXFxcnIxcTFyZHFZTi9jQkpBbmhTamxzdEltY0N1RmhWZnlraUpTSnlsTXZsZXRybjgxM2QxTlQwMjlUbGFsUGNsOHZ6a28zUDV6dEJWVy9OS0tENUhnQmZNQmg4Q2p0dTlxOU1lVzYyMjdiOW5lWExsejg1YmRxMEswV2tCb0RITUl5YmZUN2ZVYXFhZk5GYlhTN1htNG1CQ0FDQW84ZU5HL2VGNUVaemMvTW5LMWV1YkZ2aFkvTGt5Y05UM2kvYmJyLzk5bzRLaVVJVGE3citRVlcvbi9JK2JsTmVYbDVwR01aUFVncm43Z01nT1Jybll5U1NBVjhCTURmajBIMEFQT2drY29wVDlzZEVaSkdxdHJqZDdpdDhQcC9wWEtjaElvWXpNaVFXREFhdlRCMzU0dlA1a2drdHk3S3NTQWNqSFZwVk5Td2lFV2VwMnIyYy9XdEZKTG5Da2kwaTkvdDh2bmRVOVZWbmhBc0F0QnFHc1MrQXVWMnRjQ01pMXlEeHZ2MHpnS2VYTDErKzN1ZnozUXJBWjl1MmY5bXlaVGY1Zkw1UXhoUWNJMk83bzMybHpqbGFrZmhkZFp1bVdld2ttMXFaeENBaUlzcXU0LzhwRTFGZlV3RDNxT296U1B4SDlrQUEzKy9ya3k1YnR1eDJBUE15ZHQranFzZUhRcUhKcVRlcFNCVGRmRGtVQ3AycXFxZXI2dXEwQzFDOTNLa0RrWGVoVUdpSnF2NDd1Um1QeHc4UEJvTXZpY2hvNTJiOXpOVGllaUx5VHNieGk1M0NwWitxNmkyaFVPanZUaDJDandFOHBxcUxBZnplV1I1MlRjcElEQnRBMWNxVkt4dFQrbjdCK2J0RVJDWTUxNjZXWmQwaElvMEFwcVFXdDFUVk40cUtpbXluV0dkMy96UzF0TFM4cXFwbldKWjFrbVZaUndMNHZLcE9UNG5ubkdBd09NcjVWdmg1VlgwOEhBNS93N0tzaTFRMWJiU0VxajZYNjJvS2htRTg0aVFJUmpnclJ1eVhrY1NBcXY0eStiUFA1eXMyREdOMmFoSkRWVDlSMWROQ29kQy9NcnEvSitYblBRQ1VPd21KTXVlNFp0dTJHKzY0NDQ1UFJlUVlwNzVKa1hPOUw2OVpzNlpWVmIzT2M1MU1Zc1JVOVEvcjFxMDdMUmdNTmdXRHdkOWJsblZFOG5jS1FKR3FUamNNdzR2c3R1WHdaM3NIeHo3bEZGV0ZzMFR1cmZGNC9DdkpKSWF6MzV2eTNLd0RjTkx5NWN1ZkFLQ2hVT2kzenZ1NHlXbmJLaUtybk5VOG5nd0dneTBpc2dDQVQwUitsRksvNXQyVksxZCtraTJnWElpSUhRd0dyeFNSclBWZkFHd0U4QVducHNYcEdjVldsd1BBK3ZYclgzS21ua0ZWRjZucStVN2NTSTVhU3VFR2NJR1R0UGtWZ1A4VGtaK0x5QlVBZmlvaVAxYlZ6NkVUcG1tK0J1RExyYTJ0QjFxV3RYZFRVOU13QUs1Z01GZ2NDb1ZHQklQQmZRRE1TclpYMVN1RHdXRGJGQ1VSV1EvZ3EwNzlrbVROa0x1Y1pGMlB0TFMwL0F6QU41Y3RXM2FUYzg0M1ZmWEo3djV4aW92Q3NxekZBR3pETUFKRlJVWHZBeGlwcXBtL1EwUkVST1RnaUF5aUFuSnFaU3h3YnJnRlFPWGN1WE92bVQxNzlvYzVITjVqVFUxTlB5MHJLenRCVlI5UjFYOHNXN2JzeGE2T0NZVkM5d0c0YjhxVUtZZTVYSzRLVmQwOUZBcGRtOWxPUk9MT2locWRybktTQTN2Nzl1MW5EeGt5NUt4bHk1YmRtckwvT1FDbkp0c0EyS2lxLzBnT0hVOFZEQWIvTzNYcTFDTzJiTm55RVFCNytmTGxUNmZPNjAvNjlyZS9IZlI2dmF0VTlSQUFzMEtoME4wWlRYNnVxdnM1eVFwVFJOYXE2cTlYckZqeDVzU0pFNGVXbHBhcWlNUlVkYk9JUE5EWTJEalBXU1drckJmWG54YkR0R25UOXNwc0VBd0d0L2g4dm05czM3NjkyVG5mOXZMeThwTUEvTjBwQ0xsQlJIS2VZKy8wOXhxQUw2YnVWOVVQUmVSRnk3TCt2SHo1OGxVcDdWdU9QUExJczhhTkczZXpNNjFraFdWWjU2OVlzYUxkalhZNEhMNjh0TFRVQW5DV1U4UXltVWh2QXZBQ2dLdVNTVFJWZlFMQXZnQzJpY2pydG0xZkFpYzU1ZlA1emsvZTVMVzB0UHdqZFdRQ0VvbTMxeVpNbUhEczZOR2pyd1J3c1loTTdxUmc0cjZkMUVFQkVzbWFQVE9uMGlTdnZieThmSmFJL0ZKRXJnd0dnKzNlZjZGUTZOcHAwNmJ0QzJCRVBCNy84ZTIzMzc0MW80Kzd5c3ZMdjI0WVJtVW9GTG9jZ1BwOFBuL3lmZVAwK2J6UDUwdU82bGhyV2RhbFBmbVdQaHdPVjVXVmxaMi9iZHMyQllCTm16Wk4zbTIzM1Z5eFdDeXpZRzVhUXRDcFQvRVJnTkNubjM3Nkt6aWpuc2FPSFh1cmlCeXlidDI2ODlhc1dkUHE4L2xXcStvbEluS3FNem9wTTZIUm1jV2RQUmdNQnFNZFRYM0owVVpWUFVKRVdsVzFVVVNldGl6clF0TTBON2UydG1hcmY1SFYxcTFiMjRyUU9nV0hOeVMzUTZIUUwzb1JINVl2WC81RWVYbjVkTU13ZnErcWV3Q1kzOXpjL05NY0RpVWlJaHFVT2g5UFNVUjlycUdod1MwaXE1d3BKbERWaGhrelpsUVdPcTVkbGMvbk01dWFtbHpSYU5UcWFrbllidmE3cDJWWmV5OWZ2dnpaSGh3K3FPZXhPOU1Gamc2RlFvL24wRHdYSFQ2Zlo1NTVwamZYbFhOOFB0K3dZREM0TFU4eDdUUVRKa3h3ZDJmbGxrSW9MeTgveUxLc1RabkptYVNKRXllV0ZCVVZGVnVXNVRJTXd4UVIwK1Z5R2ZGNFhFcEtTc1N5ckxiL2Z5eGZ2dndESnluWnh1ZnptWnMyYlpMVnExZmJtWThSRVJFUk1aRkJ0QXRZdEdqUmx3RThDOEIwVm5vNHBhcXFLcWZwQUVSRVJFUkVSSU1KYTJRUTdRSnMyMzdUbWJPdEl1STFUZk9IYytmT0xjcmhVQ0lpSWlJaW9rR0ZpUXlpWFVCRlJVV3pVOWl0MFZtKzd4c2xKU1hqQ3gwWEVSRVJFUkhScm9hSkRLSmRnMGFqMFFlVEZleEY1QXRPMFR3aUlpSWlJaUpLd1VRRzBTN2lnZ3N1K01TMjdSWE9wZ0ZnZGtORGc3dkFZUkVSRVJFUkVlMVNtTWdnMm9XbzZpM09Vb2NBOEhsVnpYbnBUQ0lpSWlJaW9zR0FpUXlpWFVobFplVW0yN2IvN0d5S1lSaS9xcSt2SDFMZ3NJaUlpSWlJaUhZWlRHUVE3V0pLUzBzWEFIZ0RpVm9aZTVpbStTTXVsVXhFUkVSRVJKUmdGam9BSW1ySE91aWdnOHBFNUNRQUxnREZFeWRPdlB2T08rK01GRG93SWlJaUlpS2lRdU9JREtKZFREQVl0R3pidmhmQTJzU2dERG0ydUxqNEM0V09pNGlJaUlpSWFGZkFSQWJSTHFpc3JPd0ZWWDBvdVdrWVJuV0JReUlpSWlJaUl0b2xNSkZCdEF1YVBuMjZwYXJ6QU1TZFhaTVdMMTU4VklIRElpSWlJaUlpS2pnbU1vaDJVVE5tekhqQnR1MWx6cVpIVmYvY3hTRkVSRVJFUkVRREhoTVpSTHNvRVZHWHkzV2xxbTV6ZGgyN2NPSEMwd29jRmhFUkVSRVJVVUV4a1VHMEMxdTdkdTE3SWhKME5rc0FmUC92Zi8rN3A4QmhFUkVSRVJFUkZRd1RHVVM3c0pxYW1oYmJ0bGNBK016NWZaMHdmUGp3c1lXT2k0aUlpSWlJcUZDWXlDRGE5VDJ1cWk4Z01kM2tBTk0wenl4MFFFUkVSRVJFUklYQ1JBYlJMcTZpb21LcmlDeE1icXZxUlV1V0xCbGEyS2lJaUlpSWlJZ0tnNGtNb241ZzI3WnQvd0x3RmhLak12YU54K096Q2gwVEVSRVJFUkZSSVVpaEF5Q2kzQ3hhdEdnYWdIOEJNRlgxbzNnOGZzak1tVE8zRkRvdUlpSWlJaUtpbllrak1vajZpWGc4ZnErcXZvVEVxSXlSTHBkcldxRmpJaUlpSWlJaTJ0bVl5Q0RxSnpaczJCQlcxWDhDVUFCRkluSkdmWDM5a0VMSFJVUkVSRVJFdERNeGtVSFVUOVRVMU5nQVZnTjQzNWtXZHJSaEdKOHZkRnhFUkVSRVJFUTdFeE1aUlAxSVMwdkxLNnI2b3JPNWg0aE1LbkJJUkVSRVJFUkVPeFVUR1VUOXlPelpzeU1wUzdHS2lNeGF0V3FWcThCaEVSRVJFUkVSN1RSTVpCRDFNeDZQWjRXcXZ1WnM3cmxodzRiTENod1NFUkVSRVJIUlRzTkVCbEUvTTMzNmRBdEFqVlAwRTZwNlFTQVEySzNRY1JFUkVSRVJFZTBNVEdRUTlVTXVsK3NlVlgzWjJkd0xBR3RsRUJFUkVSSFJvTUJFQmxFL1ZGeGNIRmJWb0tyYUFJb053emh6N3R5NTNrTEhSVVJFUkVSRTFOZVl5Q0RxaDV6cEpmZUx5SWZPVXF6SEZoVVZjU2xXSWlJaUlpSWE4SmpJSU9xblNrdExuMVhWVjVGWXZtUVBFZmwyb1dNaUlpSWlJaUxxYTB4a0VQVlQwNmRQYjFIVmdGUDBVd3pEbU1ucEpVUkVSRVJFTk5BeGtVSFVqMzMyMldmL0J2Q0tzem5HNC9ITUxIQklSRVJFUkVSRWZVb0tIUUFSOWM3aXhZdC9vS3EzSUxFVTY0WndPUHpGaXk2NnFLblFjUkVSRVJFUkVmVUZqc2dnNnVjYUd4dFhBbmpkMmR5OXJLeHNjb0ZESWlJaUlpSWk2ak5NWkJEMWM2dFhyNDZLeUJJQWxvZ1VxK3JrcFV1WGxoVTZMaUlpSWlJaW9yN0FSQVpSUHhjTUJxMTRQTDVLVlQ5T0xHQWlSNGZENGJHRmpvdUlpSWlJaUtndk1KRkJOQUMwdHJZK0x5TEo2U1g3R29aeFlvRkRJaUlpSWlJaTZoTk1aQkFOQUxObno0NEF1RFZsMTZ3Q2hrTkVSRVJFUk5Sbm1NZ2dHaURpOGZodHFyb2RpZFZMdmhRSUJFNHBkRXhFUkVSRVJFVDV4a1FHMFFCUlZWWFZLQ0wvUUtKUWhtR2E1bzlyYW1yNE8wNUVSRVJFUkFNS2IzS0lCcENXbHBhNXFyckYyZno2bURGakRpOXdTRVJFUkVSRVJIbkZSQWJSQUJLTlJqOFFrUWVjVFk5aEdGTUtIQklSRVJFUkVWRmVNWkZCTklENC9mNW1WYjBMUUFzQUU4QUpnVUJndDBMSFJVUkVSRVJFbEM5TVpCQU5NS3I2bEtxdVI2Sld4bUdHWVl3dmRFeEVSRVJFUkVUNXdrUUcwUUR6bi8vODV5MFJlY0haSEs2cWt3b2NFaEVSRVJFUlVkNHdrVUUwd0FTRFFRdkFJZ0NhR0pRaFp6YzBOTGdMSFJjUkVSRVJFVkUrTUpGQk5BQnQyN2J0ZmdCdklaSEoyTTgwVFYraFl5SWlJaUlpSXNvSEpqS0lCaUMvMzk4TTRDL0piZHUyZjdaMDZWS3pzRkVSRVJFUkVSSDFIaE1aUkFPVWFacExBWHlJeEtpTUF5S1J5UEdGam9tSWlJaUlpS2kzbU1nZ0dxREM0WEJVVlpjanNaS0pHOEJwTlRVMXJrTEhSVVJFUkVSRTFCdE1aQkFOVUxObnoyNDFET05lQU50RnhBQXdZZXpZc1hzWE9pNGlJaUlpSXFMZVlDS0RhQUF6RE9NNUFPdWN6U01Nd3ppNHdDRVJFUkVSRVJIMUNoTVpSQVBZT2VlY3N4SEFZMGpVeWZCYWx2WGRRc2RFUkVSRVJFVFVHMHhrRUExc0dvL0g1eVUzUk9TN1M1Y3U5UlEySkNJaUlpSWlvcDVqSW9Ob2dLdXFxbnBCVmRjNG0yWE56YzB6Q2h3U0VSRVJFUkZSanpHUlFUUTRYSjM4d2JLczgycHFhb29MR3c0UkVSRVJFVkhQTUpGQk5BaW82bjBBM2tkaWVzbjRNV1BHSEZIb21JaUlpSWlJaUhxQ2lReWlRYUNscFNVTVlEVUFCZUEyRE9NVVZaVkN4MFZFUkVSRVJOUmRUR1FRRFFLelo4OXVWZFZIQWNRQW1BQ09uVGR2M3FoQ3gwVkVSRVJFUk5SZFRHUVFEUklpOG9TcXZ1OXNIbE5TVXJKL2dVTWlJaUlpSWlMcU5pWXlpQWFKZGV2V3ZRcmdkU1NTR3JzQitIcWhZeUlpSWlJaUl1b3VKaktJQm9tYW1wcTRpQ3hMYm92SUR3b2FFQkVSRVJFUlVROHdrVUUwaU1SaXNhQ3FocDNOSStycjY0OHFjRWhFUkVSRVJFVGR3a1FHMFNBeWUvYnNpS291Y2paTjB6UXZLbkJJUkVSRVJFUkUzY0pFQnRIZ00xOVZtNUdZWG5MRy9Qbno5eWgwUUVSRVJFUkVSTGxpSW9Ob2tDa3RMWDBEd0hQTzVqQ1h5M1Z5Z1VNaUlpSWlJaUxLR1JNWlJJUE1xNisrMmd4Z0ZRQWJRTEdJbkxSMDZkTGlRc2RGUkVSRVJFU1VDeVl5aUFhWm1wb2FHOEFUcXZvWkFBSHcxYWFtcG4wTEhSY1JFUkVSRVZFdW1NZ2dHb1JhVzF1ZkZKRjNuYzFEUmVSekJRNkppSWlJaUlnb0oweGtFQTFDNTUxMzNzZXEraWdTQlQ5TERNUDRYcUZqSWlJaUlpSWl5Z1VUR1VTRGxJamNDa0NkelVtTEZ5OHVMWEJJUkVSRVJFUkVYV0lpZzJpUThuZzhhMVQxSldkemQxV2RWT0NRaUlpSWlJaUl1c1JFQnRFZ05YMzZkRXRFYmt6Wk5jc3Ava2xFUkVSRVJMVExZaUtEYUJBekRHT2xxbTV6Tm85YXRHalJmZ1VPaVlpSWlJaUlxRk5NWkJBTll2RjQvRE1SV2VOc3VrWGtoQUtIUkVSRVJFUkUxQ2xYb1FNZ3loZTl2SDVJTEt3alZRM2JzM3ZaeDFJenZTVXYvVjdTTUx4WmRHU0piWVV4WXRobitlcDNWN0IrL2ZxV3NXUEhQZ3BnQW9BaTI3WlBtRHQzYm5EMjdObXRoWTZOaUlpSWlJZ29HODZIcDM0dDVtODR3NGFlRGRVSkVOazc5VEdGZmlvcTkwTmxoVWNhVjBxZHZ6bVhQblZHZ3p0U2hrcUlUaEhvaVJBcFNXK0F0UXA5ekRTTUplN3JLdTdQOHlYdEZLcnFCakFFZ091QkJ4NzQxdmJ0Mi8rbXFpTkU1Sm54NDhkZmNPaWhoNjRIMENRaTBVTEhTa1JFUkVSRWxJcUpET3FYbWk5YWVJaGwyZzBBdnByaklSdWgrS20zcnZMV3pocEYvZlVucUtJQklnZm0wcWtDYTB6TC9JSDdoblBmekRHT2dsRlZGNEN2QURqRytmc29BS01BbEtycUVBQm9iVzJGeStYYWJCakdKd0NlQS9BMGdDY0JQQ01pSEtWQlJFUkVSRVFGeDBRRzlUdlI2c0JKS3JnTFFHbTNEMWJVZXVzcUw4NzJVS1M2NFJpSVB0RDlmclVSa0c5NWF5c2Y3M1k4TzRtcUhnemc1d0JPQWJBN2dKSWNEZ09BWmdDYkFEd080SGNpOGxJT3h4QVJFUkVSRWZVWkpqS29YOUVMRy9hTW1QcXlDRWIxdUEvRithVjFsWFBUKzExYUZuRTF2aW1RdlhyWTV5WnhtVWQ0cnpsM1kwL2o2Z3VxT2dyQUx3RmtUZDcwd0UwQXJoS1JUL0xVSHhFUkVSRVJVYmR3MVJMcVY2SXV2YnczU1F3QWdPQlBlc0V0STFKM1JjeW1LM3FheEFBQUVleW1jZXMzdllvcnoxVDFaQUMzQWJnb2o5MmVCK0IyVlQwdGozMFNFUkVSRVJIbGpLdVdVUCtpK2wxSXh3T0oxTGFuZUMzUHd4Rlg3R1lSK1hhMk5nSU1qNW14cVFEcWQrelRIM1kwUUVrVkQzZ042NXhtR01OdEd5c2hNcjZEZnMvVkMyNzVpZnpqN005NmNtbjVwS3FuQTJnQWtEVTVvMDB4V0c5OEFGMzdFZXp0VVdoVEZGQkF5dHlRWWFVd3h1ME84NkM5SU1POG1ZZWFBSTRGc0VoVlo0cklYVHZsZ2lpclNIWDlUd0ZKSnZZKzhOWlYxdTdzR0tKejVvOVZNZE4rMXd5UnQ5MjFGZmZzckJpMHVyYWtGZDR2V2pDR2V1b3FIODVYdnhGL2ZiVkM5Z0FBZ1d6eTFsWmNsNisrdXhLN2NNR0JNSTBEa3R0cTIyOTVicGk1UHBkajljS0dQZVhHaW8vNk5FQWlJaUtpQW1JaWcvcU42Q1VOQjZpdGUzZlNaR1BwOVROdkI0Qm9kWDFJZ2F5SkRBQlFBeE9UaVl6WWhRc090RVgyNzZpdENLNlM2ODc3R01ESFlYL2did0xNemQ0UVp0UnNPUlZBc0ZzWGxrZXFLZ0NPQURBdk00bWhsZzFzajZKMTljdXdIbnNEYUxYYUgrLzhiVDMyT2xwZEpzeGp4cVBvMUVPQklSNkl5MHh0dWllQWhhcGFEdUJSRWRGMm5WR2ZpdnJyVDFESTFTbTdmcnF6WTlCTGwzb2k4Y1lWSWpoc3gwNVlZdVBRYnZVemEyNVJzOHZzOEhjUUFOUlYxT0twUGZlOXRIMitwV1prcjZZbm85RERBSEZCc1FIQW1PNWZTUWZuVkprdGdrTVNXL1liQUxxVnlOQUxsNVoxMmVoR1gxaVEvdnVqMWJVbFVjaDlFSXhON2pOUWRIQlhYVFhQYWZpOEpYcFRWSFIvclY1eW1OU2RzNzA3OFJJUkVSSDFGMHhrVUw4aGNUMVlPNWtNcFlxUGt6L2JobnphMmEyMUFqdHVDbEsrOWN6R1U5VGF0aUtKQVh1dGRqSWpTd3pOT2xwako5b0x3QTJaTjNNYWFVSDhmMjhnL3NocndOWndiajNGTFZqL2ZRM1dpKy9DZGR6QmNKMzRCVWlaTzdYRmFBQjFBQ1lEV0pmZnl3QWkxWUdWRUp5NTR5STA0bWswUnNuQ2lsaW54L2tEZndId2s1VGptanl1SWJ2TE5kT3pMaVVidldqQi9yWnBYQy9BcEVSenZhdTBybXBTNytPZnY2L0N1QUNDU1lDTUVkVmlBQjhJNUg3RE5tNG91V0hHSzczcFgxWCtrREdJNkRjUmY2Q21sMkhEcGZhSnhYVXpuK3Z5L0RVMVJuUno0ejlGNUxDMEJ3U21EZlVEdUREWGN6YTd6UDF0bC9GVzV5ZTAxZ0pJVzAxSWd0T3RjSFg5UnhBNTBqbjNmckVMRnh6b3ZuSG0yN21ldTYvb2hVdkxvcTZteHE3YWVTNE1Ec0dOYUVyZEY1T3lud0E3a2hnQVlCdnhtUUF1NzZpZjJKejZpWmFodHdNb0JvQ0l0TlFDbUpGOFBGeGQvM3VCbUIwZG53c0QrcEM3cnVxKzN2UkJSRVJFbEE5TVpGQy9vUVk2RzQwQkViVGQ0SnEydHRpZFRFR0JKb2FMQTRDdE1nS2RaVDNzRVcxMy9xcm1zTTdhS25wWnY2UDNMZ1h3dGRRZEdtbEdTMkFWN0hjL3lUb0tvMHZibzRnLzhCTHN0ejlFY2RXcEVHOXg2cU9IT29WRUwrbDk2T2xFc1ZSVEV4a2kzdVl5KzJRQWQzZDZvR0pTK2cyKzNKRXRpYUdYTHZWRTQ0MXpWT1FxNmNrS09KMkl6R253S1hTQkNJYW14QThBQnlwd29HWGFWZUhxZ0QrejZHeXVvdjVBaFFJblp1ejI5REpzQUVDcmRuMnpxeldyWE5ITjZ4WkRNRG5yNDRJTHd2NzZUMHBycTNxZFdPbUtBV081UXR0R1g2bHBmaDNBVGs5azZDVU53K1hhaXEzZE8waWI1Y2JwYVVtTTVrdm1mOEd5OUJmdHA5REpUMkwraG9jNm1ySlRJaVdQUmJSbGl3ajJoRFBWTFh4eElGUjZYZVdkaVcyNUFvSmVKVElzU0J3QUV4bEVSRVJVY0V4a1VML1JaWkpBTlNYRElIWm5UUVVZMHZhem9kNU81MFY4Rms1NVdML1dXVk5WemZxdC84Nmdxb2M3aVF3RHlhY2owb3lXaHRXdzMvcXdkNTNITGRodmY0em1lZmVqdU9vYmtMSVNTT0pHeXdBd1IxV1hpTWd6K2JtU0JMY1VyNHhxY3pORTJwYUt0UTFNNml5UkVhdGUrRGxiN00rbjdsUEJiYW5ia1lzRFI2dWlNaEp2K3A2SURHM1hTUy9GcXV0UHM4WCtwMEE2KzN3dEZ0RWJ3eGNITmladk5IUHUzOTl3a0tWNmJkdDlybUlEQk0vMkx1b2RUREU3cmZHaTFVdUdSamEvOHk4Um1aanh5RkpBcGllM0JISlZ4RjgvMGpOeTNHVlNjM0s4T3pHbzRpTVJXRkFkQVJGdmNtL1lYLzhiUWZwclprT0hTOXEyUFNmaUQzdzVTNSt2OVRSeDFKV29QekF6WXVuVjBUa05VejNYVjZ6dXhxR2JVamQwUm9NN1l1bHRJa2dwVHFNMklBWUVZa0Z2YmZZdk9MR2tkdWJMbVIxSjNUbmJvLzZHeXhXNnVHMmY0aWF0WHZKRlRqRWhJaUtpZ1lhSkRPbzNCT3JSZkswWUxOZ3hSOEpXRjR3Yyt4Vk03YUxCZTUwLzNqZFUxUXZnYXFjWVowTGNRdXY5TDhKZW03K2FmN3ArRStKM1BvT2lLVWNEN3FMa2JoTkFyYXFlSmlKTm5mZVFPNms3WjN1a09uQWZrRElxQXpLcHMxVlliRmhucGhadFZjVjJMNXJhdnNHTyt1dFBWc1ZEZ3I1WmZGcG5OTGlqb3ZOVFAxdFY5UVZENWErMm9XVlF1U3I1alRrZ2h0aDZqZGFzdWlmWEczMjl2SDVJSktyTDJrWjZLQ3pBbnVhdG5mbFUvcSttdmVicXdCY2phQW1LeUJkVDl3dHdwYWUyNnZjUmYrQnBBSDlKZWFRNnVubmRJWHJSb3VseXc3bWJjejJQd1BxcXQvYTg5eVArK2tjQm5PRHNmUkhRV1FEMlNHK2JjYXpJRVU2ZG1FejNvcVA2TnJuNW5KNi9lSGU1NlVkcFN3OUhxZ1BmVitoY0VURlU5TjdvbkVDVjUvcktKYmpSRjBiMWd2MHlPMUV4Smdua0g0bWY1ZE8yL1ZDSkRnM01FOGlYVXByL1d5QjNLakRmdWRiaEZveDdvcGMwbk9DNXR1TGR6TDQ5dFJVM1IvejFzd0E1d2VsMDd4aWFKd05Zck5DbURwTnJDalB0TTFFUmc2RGQ4QzBEMnB6NzAwVkVSRVRVZDVqSW9IN0RCb3J5ZWUrcE5UV0cxTlRZS2hJQnNMSERoa01hRlFDaTFZR1RGRGlvc3o3RndQTjVETEU3eGdOSXU3blV6VTJ3bm53THNQTlloOU5XV00rL0MvTzQ4VEQzM3ozei9FY0FlRFIvSjhzeXZRUVkwenluNFVzbDExZTgxTUVSWjZadGlmNWJhdjF0TjEraVltcm1tMGkxRlNKRnlJTklHU29scFQ2SktqN3h4dDBuSjFleWlWUTNQQS9vLzFJQ1BEQ3krZDJKQU83b3FtK2QwZUNPUm5XbENGSnZkQTJJOFZERUgraDE3R3JiNXlTTDViWjdEQ3FSNm9iekxlaGZwVzJFUk9JQkNIN21xYTI4R2dDOHRaVi9qZm9iU2hXNlkwcUo0SlNJR1g4cDRxKy94RnRidFRUbmVLcVhESTJpK1pnZDNlZ2RDaHpmaTBzRUVqVlViZ1l3cFl0bUs3eTFsVDlNM3lXdWFISDhSd0QrMnRaWGRXQWFSQmNEa2l5Y1UyeUxYcThYTmp3Z044cEhFU093RDJ4MVJnVEp1OTY2eWduaDZvQ2taRi9hUm1SRS9RMS9BMlRIT1ZVLzhOaXVLcm5oM00xUmYvMlJDam5mZVdRZnRlekhXcXJyenlpdXEzb2hNM0JUWEJkWnR2VXNnRWRkMEV1U2JVcnJxb1ozZExHeDZzQ3BObkIvMjZrTitMbzdVb2lJaUlob1oySWlnL29SNmFUVVowK2NaQUN3dlhXVnR3SzR0YXZXQ3Iyc3M2L3hWZkdaOThPeXZFNnY2SWJEa0RMMVJsVVJ2L2Q1SU5LUy96UEZXaEYvOEdVWUZTY25wNWNBaWFrNngrYzdrWkY5ZW9sT0F0QXVrZUhjK0o2WU5pSkRwTU1iWjFWc0V0RS9DZVJBQlM3SVI3d2krcjMwSGZxUDFPVjR2WFVWVDBUOGdjY0JITGVqamYyZFhCSVpzVEljQThHRTlQNGh5Rk45RHhFajY3OEhzWXZyRDQ3YURUZUpZRUxhKzE4UkExRHByYTFNKzkzeDFGYjhPdXl2LzFpQU9qZ2pBQVN5RjREYnd0WDFNMHlZMWU2NkdXdTdpaWVpc1ZOMnhLUzJ1N1hvUDlIaStDOEJoS0ZhbkpGOGlpWnluWjFjSDVMVHZ0UURTQmZQbVhaVWIyU1cxdFQ4WFdwcTdHaDEvUXdGRmlDbGdLWXFOaFhaOHEyMnBVOVY5MGZiaWtpNkhnQU0wZEhKa1dXaStGU2hFdlUzWE8xTUMwdTVIcDJTSE1YaWpzWDlrWktpc1NJNFBYR2c3QjJIUGhyeEw1amxyWjM1cjlRQVM2NDc5OFdXU3hxT0tyNjJvbEJKVlNJaUlxSSt4MFFHVVE1YXFoY2NFYy80dGorTEZSS2Mzb05xbXIyanFtNEF4d0E3aG9acll4VFdDK3Y3N0p6Mnl4dWdqVkhJMExZdjU0c0JIS1dxWlgwOXZVUVRxNHY4TWJOdFZKcS9CZXk0dVZWZ3EzZEVXVnBoUWdQMlppOHpqd1FBQUNBQVNVUkJWRXRsdnFoeHY3ZW85RTY1Wm5vMDRxKy9QaC96VEhUV1hHOVU5UGpVdmtTTmRvVVpWZkdRU0VvaUEvaHFMdjI3bS9CRWRBaGlpU2tBMmdqSWtCMlA2cC9VMWllN0U2K0lNUWJTOFhLaU9tdnVzR2lKNi85c0c1ZEFrRFppUlZXM2lXQ1dFZGRuWXhjdU9MRGR3WEY5d0RMTWk4V3dyMFBLZEFZUm1XakRlajNpcjcvVnRJMC9sRnhmOFhwSDV6Y01PYjF0TEpIaVNXZEt4K2NBSUZ3ZCtLMEFWeVlmZHFsOWZDNHJyZVRCUWRIUDlwc1M4VGZzcTZyWFFOTG1NYjN2VXVPYnhUZWtYSlBLbmp0YXlQdUpTOEZ1Ylh1QTdWRi93MjBBZktrbkVkVUwzZGJRVjFPWGIvVmE0UmtSbDMyL1FKeWxiV1VJSUxkR3F3TmZGME92c3hRbko5dTIyamJDL3ZwalRGUHVjMTlUK1U1eWY4emZjSkN0aVlTbkMxYnpUbnJPaUlpSWlQS09pUXlpSExSQy9pVFMrZDJ1R0ppMzh5SktVK3FNeUdoanYvNEJZSFg2QlhYdldEYnNWemZDT0NadHBzMkJBSVlEeUZzaUExbW5sK2d4K3VPNW8rVnZzei9OYUpxK1pLcnE3Vkl6UFcxSWluUGpOaXVmOFNWRlBNV0hpS1l2RU94cGJua3hzNTBBcjZadHE0eFBUblBxckg5WldCR0wrT3YvcHlxSENPUWlDSUk3SHRVWHZQYlFCN29WYjFINEM2TFpweDFGL1F1K0VZRXNGY2pJckxHSURBTndtKzNxK0ZkQ29CMFVJaEVYZ0I5YWhuMTJwRHJ3WFc5ZFpTamI4UW81TFdWelJmcjUxWlUyOHNZb3lqbUJLSW9WbW5WVkU3MElJbVhPdVR1czU2RzJ6QlhSVVdtRFV4U3ZHcmFlVVhKRFJWcjJVQVY3cGpSNzM5azVPbm1zTGZxSktMNlZ1VUtKaWpSRVhVME43V0xQK256cVUycmpXSkZFM1kxVWRodytBRzJKREJ2Mkh5RlNEZ0J4R0JzQjdOdlJkUklSRVJIdHlwaklJT3BDYkU3Z2RGdHdXcWVORkt1OXRaWGQra1k4ajF6SVdORkZOMlRlNCtlZi9lNG1JRDJSTWRRWm1aRlg3YWVYaUJGckxaNEk0T1prRzYycE1TSmJNREgxTnM4VTQ3WXMzZlVac2ZYQTlKa1gyQ3J6WmtmYXRRTSswUFFkYm54ODBEQUFuYTRXa3VqVXVCZHFYKzV5R2ZGNFd1MFQ0OWFvcTN2NW84NVdISGE3NWFsb0ZKOUMwSmJJVU1Wbklqb0VuYS9HMHBsd3hqU1loejBmbGEzSTFsRFVkYUNLamt0dUcySmsxTzVJajhIUytNeG9kZUFUZEVUbHY4blZSRHgxVmJka1B0eGNIZmlpSlhKRjIvbnNqcWRJaVdUOHJxbmU3VVhKOStTR3JDdUQ3Sm5Tc20xRVJ0dmJST1ZEZ2Y1ZWdYbFFxQUtmaXV3WXNkSGg1U2crRWNIdUNxengxRlV1aWxVSHp1M3FHQ0lpSXFLQmhJa01vazZvYjZrWmthYS9kVDN4UUg2K1V3TEt6Z1F3TEhXSHZhM2QvWFBlNmRaMk44NURBT1NsYUdhcTdOTkw3RW1waVl6b3B3Y2NLNFk5ZXNmanVxVms1Tmh1alZEb0xSVWRsdnFOdVFCYnM3V3p4V2lTakhJT1VXa3V5eVdSNGFtYmNiVkF0T1dTaHNQVHpxMzRTQktKZ3U0b2hxRGRxaG9BSUZkWE5iWlUxMCtQSzU2QXdBM1ZXN3l0UlpkRmlscmZGRWwvcitWS2phS0RZTGZXaUtKS1JUL3h0aFI5cjZPcFdBcmRzZXFJYWxOSmlldURqQmFlOU5FZVV0MnVpR3RxYTdGL0RhRERaVkV0d2JucDdhM2NsbEJWMUhvL0duSlp4MVBLZEsrVU9CTWpNZ1J0NzFNQk5ybWI0LytPbHJoK0F0R3JCRElOU0l5WTZJd2grSm1xampZaHp3bEVJeHFJcXVqSFVDa1d3WWljWXUrTWphK0dMMDR2SUd0WWlIaXVyM3lvMTMwVEVSRVI1UUVUR1VTZGlPelZlTDVBRHVtaTJUKzlkUlZQN0tTUXNuRUI2VGN2dXJXNzk3VGRwMXZiSlV2SytpS1JnU3pUUzFSeHV0YXNjclV0V3lwMlJ2MFNXWjdya3FaNWpMRTA3ZDVhTld1bFZaZElxNVV4R3NLQVhaS3RiYnR6ZERTT1F1MEx2QjJzT05LUlp2K0NReTBZSGF6K0FoVFhWYjBROFMrb0VHQ1RwMjdtZzBpc3V2SXRnZDJqZnplODEvN3dRd0N6bStjMFhCTTNaRWptTXFhcHhDVXJiRnZQRnVCSWlKUkZXMXAvQStESHljZFZ4U1BkS0d0aVFEcGNObFJyVnJtaVc5YWRuYkxyYVcvZGVlOW5hYnBSb1o0ZDAyMTBsYmV1NnVMT3p5dzdSbVRZY2tETTMvQXRTM1h2NVB0RVZBK01scGhIZUR3NFNxNmUyYWl6NXE2RXQzaG1seGMwdkRTU09tM0tlMzNsYlFCdXkxeDlwS2RFOEN0a3ZOTlVkRDJBQTNyYk54RVJFVkUrTUpGQjFBRzlkTUhJU0Z4KzNXbGxETlVtdUZ5WDc4U3dPcEwrRlg5Mzd2SjZmTVoySlIya2c2SUl2Wlk1dlVSRWhzVzJ2SE1pZ0ZWd0NvQ21UeXZwZUxXU1BwVCtyYnhrbjRJUlYyMjNqSEFKekY3VkZSRXhibzM0QTkwcU5Hc0JYYTRDbExraVJqNFNkcDBWK0V4U0t4NFh5SVVRSXpsZHl4KzVNSEN0OThiS0RVaTh5VHBjU2pScmZ6WmlIVDBXMmJ5dVNnVDdwT3pxNEwyalRRS3BCZkRueExhY0hQSFhUKzkwU1ZuRmptS2ZCdjV1UTlOK05kV1FQd0o0VUs2dU9oVUFuS2xJRVowMTF4dDFGMTBGNkhFQVdyMjFWYWUweFZzZCtMNnhPZklVZ0M1WGZpRWlJaUlhcUpqSUlPcEExSkxmWnM2SGIwZHdsZmVhY3pmdXRLQ3lpd1BZQW1EdjVBNFo0c244UWpYdlpIaTdGU3kzQStpRDlWNDdYYjFrVmZTU2hnUFUxclpSTTZyWVZQSmg2VTRmQWk5QU9QVTVWMmpXSlQ0TnRjdmFUWVB3bW8yOVBMazdoMVk5RXIyazRRQlllazYrK2pOVVFya2tNN3gxTTU4S1Z3ZnVUU3c1S2k2WXVBakF6d0FBb2lOU2NtWWJQZkd5ejZjZUd5c0tuNldxYmJVd3RJTVJHWHJwVWs4MDN2aXJ0cjVVbXoyUVJSM0Y1REhMNmlKVzR5WE9jckpRbGZteGkrdGZjRjlYOVVhN3ZtdHFqT2ptcnV0ZFFDV2k1eS9lUGVxS253M0JGQSthdm9tNldWSDFCMlk2b3o5YWRFYURXeFpXeExRNnNGdFU4RThiTmlMVmdRMnc5YnZlRzZyKzErVTVpSWlJaUFZWUpqS0lzbWkrZU5HWExkdWEzZG40QWdXZTkzNDRwTVBsSzNlaXVGTmZJU1dSMFdmM3RUdnNXSG8xcWJHdkVobkl0bnFKWWhLQUg2dHRuNWs2RU1RQWxoZGlHVnhiNUpPMHFnM0FibW5UWHh5YThqb2x0dlZqK2V1UHVqVVhxQ2pTc3E2MTJKd2loaFFyVUN1UVBaeUhXa1MxMGxidHdkd2llU3JyWGtzUHRBVy83WDUvMlZuUTF3RjBtY2hBWWtySVVvV2Vqc1RVaG0rM0pUSWdxYXR0ZkNBM1RrOGIwUktaRTdCU3g1c1lzTE1tTW1KVzQwOGcwdlo2S0hDYjFGVnU2aWdldVdaNk5Pd1AxQUNZaThUQXA2RzJqWHZEYytxUEs3MitLcjJPeDdaOWh3UDZmcmFNb2tLR3R0V3lFQTFIaTFyblFtUXlBRVJSK2gwdlpHbEVBNDhoOFg0dmpnMnp2Z2Jna1lqcXNTSnQ4MUwyOGJqamIzWDIvUFdVUWk5dzJVWmFuUkFWbzdVdnprVkVSRVRVRTB4a0VHVmhhYndPSW1iSExkU0dHTE1LY2NPY1JYSkVSaHRqdjlHdzhHYWZudFE0b04yWHpkc0FkRmlMb0xmYXJWNGlNajdtYnpqSVVudFMya3dhMFoyNldrbVNhWm12MldicTIwR01sazNyRHdid1NtbzdGUnlTSHE2a1BaNExtVGQ3bS9xVzNoSGRxM0ZKU2hJRFVQMFBCT3VOSGt3dGNsdXVQbnZ0ZWtvTmZTV1pDQkRJb1ZxenRCaE5zYUpvYzN6Y2p0eVZ2cGQ1bkFCRkdTdkR0SnRhRXFsdU9FWmgvMnJIeVdDWnR1djNYY1hrcmEyWUgvVUh2Z2ZJeVltK1pYK0kzcXNYeno5VnJqdnY0N1pUWGpOelMwYzFKYUwrd1A4cDhEc2tSblZFUk94L0E0bEVoaXBtQUZnS3dYL2JSaUNwY1R5QVIwVGt1SlI0bjhteUJIRitpTHlmeTZnWklpSWlva0poSW9NR3IxYzJaWjE5RWEydVAxc2hYKy84WUxtdTlMcUtwL3Nvc3U2S0FIZ1J3SW5KSGNhaCt3SExUQ0RlUjNrV2x3SFhsL2ZQM0x2V1NXYjBpYXpUU3hRbml1RFl0bTNveDU2Ukd4N3VxeGc2VS9LSloyMWtyOFl0TzRwQkFwWmhmVE16a1NIQXFXbmJxdDB1enFnMVM0dWpXeHIvMlc2RkM1SEpDa3p1U2Z4UncvSUJDSFY5Y3NRZ3lQMk5wVEI3UFBWRmRlL1UwVGFScmMyampMaDFNQXkwSlJrVmVMWGRjU0xGU0JrS2tUbTFSQys0WlVRVXNYK2xMdU9xMElEN2huTzd6UDRKUktQV2dncmJrQmRGTU5UWmQyaFV6Y2RqRnk0NDNYM2p6TGZoVEMzQlIrTkd0eGExN21XTHNaY0ZIUU5nak5qeWdxMjJOem15UW9BbVQ4eGFHWFViWVFDbEFqbE5MMnpZTTZiNG56cTFYVzNWNHhPTjlkams4eUZpL0NlbnA3Qm1hWEZzYytPNW5ycXErYm0wSnlJaUl1b1BtTWlnL2tPaGVTMGxHZlMxcTFhcGw5Y1BpVVp4ZGVkeDZEcFBTZEV2OHhoSnI0aElURldmYzBaREpJcGhEdkhBT1B3QTJNLzBUVDFBODh2N1E0WjZVbmUxQW5oQlJQcDB1WlIycTVlSWZRNGdROW9lQjBKU1U5UHVkYzJuV0hYOWFaYmdPRVB4bHZ1aklmOUtqc3FSNEhRcjdBL2NBYVFzNVNsU3JaY3VuU3ZYVEk4Q1FMUzY0VVNGSHQzMnVFSkZ6R0IzemgrNWRORSswYzFOSVlnYzArNUJoWlZ0OUVFR0E0Q24vVjdOdGF6S0Q3MjFsVjBuUEJ3OVdrbER6RDlIcXdPTnRtSmEyK0FTaFhwYlNocWpycGJUVTVNYm9zYnptWWZiMEpMVWp3b0RkalQ1czE1ZVB5UWFpNjBFcEMwVHA0cFB2Qzc5V2E3aGVXNll1VDdxRC9nVldKaXllNXhsR28vSHF1dlBjZGRWM1JmWlBPYlhVaHkvTWhGcnlrZVhvZGVKN2hneW80S3d6SnNkaVZRSFZrTHdmUWpNcUtuVFBDaGVITlVXaFVBQU9VNnJsd3lOb3FYdE5iZHQrNjZ1STlYOW81c2JIMVhJUVFDWXlDQWlJcUlCbzh1cTlVUzdETkU4RGk5UU85dFNsdEVZYWxMbnpMYy9EQ3FpNTNXM3BzRk84SXBUSndOSUpEZFFkUHBoZ0xjNC8yZnlGTU04NWRETXZVMEFzdFpZeUNlM0ZLK0Vhc3EzNjg3dy91U1dhSit1VmhMMTEvL1NGcmxYSUZlcHlKTG9YbzBaMDFpTU9taGFWWVJ4MFhqamd4SC9ndStGL2ZVWDJXSXZUMnN1dU1WZE55UG5iRlBFWHo5RjQ5YXpFS1FrTVRTbEJvZmFBcjFaYlIzdnJhMHNTLzNqY2V0ZWdQd2ZWRDlLNzFVYkFWemhHVEhramx6ajZHc0tuS0dDMmVuRmRuVU40cDgxSzFDUnNzLzJ1S3pWbWNjTE5LMkFpNm9aQmdDdFhqSTBHc1c5Z0p5UTNsNHVjS2FDNU14VFc3a0ltbHpCeE9sSHNKc051U2RhSGZpVkFWblh3ZFc1TkxGVU1RREFzSFY3NG1CNzVZNk85THRTZDg1MkNOWTUvWTZJU2N0RkFKSy8wTytWWGwvMVROZFJ5bDhnOGpVUmpJajZGNDNwenZVUkVSRVI3Y3FZeUtCK1F5Q1JQSGJYTGhIUlhCMzRJZ0IvWndlcFlMNm5kdWFEZVl3algxNEYwb3RpeUlneXVFNzhBbURtOGRmY0VKaEhmUTdHSHUxV3Yzd1hRSjlQdFpHNmM3WURjbC9XQjFVL2NJOTQvNzk5ZVg1VlZHVkVWSzZYTkxROUdhVzFNOWFJNk56MEpuSXNZTndxa09zRk1qcmxrWTFxNnhXNW5ydjVvb1dIUUhHYkNIWnZpd2U0MHhNMzlnUDB4c1NJSlNsU3lQa2llQ2RTSGZobjFGOS9jclE2Y0ZLNHVyNGhHc1VIZ0Y0TGtiSE94YlNxNm55UDJBZDVheXV2bHBycGZWYW90YnRFOWJYMFBSbzNJRCtQdVl0K2tGNFRSQjdwSUFHeFIrcUdLZFkyQUloSnk1VEU2NUhhdFY3cnJhdFlqaXdFaWFrakhmSFdWZjVNVlJkbkhDUTI4REhFVGlZeVdnQjlRMVh2QW5DZFFGZTBGZm9FWUJ2WUNnQWV3N3luTFNtbGNueDRUdjNlQXZ3R290TThMYTQ5Yk5YeEtXZFprVDBpdXlRemxyWkg3TmF2ZEhZdFJFUkVSUDBKcDVaUXZ5RzJibGFqazdrbHNtTytPMVNMMEduQlEva3NjNDhGM0pBNlp6Nkw5N3h1L1VuT0FlOUVJckpkVlg4RDRJRzJuUzRENXRlL0NPdmRUZEEzUHVqMCtKelBjOEJ1Y0ozMlphQ29YUjNVbjR1MGYwNzdRcnZWUzNZODB1ZlRTZ0JaQzJESGxBVG9weGorM3ZiVUZ1NlI0NnFqbTk4WkFwR3pPK3hHc2RaVW1WSnlmV1hPTDB6SkRUTmVpVjdjTUVOdFhRSlJTMVgrNEIzMTNxK2RhNzRvTW1maFAxWHM2d1E0MGltSStuMkZmQitTZGo4THFEWUxKQUJ4L2NsYmUyNjdRcG03QWhWNVNhQ0hBdmdBd0ZNcVJsMkpGcjBSMFpZM01uNnQ1N1U3ZGthRE93STlJN1ZaSExvSkFOd2p4OTRTM2Z6T0x5QXlIazRpeUR0cTNFKzF1cllFSmNOZHFTT3RZblBxSjlxQy9kcjZWY2s2SXN6YkhKOFpkUmU1QVB6QTJmVzR0NjVpSGk0TnVtT3QyOGE1UjI5Y24vbStqRlFIZnBkOFNjUXAxQ3ZYVm13TlY5Y3ZnZUJEbDJIK3ErUzZjejhBc0FqSmVodWJ4NXlSUEY0eVIvYTBQVy9tVWNoY0prV2hFUDJIMS9JOEhKWFl1VzF2QlZYUkM1ZVdBVURFYUhLbmprOFRHKzdrWTJuaW45a3liM1krRThwRVJFUkVQY0pFQnZVakhRM1ZUbEJGVzYwRVc2VGRrSUdNeGh0U042UFY5V2VyWUVKbmh4Z2lNK1hxeXNhY3c5M0pST1JCVlYzbzFHZ1FFWUdVdVZFeVl3S2EvM0VmZE9NV3dPcmhmYjVwUVBZWmlaTHpUb1Y0MDc3MFZRQzNpTWk5ZWJxTUxyVmJ2YVF0RXFOUHA1VUFnT0hDZWJhbEM2QTRXZ1Z2RzZMVm1UZXB6bktyNThUOERVdHMxU29BUndPNnV3ckNBbmtMcWtGUFNkRk5QWm1lNUxtdTRwL2hPUTNEWWNqVHBiV0pZck02bzhFZEcyWjlEYloxZ2lvMmQ1N0FBMVN3RmFwN3FWcm5SZVlFWG5hSnZsN2swZzI1VDYzUWYwYXE2NWZrR3JNTk5kRE40amFpMW0rOWRlZk5UdDBYOWdmbUM3Qm5XeFRBODk1Ujc5MFd1elF3enJLd1RCUXhRSTBJOUtEVUVROVF4RHdmRGZzUXptc1RyYTcvb3dJTlVEenNiVzc5Ym1KZnc3SGFFbjhrNHErM1ZkRUlRYXVkUG5vR1RsS2xmYXp6WnJjQ09EdnFyMzlkZ1JxSVhDWVF4VFdJQWxnWG5STTRKMW9kR0tlaW53bU1yVGJzZzZCb3E1TmkyR2dNKyt0cm5NMzFnQ0t1OGFsaGYvM1VaSnZvRm96Y01SSkhiVnZsMUxDLy9oUUE4TWFObStUR2lvOEFRTldlbFByNnEyS1RLZklqUy9IWGFGSHpsclRYUVdUdnFLdXBNZkY4WjE0VWdsRlhFOXB4dWQ0QThQbXNMeG9SRVJIUlRzUkVCdlViN3BiV05WRjNVVXZLUFBFMEl0aGZaODMxeXJ6WkVRaSsybWxuZ21lVFAycjFrcUVSYWY1TEY3ZGFZY3ZXSDRlckF6L3VwTThOcGJXVjUzVjlKWDNxS2dDSEFEdXVYN3dsS0xuZ2RNUWZmeDN4UjE4SHRuYnovbm1vQjY3akRvYnJ4QzlrSmpFQTREVUF2OGxQNkxsSlRDL3A0U29ZV1hocnErWUFtSk5MVy9jMWxlOEFPQ1dudHJVVjl3QzRwOWNCcHRBTGw1WkZFWGxCMWZwYXVMcitQQkU1UEFvOURHb1VKMFplWkI3ZzFCTkpTZm9JWkE4SUpnc3dHUUxFSVloYmdraDFmUVFpRzBYMUQ1NjZxb1daWGJVUktjcm5OZVVpVWgyWUEyQm02ajdEbGt1bHBzWlc2THFJUHpBR0lpTXp4cDRBaWNUTm82bkxKTHViNDdmRVNvcU9jVGZLSmJKd2RpeXhyK1dKcUxzb0RFaXBDSVpsaThFQUh1MHNSazl0MVc5YnFoZmNXVnhiOVZ6YStRMDlCSkNmQWVMVUswNTlvVFJ1dUl3UGJWdXZ5djNaRUVPQXRtTERyY1c0SFVDaTdvbmdEd0NXSTVIRWVGWXNUSGJmV0xFaFhCMzRhKzc5RXhFUkVlMzZtTWlnZmtQbXpkNFc4UWRDS1VPNE01VkdTMXpQaGYyQjlWQ2MwdW1Yd0twdDN5akgwRHhWSUh0MWNmcFNFWnplZVJOOW80cytkb1lOQUM0RGNCdUF0cUtsNGkyR2E4SWhNTDgwQnZHSFg0WDExTnRBYXhlMVUxMEd6SzhlQ05lRUwwSkdEWUVVdGZ1NDJBTGdKODZ5cTdRVFJLWHhTekN3V2lDdWp0N2ZxdGd1b3Y4QnNNTGp3ZDJJbGtnTUxWTnNZTG9BSjJkZHNRUUFSTHhJM09qMytjaVc3aEtSVWFwMkUwVEtrQmhCTU5kemZjVnFPTXVoaGhGNEFzQVpXUTV0TWFCcGlUWm5CTVg1bWZzaTFZRm5JRGdwYXdDcWI3dmo3cnF1NGl5dW0vbGM1ajZCdk43UmNqQUt1ZGxDb2taR1BuaHJxMVpFcWdPckFYem9kWlZWU2QzMGFBNkhFUkVSRWZVN1RHUlF2MklhMXU4c3l5aHZONjBnU1dTOEFPTTdTMktvNnQybGRUT2ZTamxtd1B3ZWlJZ0MrSytxWGdpZ0FkZ3h4RjVjSm1TUDRTaWVmaHowVzBmQWV2MTkyRzkrQ04wYWdYN1dCTGhNU0prYk10d0xPV2d2dUE3ZUJ6S2lOT3Q1VkhXYmlNd1NrYnQzNXZVTmR0NGJxdjRYOVFkcUZQamRqcjFxcStJbGdUeHNpTnhkTXFyMG9TeUZPeGNCV0tRekd0ek5RK3l2V3lJVEJIbzhGRWNsRXhoSVRKKzZxTXNhQ0txM2lPTGxYR08yRFJ3b2tLb2NtbmJJVTF2eGE3MTQvazFSTlc2QVltLzNxQ0ZwUlhrTnhaTXEraTBvV2hOVGVMQUpLcytxNnQrOU9hM3VBVUR3TklDVEFJMURFUU93SFNJYlZYR3Z0emgrbmRTZDNjTWFNTG9XUUJ3UUc2cHhGVVJFc1FVaXQzdTE2VmV3eW9aR1JaZjFyRy9BZ3FRbFFqekZyVDc1Mit4UE02NnRWblJIa2RpZXNnV2Y1dENNaUlpSXFNOTFiK0l5MFM0ZzRnLzhCTUJmZW5Lc0tqNkNXZlNWMG10LytHRnlYOVFmbUtuQS9ONUhwbTk0YTZ0Mm1mbmpxbm95Z0NzVE4yZG9WNTJ6aDMxaXk1WXRzVWdrY3RHWU1XTUMrZWlUdWtkclZybWltOWN0aG1DakNoNzJpdnhYcnEzbzBiZjZXclBLMWJKcC9jR1cySWVxWUdScFhlVS84aDl4ZnVtTUJyY3NySWdWT2c0aUlpSWlLcHdCODAwMERSN2Uyc3EvUnZ3QkE0by9aWmtTM3pIVnQwMlhuTzYrWmtjU1k0QmI3U3pKK2pzQU0vTFI0ZnIxNjdGbXpScFhVMVBUK256MFI5M25GQlB0YUhwVlQvcDZ4Zm5UTHpDSlFVUkVSRVJHb1FNZzZnbHZiZVhWcG1FZUR1Z3lBSjNPQTFmRlJ3TDh3bE5TZExoVHJIRlFFQkVWa1kwaVV1R015cmdMd0dZQXJkM29wdFdwaGZIUVk0ODk5dTlISG5rRTRYRFlKU0luOUdIb1JFUkVSRVJFSGVMVUV1cjNkTmJjb3FpbjZDdWlNbDVoRHhmSVVMVVJFV0NUWWRqUEY5ZFd2U0x0RnhnY2RGUzFDTUJYRXN1QjRpc0FqZ1F3R29BWFFKblRyQWxBeEVsZVBBL2dhUUJQQVhobTBhSkZrMFhrTnFmZFErZWVlKzQzQ25nNVJFUkVSRVEwU0RHUlFUUUlxV29aZ0ZFQVNwd3Bac2tsTlZzQldBQ2FuV1JHbzFOQUZJc1dMZG9Id0hxbjNrYlU0L0VNbno2OVhWRkpJaUlpSWlLaVBzVkVCaEhsYk9IQ2hTK0t5SmVRU0lhY09tUEdqQWNMSFJNUkVSRVJFUTB1ckpGQlJOMnhJdVhuU1FXTWc0aUlpSWlJQmlrbU1vZ29aNnA2SjRCa3ZaSFRsaTVkbXBkbFhZbUlpSWlJaUhMRlJBWVI1Y3kyN2RkVjlXTm5jMVFzRmh0ZjRKQ0lpSWlJaUdpUVlTS0RpSElXRG9kYlJPUlpKSlozTGJVczY0aEN4MFJFUkVSRVJJTUxFeGxFbExNdFc3YTBBbmpSbVY3aU1Remp5eXdhVEVSRVJFUkVPeE1UR1VTVXM1cWFHbHRWWDFQVnFMTU02MEczM0hMTDhFTEhSVVJFUkVSRWd3Y1RHVVRVTGFyNnBvaDg0bXlPajhWaXV4YzRKQ0lpSWlJaUdrU1l5Q0NpYmxIVnRhcTZ5Zmw1bkdFWVRHUVFFUkVSRWRGT3cwUUdFWFZMWldYbEpsVjlDNG1DbjE0QVJ4WTZKaUlpSWlJaUdqeVl5Q0NpYmpNTVkxWHlaeEU1dWJEUkVCRVJFUkhSWU1KRUJoRjFXendlZjlSWnVRUUFUbGk2ZEtsWjRKQ0lpSWlJaUdpUVlDS0RpTHF0cXFycVRWWGRnTVNJakpHeFdPeUlRc2RFUkVSRVJFU0RBeE1aUk5RVEN1Q2V0ZzNWU1lVTmg0aUlpSWlJQmdzbU1vaW9SMFRrbnBUcEphY0JrQUtIUkVSRVJFUkVnd0FUR1VUVUk3WnRQNmVxVGM3bW1QcjYrcjBLSEJJUkVSRVJFUTBDVEdRUVVZKzB0TFEwQVhqZDJmUWFobkZJZ1VNaUlpSWlJcUpCZ0lrTUl1b1JqOGNURlpGa0lzTUQ0UE1GRG9tSWlJaUlpQWFCUWJkazRnRUhITEJuYVducDhLR09FU05HbU51MmJZdmxldncrKyt3emF1alFvYU9HcGhneVpFaThzYkd4dFc4ako5cTFISGJZWWRidzRjTy9JQ0luQXpCRlpPM2hoeDkrLytyVnErMUN4MFpFUkVSRVJBUFhvQnVSWVJqR015VWxKUnVTZjB6VHJPdk84Y1hGeGZXcHg1ZVVsR3dvTGk2ZTNuY1JFKzJhYW1wcWJOdTIzMWJWN1FBTVZSMDNac3lZRVlXT2k0aUlpSWlJQnJaQmw4Z2dvcng2RjhCblNLeGlzcjlwbWt4a0VCRVJFUkZSbjJJaWc0aDZ6TEtzZDBWa3M3TTVCc0NvQW9kRVJFUkVSRVFESEJNWlJOUmpHemR1M0tTcUc1ek5JUURHRnpna0lpSWlJaUlhNEpqSUlLSWVxNm1wc1FFODQyeUtiZHZIRmpZaUlpSWlJaUlhNkZ5RkRtQlhNMjdjdUxOVjlaY2RQUzRpKzJUWjk4ZXhZOGYrckpOand1Kzg4ODZSK1l5VGFGY2hJayttL1B6VndrWkRSRVJFUkVRRG5SUTZnTDQyZHV6WTN3SFlOMldYVDBTOHlRMVZmUWZBbzg3bWZ3RzRSYVJiSzVsMFJWWEQ2OWF0Szh0bm4wUzdpcmx6NXc0cktTblpJaUtHcWpadjJiSmx4R1dYWFJZdGRGeEVSRVJFUkRRd0RmZ1JHU0l5R2NBaG5UdytEc0E0SkJJT1NCa21UMFE1bUQxNzlyYUZDeGUrQ09Cd0VTa1pOV3JVOFFBZUtIUmNSRVJFUkVRME1MRkdCaEgxbW9nOG5QeFpWVThxYkRSRVJFUkVSRFNRRGZnUkdUM3dLSUJMTzNtOENzQ2hHZnR1QmZCVVJ3ZUlTRXYrd2lQYUpUME00R0lrM3UrbkFPaXd6c3l1WnRxMGFSTkVaT2c3Nzd4ejk1bzFhMXF6dFNrdkx6OWFSS1k0bTNlRlFxRkhzN1VEZ0FrVEpyaEhqaHc1R2dCYVcxdTMzSEhISFpHTUpnSkE4M2tOTkhDVmw1ZWZJeUp1QUFpSHd6ZmZmZmZkemZuczMrZnpGUU00RnNDWGdzSGc5Zm5zdTdlbVRadjJHeEVacjZyUGhVS2hQeGM2bmwzRjFLbFR4NG5JU0FBd0RPTzVZREJvWld2bjgvbjJzVzE3THlRK2k5NVl1WEpsWXpmUDh4WERNSTRCOExhSXZCVU1CdC90em1mWG1XZWU2YzN5K2RkbkprNmNPTFNzck93NEFQc0VnOEg2M3ZSVlhsNStoSWljQldCL0FHT2kwYWp2cnJ2dStxdzdmVXliTnUwN0lqSkNWVnREb2RBdFhiV2ZPblhxcVlaaGpGYlYxbVhMbGkzclRmd0ZaUGg4dm5IT3p4OEZnOEdtMUFkOVBsOFpnRDBCb0xtNStlUHV2aWU3TW1IQ0JQZHV1KzAyRmNEYndXQ3d3LytYSjMzbk85L1pyNmlvcU1yWmJBbUZRbi9rdjgvNTUvUDU5bEhWNDJ6Yi90L3k1Y3ZmNzJWZkkxWDFOQUM3aWNob0FEY0hnOEczOHhjdDlTY0RQcEdocWhFQTRaUmRYaEZKclEwU1Y5Vm1KRzdBWXUrODg4NExBRjdvcUwreFk4ZE9FSkcwUkladDIvZTkrKzY3Qy9zaWZxSitZZzJBS0FBUGdQMFhMMTY4KzQ5KzlLTlBDaDFVanY0QzRLaHg0OFp0R2pObXpFa3JWcXg0TFV1YkkwVGtDaVErVXo1TnFhdlR6dWpSbzA4VmtUc0F3RFROQ2dCdG53M2w1ZVdURGNNSUFkaWlxcldoVU9oM2ZYUk5QZUx6K1E2MExPc0EwelJkcXVvQ1VKejZSMFRjcXVvRzRCRVJyNnA2QVpRQktCT1JvYW82VkVSRzJMWTlkZG15WmE4bis1MDJiZHBmUkdSc2IySlQxZitHUXFGcjgzS2gvWWlJWENzaW93REE1WExkRHFBWmllZDBvcXFXNU5LSFpWa3YzWDc3N1dzQjRLeXp6aHJpY3JtT01nempheUp5SW9BSkFFcVJlUDNYQklQQi8zVTN4clBPT210SWNYSHh6ZDIrdUlUVkhiMnVJbklHZ0NOVDYxcWxtanAxNmpHR1lXUitzWkI2L09QQllQRFZIc2JWYXo2ZmJ5U0FkM3A2dktxdURvVkNrelAzbTZaNU5ZQnlKQklVSXdCc0JZRFRUanV0ZE5pd1lhM0JZTERGT2I3YU1Jd3JrSGp2ZkxPN1UvNU0wendid0dWT1grdWRhYmhkM3VUNWZMNHZxZW8xenVmR0JBRDJsQ2xUUnBtbStUWG5NNlJFUk55MmJaZUtTS21JbEtycVVBQkRSV1FvZ0pFQVJ0bTIvZHRjYitqTHk4dlBOd3pqQm1la3NlM3orZTRQQm9QdmRlZDZVeG1HVVFxZ0pybnQ5WHBQQkxDeW05MzhIc0FoSWhJRzBHVWl3ekNNMzRuSTBVNzd0T3VlT25YcXlhWnBkamhOT2hlMmJXOWR0bXpaa3Q3MDBaWEpreWNQQmZDV2M3NGZBbWc3MzRRSkU5d0E3bk1TcHh0ZEx0Y3hQcDh2N2YyMGFkT20yT3JWcStQSjdiUE9PbXZ2a3BLU3YzZHd1bEF3R0F3bE42Wk9uWHE4WVJoM0FoZ080Q0VBMytncTNxS2lva3RGNUZJazN1TzM5alNKTVczYXRCdEVaUCtlZllQOTZRQUFJQUJKUkVGVUhKdEpWVjhKaFVKWDVLT3ZRanZ5eUNPTHhvMGI5eEtBZzBVRWhtSDhBY0QvOWJMYnFJamNDR0FFRXM5WEVZQmY1Q2RpNm04R2ZDSmozYnAxWDB2ZEhqZHUzUHNBMmxZZVVkWGIxcTFiZDA1QmdpTWFJSXFLaWlLdHJhMnZBamhTVlQycStua0F1M3dpdytmem5RRGdLQ1ErQzk3cUlJbVJONFpoWEFyQUJMQ2JaVmwzVEpnd0lldG44T3JWcTIwQWRsL0drbzJxZnNNMHpadVF1QW5NMmlaMWYyYWI1TFpoR044SGNGWEsvbThDT0t3M3NZbElQSWRtN2ZoOHZqSlYvVUJFaHRpMlBYN1pzbVZ2VFpzMjdVOGljb1dxTGdpRlF1Y2wyMDZkT3ZXcmhtRlVBVGpCK1hmQ0ZKRU5xdnFJaUZ3YkRBYmZ5T2g3RG9Cc3hhRmJBSHdHWUIyQUoyM2JYckpzMmJKODExKzYyVENNVWJrMGRQNmpmcTNQNTFzTjRNUk9wcFgrZU5xMGFaTnk2UEtIb1ZBb21OeHdia3kvazNQa0tWUTE4eHZiRXdEOHk5bmMzZm43bXo2ZkwrMWJ2SmFXbG1OTjAveGVjaVJZQjZvQkZDeVJFWXZGRExmYlBhd1hYWFNyU1Bpd1ljTnVCWENteitkN09SZ01mcWtYNTAxcW15WW9Jdk83OFpsMHJUTXlEejZmNytmQllQRDNMcGRyYndEL1Fmcm5STnNCMlQ1dlJPVHd6QnY2amhpR2NZZXExb21JQWNCUTFmTzZHaG5vOC9sV0FQaG1qdGNVOVBsOFdVZnNJZkUrbmhRS2hWWTdJdzdhd2tvNVY5ditZREFZNmU3bnU1TlVxc3FoYVljTXcxaWJtbGpvcWFsVHArNXJtdWJqVHNMcG5tQXdPSzJyWTV3azIvK3pkK2J4Y1pUMUgvOThuOW5ONW1wTG9RdFlqbWJESVNJQ1dnUkZnYWdJbEpMUVpPY3BJamQ0Z01pbENBb29vS0FvUDBSQXVWUW9oMXd6dXdrdEVLZ2NSVUM1b29DQW5FbEtENDZrMEphbU9YYm4rZjcrMkdlV3lXUTMyYVF0YWN2emZyM3l5czdNTTg4OHN6dkg4M3llNytGcUVRTUF0cklzYTFHNDNKUXBVdzRQM1ArSVJxTVRBUnhXcUU1bWZnVkFYc2hZdUhEaDA3VzF0ZTlwSWVQclRVMU5YMHFuMDA4V2E5UE1tVE1uRTlIeC9qSVJiUytsZEl1VkQ1UE5aaTlvYm01K1VTOG1BT3hZb0kxYkUxRU13QW9BM1hyMUZ2cmU3Z1d3Tkx3UEVhMkN0Z1FWUXN6WGZZYkxITWM1UDF4MkxDU1R5U09GRUw3d2ZMcmpPRmRJS2Q4REVBZlE0VGpPZG12TEtxV3RyUzFUVzF2YkJ1RFR5SjNia1FET0c2bCtLZVZsSXp6YnJjRG5uMG9wenlwV1VDblZrRXFsN2h0TCt3M3JQeHU5a0dFd0dOWTkyV3kybDVsZklhTHBlc1p0SndEL0dPOTJsY0I1L2dkbS9oRStzcG9ZMU5uVDFnbEE3a1Y4c1pUeWdsQTkxem1POCtQaERtVGI5dDRBOXZXWEk1SEljL0Y0dkdCWktlVWN4M0dPRzhQNXJCR2U1ejBTaVl6NnRlQUI2R0htSGoyVDJNUE1hMlZtYWkzeGJTS2FBT0RkVkNyMSt2VHAwNk5FZEN4eXYrdWp3WUpDaUt1SWFLL1EvanNUMGM3TS9CMHA1ZUhCR2NCaEtOT2QxUzBBZkVrSWNacVVjaDZBRXh6SDZWcXJaemM2dGc4TXJoU0FWNWo1V1NKNkVzQy9WcTFhOWIvcTZ1cStrU3BoWm11WWJjOHk4N0JtL1VLSVRRRDhwdEEyei9QS0xjc0twemt2RDA1QUlEZXdDM2VFWDJQbWpMWU9XaSt1di9MeThnK1VVcC94bDRubzAwUjBCek9uUE0rN1JBaVJEV3o3SElEemljaWZkVi9sVzNZTlJ6UWFQYm1wcWVtR2REcjlOZ0EvemZ1b3pLeHQyNTVEUk1lTVVPd2lLV1ZSQzdKTUpwTm9hV25wUkc3Z2NLSVE0Z1g5dTUyZlRDYnZBL0NTZmxaWUFQcjA4MksxSHVpUkZ2NFdNUE5LQUNzQmZLaXZ5MkE3SHlDaW9yUHNSQlM4THMrVlV2NnNVRGxtVHJtdWU1aTJJS3dhNGJ4OWZNdTBnaWlsSXRyaW9KQ3JSRlZ3ZldOajQrY0NBK0N4c0ZKZjZ5WGhXM1N0RGFTVVpjenNBdGhHRDh4L1dNSSsyd053QU93T3dOTUNSTEI5TmY3dlFFVER1U0psbUZscFlRRElYUlBkdnV1ZEp2OGJXWmIxYUZCOFl1WSsxM1duK01zVkZSVS9CUkFVR3Irby8wcUNpSzcwUDd1dWU3QjJEU29QbGJsY1AzY2ZaK1pyOWVvZkUxR2RmbWFkRjZwMmxldTZDd0FnbFVvOUphVzhEc0JQQUp4bjIvWVRydXZPTDdWOXc3VGJGeWg3TTVuTVRWTEtuYldJQVdiK3kyaEZERzF4dWMwd1JZTFdtTnRLS1Z1MGlETUVabjVTVytoWkliRml1UE9oNGNwcWNkT3drV0tFakJDSlJPS2NFVXlVeXNNcmhCRFhKaEtKb3I3RkF3TUQwNVlzV2JKc3JUWFNZRmpQYUc5djc1MDJiZHFMUk1RQUtwaDVaMlltdmJ4ZUlxWDhNb0FEa1h0NTNwcEtwWjVLSnBPZkZVSkV3cDNiMEd6aGtBNHRNOGVTeWVSc0ljVG16UHpad1BwdlNDbXJzOW5zQWlMNnk3by9xeldqdWJuNXRXUXllUklSUllub1EyYnVBZENybE9vVFFsUVIwVThBVFBVOGIzOW1YdkhCQngvMExGaXdvQSs1enN3aHpGenR1dTRkSXh4bWF6MDc1Zk5QQUo5RGJoQzduV1ZaZVVzZVp2NDhFYTJwSVBZOS9mOXg1S3p5RHRVQ0E0UVFoZXJ1QnZBQ2dDN2RBWjJPM0RVUUFYQjFYVjFkUzlEME9kQldKaUxmaldDaTN6RU1VQS9nNFlhR2hyMUg4Z3VYVXY0Q3dMYTYzdnhNYml3V3UxeEsyUTlnQ1RQL1RydjI1Q0dpUFFETTFJdi9ZK2E3a0J0a2hXY2x1d0Vrd3Y3cmRYVjFrZXJxL09GNmRYcHl2KzZKZXZBeUxMcERXM0NHZG1CZzRPaTVjK2N1MVRPNkJZVU15N0plMUNicEZVS0k2L1hxMjVSU3JVS0kyZnA3aEdWWmcyS0ZaREtaQTF0YVdqcWxsQWNCYUIycG5SOEhPblpGZnRBbXBUeEhwM2cvSWhLSmZCYkFjZGxzdHQreXJBdDBhbmpTN3JEWEVORnZ3NktYYmR2bkVORnJvY05jWkZuV2hiWnRud05nS25MWHpBNVN5cjh3YzM1UUpvVDRrWlR5Vy80eU05L251bTU2WFp5M3RucTZnSWd1QVJBbG9pc2N4OW0zdnI1KzRyeDU4L3FDMWdoU3lsWDZlZnV5NHpoTkkxUzlWZ1kzSWNIRDUzU2xWSCtnVEp5SXpnUXdrWm4vd015djZ2VmJNUE83eUgybmh3VHV0MUdoenp2Y24vVGJWU1dsekFKNDNIR2N1dkMrekh5b1A5Z2RpYnE2dWtnOEhpOVo5QmdKWmo3YkYzdVZVbWVrVXFsM2tEdWZCSURUZ3U1dVFvZ2pwWlI3Nk9mNzdscmsvcGJydXZmNFphU1VNNW01UmI5ajV6aU9VMVM4VTByTlRxVlNMVnE4OE1XWmFnREZYT3pDNytyOG1FZUxLNmNHdHZXZ05DcDhNZGl5ckVIZnEyVlp0L3J2bGdMTUpLTHd0YkpiQWJIeVZRQTcrUXVyVnEzNmVYVjF0UTBnUVVRMzFkZlhiN2NXNHM3c0IrMUswOUxTc2p5WlRINUxDQUZtemhMUkRXT29iOFp3MlNFTDBGQnNnMzdQRG5JMVZFck45RHp2WmVTKzR6MkZFTDhFOEY4QXp3RzRMWlBKRE9sblJpS1I3eEtSY1RmNUJHQ0VqQkJFVkRZS2hkNG5GbFNJd3pCellSdHRnMkVqNFlJTExsQTMzbmhqcDU1MW1paUUyUGEyMjI3YlJNK3lyWThRZ0N1UXV6K1hEd3dNbktrRDJ6MERvSXVaRndCNEtGK1k2SXVCbCsvOXpQeEVzREptZmtZSWNiSDI1MGRndnlNQkhHbFoxaXQrNTRTWkhXWitlRWlEaUtxSjZGSmRaandGb0FVQTdtVG1wNE51RjdadFh3cmdLOGgxVUEvVFFkR0EzQXpqamtUME53QVRwWlEyZ01PS0JTRE1aREk5TFMwdCtRRzBsREkvcUxFc2EzVndjSjFNSm51THViaVVRbE5UMHhjQ3M5UitYSlB2Ni84ZEJYem9md0xnS1QvR2dEN3ZDNGpJTittTngrUHhMUUFzS1hDNEFjZHh0ZytjMTViYXZQM2N3UHRobDdLeXNsK09FRkFhQUpwOFY1d0MxNVB2UXowa05vU09FK0IzbGw5MlhUZHNPZVRqaFVXTU1NejhndXU2WHdxY2o2MW5WWWVGbVRjam9pOEZWbG4rZ0MwV2l4V01kUkhFY1p4M0FOd3FwZlIvTnlpbDBxbFVLaVdsL0h5Z2FNRVp2YldFYUdwcW1nb0E2WFI2NlZqY3ZLU1VrL1NnSjQvbmVXZGJsdlVHTTU5RFJMc3o4ek9SU01SM2hXQm12b3VJZmdQZ0hRQ1dsSEpMNUFZekg3UzJ0ZzRRMGErMElKY1hPSmg1bVQ1T2ZwMjI2dmhzNk5xWkVXcGlONEJDUXNZenpEekUzTDBJWDlmV1RrUG83dTYrTEI2UHp3YndpdWQ1WjlpMjNVUkVVNldVNGFKUmZSNmYwcTVhZzJEbUZ3c00yajFtWHBONE9TOFVXUGZYVkNxVnZ5ZWFtcHBxTGNzNlV5OStVd2h4amc1UytUUVJQUVRnQjh5OFpYQndxZ1dEb0JYSTZYcGdPeEIwdGN0bXMrOVlsaFVwSXFqNFdNWDY2RVIwanhZNlBsWm16WnExaVI4ekJjQWJRb2piQTV1M0FuQmE2SGw5SUlBRFY2OWV2V2xsWmVYN3pGeEpSQzNCYTRDWlJTQnUzVkZTeXFPUXUrZS9uVXFsN2hxcFRVVDBaeDBqb1JwQUZrQmZhSHNOTTNmcXo3N3dRTXo4NTRBbGgrczR6cEFMc3hCU3lxY0E3S25iV0V3ZytqR0EyL1RuK3dIc3hzdzNCZ2JXZndTUVpPYkhpR2kyWG5jU2dGK0VLMnB0YmUyWFVsNEs0R29BVzhaaXNaTUFYRlpLV3d2UjFOVDBLU0xhQWJudi9ocmt2aGZmVW5TdWZ2Nk9POHpjNGx2dUNDSGVGRUwwNmZVLzBXNHFuMmJtZmlMcWpVYWpoYXBvVlVyNXJrc21FT2hHekNkZXlDQ2lpa1Fpc1MrQXZZaG90QUtHd1dEUVJDS1J0NVJTSCtnWnJLMDl6MXR2aFF3cDVaa0JFOUsvUktQUmJZam9DajNUc2dVUm5lQTR6cjErZVQxQWJFRHVSZnFRNjdyL1Y2RE9pNHNkajRqOEdaWWxtVXpteDJWbFpYM2gyVllwWlZ3SEhrVWgwMDRwWlFXQW81aFpyWXZzRllHMnppR2lYUUhzS3FYc2RCem5ZcjMrSWdCSDZlL25GMDFOVFhlbTArbjJXYk5tYldKWjF0M2FDZ0hNL0cvWGRRdUtHTWgxU2phdHI2OFB2bnVDbmZsTjYrdnJnK2IyYXhKZkFKWmwrYUlGUE05N3JLbXBxWmFadjZIN3pZK0d5eGZLUnNQTXp3VTY1NW11cnE1M1N6bTI3aEQrU2tyNUNETS82SXNaUlBUOUF3NDQ0THo1OCtlWE9nTzRRVUZFS2NkeDhqUC9hMkFoa1I4Z2VwN1hodHh2VVJYNExkYVprRkZmWDcrcDc3OWZYMThmbnpkdlh2ZklldzJHbWY5RVJFY0UxMWxXN2xMM3owSFBQdnFmQ2NCcy9UZUl5c3JLeHBrelp6NnFuMC92YVNIVzMrOExTcWxkdEhYQTJ1QjNydXVXRkNmQXR1MFhpODNFTGxpd0lGdGZYNytQUDNzc3BmeVJMNFFXZ29ocWk4U2J1VTZMcTNtWU9ldTY3cG5oZ3RyNjRDdEtxVjFTcWRTZmd0dWtsSjlic1dKRmUraStld3pBS21ZK2hJaisxdGpZZUh3a0Vta0ZzRE16djZ1VU9sbkhFcGdFWUQ5bXZseG5TVGlNbVI4aG92LzVNVHdzeTNwWGk3ZVhCTDZmSTRsb0N3QVp4M0V1Q2JYbkh3VXMrNzZnaFNHbDIvYmZJbC9YdVBSVkk1SElTVVMwaVY2OE5DUld2dy9nWG1hZVRFUjc2M1hQQVZqUzA5UHpZV1ZscFgrTkR3U0V3UXB0aGRUdngwRFNZZ2NWY2djZ292MXQyNTRTbkRoMEhPY1VmT1FlOVZXbDFNbXBWT29CSFlCNERvQXZNZlBQVXFuVWYveDlwSlJuNnlDMFFFNlErS2NXYW92eEw4ZHhmUEU2Zis4RlhjTkNYQllXRzRqb09BREhoZGJ0QStEdFlZNEw1SVRNRzZxcXFpNGdvczJKNkNkMWRYVlhGTElLTEFVaGhPOVcwaGFJMjdTUC9uL2RXT3JVRXozNTl6Z3o3MEZFaitqUDd4SFJkcVhXMWRYVjVaL1hINFVRUTU0dElYSDJDQUJIaE12NCtERjRtUGx1QUVPQ0poczJEajVSUXNiV1cyOWR3Y3hXU0RGdUlxSW01QzcyQjRub2lhSVZHQXlHb3F4ZXZYcHhlWG41Y2dEVGlHZ3JadDZraE4zR2k3eWZOUkdkcVUySWdkeHo0R1lpV3RMVTFMUy92MDRJc1ZPZy9BN0JiUUM4ZERyOWlPTTRleURYb2Jvdk1QdDVISUMvQTNpTW1XdUk2UHRsWldWSE1QTUZVc3JiTTVuTVJYNDJpV3cyUzM1OGlrSXVPY3c4aDRobUV4R3FxcXIyQVRDU1QvdVl5R2F6UjBTajBXY0FUR2JtWDltMi9ienJ1dmM0anJQQ3R1M3ppZWhhQU1zdHk5cXVycTd1clVnazR2cENEVFBmNUxydXI0ZXIzN0tzTi8wQlhRRmVLaThmNHIwM1pqS1p6Tm1lNTUwTEFQUG16VnNtcFl6MjlmVnRqbHo4Z3VHRUJKbzVjK1ltNWVYbGUrb282MER1L0s0ZmJRZlNjWnpIYmR1K0FvQWZqS3hpd29RSlh3WHd3REM3ZmRudkdESnpwMjlHclRQS0xDT2lva0pSaVV5MmJYdElCb3Z1N3U2RFJsT0psUEp6QUFabE9XSG1wRGFiOXdsMmNKK1hVbkxJU3ZFd0tlVXNBUDkwSE9jQWZDVGFmVWZ2ODdvZmV5RmdUcjdLY1J3dk9MTnJXZGJrK3ZyNlZVcXBpY0Vna3VNRkVmVVZNVmVQRm9tMWtOR0RQSjl5LzdzVFFxakt5a3IvM0xzQ1FWQ1J5V1JXdHJTMDNDK2w5T09TdkFIQXQxeTVNSkIxcEo2SThvTEFNR25odnlXbDNMM0UwOXg4dUkwaEUvaHdCamtmZjFDdUNvbFQrbnNjUWwxZFhia09ETG1UbitFaEhvL2ZEZUJnSVlScWFtcTZPNURta1pqNXdVbVRKazIyYmZ0SklqclljWnhWanVOY2JOdjJlVVNVQk5CZ1dkWlZlaUJkUlVSVnJ1dmVhdHYyUkNKNkNzQWRSTFE5Y3QvbDFkcnQ3Z0lpT3RDMzdOS3BrcjhVYVB1bjlNY3kyN2IvR0ZqL0gvOWFEMkxiOXBNQTlnTFFXOGlsSk1DbHpCeDJNU3FGRlNXVUdZNURvUzBHUGM5ckNXN1EyWUVPc1czN3h3RDJSazRndUN5VlN0MGFER3FkeldiM2JHNXVmbEhmNCs5cFM0cXZPNDd6VCtUdS9WZjh3SkJoaU9qa1F1dHQyejdhai9GQ1JKZHA4ZmliZnQ5ZUNQRkFNcG5jTjVWS3ZkTFkyTGdqZ0VHeFhvUVF4YktpK0VnL3FLaDJtUVVLVzJRMDZNREhsK3ZZUTdmcWZYNUFSSWNEV0tuanh4UjE5VkZLclE2bkxXNXRiZTIzYmZ0ZTNaL1lZc3FVS1Y4ZUxuUGFjQkRSM1gxOWZmSCsvdjc4dmRiZjMvOTU2SGZrV09wMEhHZlFmZHZVMUtRQ29tM2ZTTlovUmRyNWV0QXdsWWltK2xsS0FId1F0aG9qb21nbzJPcHJnVGd5QzBkN2ZNT0d3MFl0Wk5UVzFrN1M1bHE3TWZQdUFIWWNJZWpMYXFYVS9VS0k1ZjRLcFZRWkVlMUlSS1VFWmpyQ3o0RGd3OHpMS3lzcjEycWViSU5oZmFTL3YvL2RXQ3oyZ1g3Sng1bTVjQ1RMOVFCbWJpYWlBd3RzV3BMTlprK0xScU4zV0paVmFEc0FmTSt5TEQvdUFuVDY1bkxrWEN3MkQwYkJaK1o5WGRlZDA5alllSkJsV1ljNWp0TnEyL2FWZWticDI5Rm85SmQrV2MvejhrSUdNeGN5WlErS0tUc1YyTDVXYUdscGVkTzI3VzhSMFgxRTlLNDIxL1dQbTJYbXQ0bm9oaFVyVnZ4endZSUZubTNiRHdHb1krYlc3dTd1NzZ5cmRvMkZscGFXNWNGbDdUSXk3T3k2YmRzUEZnZ291QUxBTmQzZDNjTm1RU2lHVXVwT3k3THlVZFcxTUZaVXlBaDJERzM3bzRuQ1RDYlRrMDZuUjkwcExFRFpjRUVUUjRGVklKNU1aQmlUK0VvTW5WWHp5K2ZkVHBqNWZEOTRIQkc5a2t3bWp3UlF4c3hmMC9zT3NZb1JRdng3YllwZ2E0cmpPTi94eFpnWk0yWk1yS3lzbkNtRWFHTG1nN1VMNndvZGJQZ1BBQ3htdnQ1MTNSOUNaMU9vckt4OFZjZFpXYnBpeFlxSEprMmE1UGN0M2drTENGTEt2YlhiZzUreWRSVnkxMDRtTU9qcUsvSGFTYTdKZWR1MnZUY1IzUnhhL2NOQ0EzY01qcEh4TDhkeHZscnFjZUx4K0R3QSt3TlFUVTFOMTZYVDZYYWwxSU5DaUlOemw0TTR6SjhWVHlhVHV4T1IvNTF0NlErc2JOcytHb0QvREY1RVJLY3g4eVBCNCtoWVFZLzRMalRNZkt0U3lyVXN5M2NQYkowMWE5WlhXbHBhbGhQUi9rV0Nwa1pEZy9CVVUxUFRBNVpsZlZjcHRUQ1ZTcFVTbHlDby9zNGxvcWU3dXJwR3BkaXRTYXdNblVyWXQySjhycm01dVdCV01qMWc5ejkvSmVCaUFlU3NPaDZVVW1hWk9VcEUxYnFjNDZkaFplWXRSdU5PcUxNYytaWUVQVVEwV3ovbjB6cW16SzhCeElub2ZpbmxsN3E2dXQ2YU1tWEs2Z0l1VVlQRTRaRExTL0Q4UktETW9BRzg0emhQNjJ3YjAzWEduY3QxTUZ2ZnltcWlFT0syY0oxQmhCQ0l4V0puaE9ORTZMUzF4K2sySERoV0lVTy9Xd2ExZXl3V1o4TkJSSG1YT21iT2FwZWtZWWxHbzZ1RExwMk80elQ2bjdWZy9yaS9ySlE2TzVQSjNPSEhtcEpTYnNyTXR4UFJqdnFZTjd1dXUwNG1lZ3pySHh1MWtOSGYzejhoRm92OUJzT2tFZ3pSMTluWitTU0FKd0dncHFabVB5SzZsb2cyNit2cisrblNwVXVMM3V6YmJiZmQ1a3FwaThMSFllWnIzbmpqalhWaUFtNHdyRStjZXVxcC9UZmRkTlByMm1RelNrU2YwUy9mOVE0aWNwUlNIekR6RXN1eWZoL3dlVDJocGFWbGVRRS83cEt3TE91d2tMbjRjYlp0ZitpNjdtbmF6YUFCUUszZWZFMDJtMTFwMi9iUnJ1dmVISXZGZ2crUElUUHVTcW5UTGN1NlVvc2NJOFZZR0JPQkZJSC9WRW9keGN5UFdaYTEzRi9QekNmcldjWnpxNnVyYjlBcDI2NEM4Q3dSUFJlUHg4djk3NjY5dmIyL3JhMXRTTWVabWY4Y25Ia21vc01BVE5IYmJ0UXp0ejd4UUNkd1BQazdNejg1Vm5OZXk3TGVESzNhZEt3Tm1UbHo1dVNLaW9yUHVLNzd6N0hXc1M1ZzV2OGJpOUFUajhmZkNXWU9zRzM3aUlEMXlyOEJ0QVpTQmZySEd1SVd0RDR4WThhTWlWVlZWZlY2ZG40dkhlZ3dDbTBKd2N4LzBBT3NMUU1EMVB3OVgxRlJjVkVnV094UDU4K2YzNU5NSnFkcVM1TWxBSFlOSGkrYnpTNkxSQ0pQNitmWXVENXpsVktWbG1XRlRjbXJrWHUrN0t5VUNxZW85TTkvMDJReU9jajhXd2p4Uk5BRnp4OVk1cndSMkNXaS9iVm9jUXFBTTRRUTh3RDRzK3ZTRnpLSTZJQkFIYjZBS0FDY29sMGJQbVRtUTFPcFZGZEFPS3l5YmZzSkFIdjcvVHBtdnBLSUxreW4wKy9idG4yRFR0MjVjelFhL1pzT1Fsdk1DbWNRek54cldkWmRBTDRzaEhoSFNubDdlRmE3d0Q1UnZ4MmU1MlV0eTNvNEhvOFhkZFVwaEZMcUpBRFhsbEIwQ0o3bjdXSlpsa0R1TzN5bVVCbWQvU0lmMjRhSVRwUlNidC9mM3g4Y1ZHNkJvWDN5cVlGOUJ0VXBBdVpWU3FuRGhCRDMrVlpxT3Vqb0dYb2lRUUU0Vmx1R0FEbFh3ZDlJS2JjQmNKTE9aSFJQUEI3Zmg1bWJ0Y1VHKzhmdTYrdmJNamlndDIzNzJrQThwU0I1UVNtYnplYXRoYlJiMDVWNjhoUTZUc2FXUk5TaWhjcXJTOGxDQkdCQUtUWEUya1piQmZuc0VkNitQaEYwMHllaTJtZzBXb3FMOFE4QVhCTmVPV1BHakJnelg2dURUUU81YStMNnNyS3k2NlNVcndONFFRdmNtMEVMalIwZEhldlZoSXBoM2JKUkN4bExsaXg1TjVGSWNDRlZ0UkMrdWU3VXFWT25sSmVYWHdyZ1dIOWJlWG41OVRvQVcwR1krWklDTVRiNkFWeFpaQmVEWWFPRG1mOFQ2UFNWYXA3OHNlTTR6dnNBN3BKU2ZzOFhNUUQ4TVpWS1BZQmNwKzM3ekZ3d2lGMllTQ1Npa092RVdZVlMwUkhScWJadEs5ZDF6OURCSktIVEMvNHJFb204RG1CU01wbDhEa0RRckhPSVJVWTZuWDdFeis2eExxaXZyNThTREJoWXlEdy8rQ2d0TURnZlJDS1IrSGxiVzl1UWRJM1piUGFzb0tXRW5sR2JvdXMvSnhoc0xKbE03dkZ4Q3hsRTlLQ2U4WTh6ODI1Nkp0Y21JdHUyN1QvNXMrYWpvYSt2THhxeUZoaDIwQ0tsakdzM2t0cGdab05ZTFBhSzdyQjVhL0wrSHEzZmNpa1EwWm54ZUh4STNJTFJ3c3d2Q3lIZTFxa0JrMEtJZnN1eUx0VlpWTHAxM0lBN2s4bmtIdG9kdEdnOEI4L3pocjFHZld6Yi9nNFIvYm5RdHZMeThxNmdzS21VT2lxVlN0MWFxR3pndUo0T0pweFBlOG5NQy9VeGRpYWkwd0djN0lzYmV2dWIwRUlWRVgxRlo4RjUxbkdjVzVIN2ZoY0RlSmlaRjRXN05NM056ZitUVXU2dGxEbzVrOGs4RVJBazgvVUxJY29ENjRzS2pVcXBvNFFRTGVIMVJYZ2F3R2VDS3l6TDZnYndBRE4vU3NmYXljUE1Sd3Noemk1UzEyZUVFTTNCRlo3bmZSTkEzZ1dLbWN2MXVYc0RBd08zeFdLeHl3QlVFZEh4RFEwTnYzQWM1dzNidGwvUkZtdDdTaW0zY2h4blNTalFxUi83U09tWjdYdUo2RnpYZFo5cmJHemNMU0NxVlFkaVBhd0VjSkxydXJkSktWKzNiZnNGQUg5aDVyMTBZTldEYmR1K3dIWGRFd0djNkI5SVNua2hnSzEwMnM5Qnp3MmQ1ZXJMV3N6Nm5oOTh1aGpCdUJCRTlMRlBqZ2toOHRrNG1MbWdOUVl6WDFCZ011OGJzVmhzTXdBVG1QbnpBTTRpb2tQMHRuN1A4M2FOUkNLK20wQVpNLytXaVA3WDNkM3RJdmUrRUw2bG9oQ2l4M0djVmI3WXhNemJBSmlnai9rUU14OHpmZnIwdS8zcjJyYnRXNW41ZFNKNlRqL0w1enFPMDJ2YjlzMDZTT2kxMm1XaFpKZzVFaENVOHM5eDM2MUpsN21RaU9ib2U5VzNPdm1CSHF5UFZQL2g2WFI2U0RCd2JZbmxseG5XcFdzOVlOUkN2WGJWR29JT2Ryby9nTjJaT1FuZ01DTHlVemJ2cUMzdGc3dnNrVWdrL2xKYlcvdU1VdXFaMWF0WFA3ZXU0b2taMWc4MmFpRURRSWFJbHZtZDVDSXNBWEFMTXorY3lXUWVSODdFYVZkbVBqcDBjelRXMU5TYzFkblorYnR3QmRPbVRUczRITVFIdVE3Qjd6czdPOWVMQ01BR3c4ZEVQaG84RWEyelFmZmFJSmxNN2hISVhQSVNFWjJseldjdEhZQ3JKSDlSUHppVlV1b1lJVVI0dG5HUlRsbjVWZHUyRHdYZ20wNy9UdWVWcnlRaVFVUVg2NEdOejhjZWtYNWRFdlFyamthalZhR0krM25GeFBPOHl1QmdpNWtyOERFVERNbzNmZnIwYUcxdDdjOTByQUVRMGNsTlRVMHQ2WFI2U0h5SjRZakZZb01HZThObGhmQjl4d3ZGRVFuTU9xM1I5VUZFWE1odk9lakxYaUl2QTloQmYxNmdNeGYwQVhocGhQMnFmVDk0WnY0L0lyck9GM2RTcWRSL1pzMmF0YTlTYXRYY3VYUGZEWlFIY3Y3WFcxdVd0WWlJd013dk9ZNHpKSHZMZUROLy92d2UyN2Ivd015bkVGR0w1M21PSHB5b1pES1pGRUo4TzVDdGc0bW9WUWh4QXdEY2UrKzlId0RZZmViTW1aTmpzVmk1SC9oWEI2TDlCbkxYeVBmQ3gxUks3U0NFdUNJV2l4VWNFSWRuZ3hPSnhFL2EydHFHQkMwV1FwVHMwMjdidGdvUFhCM0hlUTdBUVRwZXhDMUZkeTVnZGVZM05maE1DRkdCM0hlV21UdDM3b2UyYmQrbGd5aE9MQ3NyTzBwbmRtZ0ZzSk4rNERRME5EVGM2c2RzWU9iVjNkM2RDNkJuZXZVMWVBY3pIeStsL0p2dm51T2pzMGM1U3FtejB1bjBRbjF2Sm9ob2UyYnVZdVpqZFl5WVhpSWFjczB6YzVLSVBrdEVQV0dSV3dpUjB1TFdOR1krdTY2dWJ0aEFpOHc4TVJqb2xwblBHdTJBVVFoUktGdExTZWdncDM1YnVzTGJ0UWcwS0dDbWZxL0dtUGs0SWpwSVcya0NRSWFaUHlDaXpTT1J5SjhkeDlsUHV3L01JYUl2QU9pTHgrTVBBM2hPQ0JFVSsvYVdVbFl3c3g5anh0WHY2dU1CZkpPSVVGTlRjMWhiVzl1dFRVMU5Yd2dFMjAweDgwOWQxMzBBdVh2cElZVGM5cUxSYUVKS3VVbmdXSGtMZ0JCNTY3R2VucDZnSU8wUGxuOUpSUGN4ODNFQUx0WVdJNzRJOUgybFZFRVJTQWlSR3VhNmgrTTR2VkxLSGkzY3JlOUN4bGIrQjJaZVhDaXd0bWFtSHp5MmdKQWhiTnQrU2w4elZTaGlXYThuejVZQjJGZTdUTzZrM1hDUEZrS2d1cm82VlN3ZHVHSGpZR01YTXFCVlROOXNtUUZ3eU1kdFFVZEhSekJkRmhZdVhQaHdiVzN0cFFBR3pSd1EwVzhTaVVSSFIwZEhQZ1hkMWx0dnZYM1k3Rld6cExlM3QyZ1dBNE5oWTZTeXN2TDUzdDc4dTMxbkthVlZMQTNuZUpKTUpuZlFac2psK0NpUTFESUFGY3g4Z1k2bVhtem1jQkR4ZVB3QkFBY0pJYzdUcTFiNG5SMW12Z1JBbmVkNVA0eEVJZy9xZFcvMzkvZGZQbS9ldk5XMmJkOEk0RVFpT29TWm5VQTJnNDlkeU9qdjcrOHRMeThmTWdqU0lzU3hmbGFTRUI0ejMwQkVRL0xhQjAxaFErbXBGNGZMK29TdFBOWWs5ZXJhb0sydExkUFcxdlpMS2VXeEFCTEl0ZkdBNEN4eGlReUtyQjRNdWhoR3p4Z3VDd1MyREtLMFdmWHpvenorT2tIN05MK0IzS0FncTMrdkpVcXBFNGZiVHdpeEc0Qy9JUGRkTEhNY0o1OGV6N2J0STdTd2dVSXVYc0ZBb1VUMG1WQmcwU0hvTEFZM0RWZG1ZR0JnWGl3VzJ5ZXdhaEtBZS9UblE0SkJFb1VRcnc1WFY2QnR2M01jNTlkaDZ5b2h4THhNSnJPOVpWa3ppV2gzSXZwZzFhcFZGN2EydGc0NkR5MW9mT3d3ODRrNjAwd3BqR28yTzRqT0xQSktlTDFPd1Zvb2V3a0NndFlxWGNkZkxjdmdoSTVkQUFBZ0FFbEVRVlR5SjVHK0ErQnFwZFI5bG1YNXJuZUhSS1BSdHdOdVBmTVhMRmpRaDV5bHpUUm1ma0pueUNqV3pEOG9wZTREc0lPVWNrZWQzY1FQd250L0twVjYxcmJ0SHhMUkFzZHhYaTBRL05ZWFlxdEMxK2tKanVQY0thVzhBY0NGUlBTcHpUYmJiSWc0RlNJdldnZ2hkdlE4NzcyUjR2MFVZR295bWR3c21NRmpGT1JmN0VLSUlXbVVMY3M2V0grUnoybFhLaERSYjdWbHptL3hrV2pYQXVDUFJIU2hqdld5cjVTeVdXY3A4a1dMZjJXejJkVjZuNkFseWprSXZSZGMxNzF1MXF4WmQwYWowVVVBcW9VUXZ6cmdnQU9hTGN2Szk3ODl6L3R0T3AwdTZBNFRhUC9Ud2VYZ01YUnE0SVJTYWhkL2tNN003L25YRW5MWDRzMUU5TVRBd01EdFpXVmx6Mm9Yek5NQmZOdFA1YzdNbHdzaGlxVldIeW5lQ1FXQ0JCY01nTHUrUUVSZkRpek9kVjIzV0pEV0Z3RnNBbTF0RTlxc2RIcm9ZTER0ZmkyZXQybjMxQ2lBdHpLWnpLMUtxV1hSYVBRQUlxb25vb08xYTU2WHpXYkhGTmZLc09HdzBRc1p6UHlVam5ueDk0R0JnWWRpc2RqelFiV3dHTzN0N1Q5UEpCSmYxMm1GZ0krQy9OdzZiZHEwbm9VTEY5NVhVMU96SlJIZFMwUkRWSEhQODA1NTk5MTNOOHIwZWdaRE1XYlBucjFxenB3NXIrbWdTeFdISEhMSXJvN2pqS1hUdEU0UlFud3hOUHZtUjhPR25pa2F0U1VBTTJmMUxQRU5SSFFHY3MrTTFZN2p6TlpaSzN3TGxmdkx5OHNQdG0xN0U1MnBBTHJzcndKMWpUa28yMWpSYVFsUEQ2MG0yN2F2S3lKaUFJQ2xaMHdPY1J4bnVJajRzV0cyYlFqa1kzb01NMU5Ya0thbXB2MkpLT2l6KzdDZjVhQVlSTFJJZCtTZVorWjlmQ0dvdjc5L203bHo1eGExNWhnclVzb3RtZmtRcGRUOWE2RzY3WVFRd3c0YWhrTkhueSthWGpJMDZCUWpwYUxVOVEyTHR2eklCeEN0cjYrZjRyc0M5ZlgxUFRYRzlLdG4yN1k5cEczTWpFZ2s0Z2ZzMngwQXFxcXF5bTNiSGk0bytNT3U2dzRiKzRLWlZ6RHpJTUdHaUtZRDJFVnZueDlNOVZnc2dQbGFDZ0s3VGlDaXJmWC9ENUJ6dDN0Q1N0bWhyU1ErMzlUVTlJWGUzdDdIcXFxcVZ1dkFzbE9KcU43Zlh5bVZkNWxwYm01K1RVcjVvQitjV1ErU0h0WDl2UDMxY2M0SWlDTEJhKzlOSWNSOTBBUHBRQk9IQkw4TmtGK3ZsSW9pMTArOHdiS3M4d0cwRnhLREM1Mjc1dTVoTWo4TkN6TXZCRkF6MnYyVVV1OEYwbGx1VWFDSUg0enhGdis2VmtyeDZ0V3JyNmlxcWpxVWlCNWg1cnYwZGU5cXE1TFhpV2lIWUdwTVpyN0RkZDNEQS9WV0R6bFNpSmFXbHVXMmJmOVp2M2RySmsyYTlDQ0FMK242SGh0SnhCZ0pJcm9Td0pWQmQwc2kra2V3VENxVmF0RXBYeDhtb2svcGM1dWpMYVg4Zlg2dGxDcG82U21FK05Od1lvYVVjbkpBNkNsbzFiRSswTkRRTUlHWjl3N2NLMFg3ZjM3d1o4MFFRVHFielY1aldWYVBFT0pOQUc5MGQzZS82Y2Vwc20zN2RDSzZITG52N2ttZDJTcWwvNFNVY2krbFZFMXpjL1AvMXY1Wkd0WW5Obm9oSXh6MHBiYTJ0bmpod1dTeTJlemhrVWprMlVEZWJBQW9zeXlySlpGSS9CakF5WDZVM0JEWExseTRzTG5BZW9OaG80ZUludmJUWURIekY0ZDdrWTBYSzFhc3VIdml4SW1ydFNuaTYzcFd1WjJaRitsZ1l2bm5Cak5mQldEUXdGTUg5UHhOYU4zejJyejA0VkF3VGdyRzEvSHp5UmVZQmR3MjhMbWdrQ0dsbk5UZjM2LzhhTjNya29hR2hnbXhXT3dtQUg3MDhNZjE3SWsvTVBxVGpzVC9WV1orVWtvNTIzR2MveGFxaTVrMzBlZWJZZVp3aEg0NzRESnhjeWgrUk54UG9iZXVrVkorRTBDRjR6anpmSE4rZkpUWklKOE9zTVFNVnI0NDhGMGlPaThRSUc0Z0VNaXlLS3RXcmRxdnRiVjFwVDUrdHk4RU1YT3hsSm1qUnM4ZU4raVVnVjhrSXJJc2ErOWdHZTNlTUZFcHRjSWZuSXlFTmlYK3lRakZQazFFRnhUWjluZ0JWMDBMd0xtK1ZVeVI0MTVKUkVPZU5jdzhYaW5WVHl0aVZUTUU3VDgvSE5tUmduaW0wK20zZzNHOWtMdDJMaUdpWFpBYlZGNWFva3RVM3pCdUgyRXFTcGhKTGdnUnRmbVpLa0lVRko2a2xGc0dMQnp5WWg0ei8wM2ZZeEJDbk5EYTJucXlsRElKNEdYSGNkNlNVaTdSUlQybDFEMmhhaTloNW5LZG52SHhsU3RYM3JwczJiS0IydHJhbzVsNVZ5S2FGWGd1M3dmZ0ZhWFVRaUhFN1FCMlRpYVROY2hsRTNwSVA1TzdtUGxQZ1hNOFhGdFNaSmo1K2tDYlgwWHVOMXZjMk5qNGhlYm01aGNBc0czYkJZTVU2dmhGV3hiYTluR2hsSG9yTUNBZklvUjBkSFE4V1Z0Yis0N25lWGRabG5XWnY3NjF0YlUvbVV5ZUJ1QUlJbnBVdjBOZTlEenZHTXV5Z3UrQ1J3QjhUY2NsRWI0bGsyVlpRWGVQL1pWU3IxcVc5VUp3OGdFQWVudDdmMVZSVVhHRWRydndSUXhXU3YyNGxQTmo1djJaT1N6R2J5YUVHQ0x1TXZNeUl2cXZsUEpHblhMODBSa3paa3lJeFdMMys0RTRpZWhVeDNGV05EWTJab1FRM2RveS9DSWlXbGJFNHRKMzF5a1lQMGtwTlMwZ3BDd3BWR1o5b0t5czdBZkJqRERaYkhhNFowNWV5RkJLRFpyNGxWSzJNZk5ub2NWZkFKZ3laVXJRSFNpdjVGbVdkWjl0MjRNczM1Z1pSQVJ0OVhxajY3b25oZW92QzJaSk1XeTRiUFJDeHBxd2FOR2lOeE9KUkFNenp5ZWlZS1MycUZab2g4RE16ekh6T3Nrb1lEQnNJRHdMNEVqOWVVOEExNDlRL21Obi92ejVQWTJOalorUFJDS2R3WmRaZlgxOVpWbFoyVlpCa1VFcGRWczZuWDR5dUg5ZFhWMTVQQjRmSkdRdzgwc0FDZ1VCWkFCT1NOeFlwVHZqNytrT3pFeHRkdXRiTGd3SlRwVk1KazlrNXF0aXNSamJ0djE5MTNWdlhLTXZZUmlrbEh2cTJWMC96ZXRyMld4MlZpUVN5YWNNSmFLTGRJeVA0N1JmNmxPMmJmK2lvNlBqaW1BUXdSa3paa3dNK01FdTFRSHhnc2Y2a2g4VWtZak9MaERzODJNUk1yU2wzbzFTeXFYNkd1N1Y1Nzlib0V4M09KMWdnRElwNVJ2SW5lY0VBSnVIeENyRnpOOTFYYmR0cEliNElzWmFoZ0xCSjdjSXhiUHhQMDRLN2xCWldWa0hJRjFnOXZmOW9nZkpkV0puRmR1TzNQZFRORzZWZGpQSnU1cm9BZXd0dm9qQnpNOFMwUjc2ODl0KzVnRWkrcTVTNmtlcFZPcjZRc0Z5eDRGYkFBd0tHS3pkWWc0cDVPT3U0NTZraVdpSVNLbVVlblpkTnpiQVVZN2pGQTJnR3NTMjdSZDFzTXNoQ0NHQ1ZsaGw0ZTJoMmRnUjBjS0MvN2tqVU0rdEFNNWo1djh3Y3h0eTE5RDl5RmxEZlNIZy92Sm9jM1B6b05sd3gzRWV0bTM3VkNJNkVzQ1JsWldWRDh5ZlA3K3pyYTN0cjhoZGU5c0ZoSXlyL0hyMXR0OElJVTVBYmlEMU9RQXZPbzZ6SkJnTHc3YnRPbTJ4TzFBc1NIQnpjL09JYm1KbFpXVkJWNStuTTVuTVljakZkWWd3YzhvUHFzck12ODFtczljaUY0VDZaQ0k2azVtdnltYXpmaVlYQ0NIRzVMYlkzTno4a3BUeVhRQmJNSE5kMkcyMHJhMHRVMXRiK3dPbDFLcmc4MEpLK1dVQS85VHRZMmEram9ndXR5ekxDUVd2dmtqUDVHK2JUQ2J0VkNwMWw5NW5hLzkzejJReXI5MTk5OTJMQzhWbXVmZmVlejlJSnBQbkUxRSs4d1VSM1YycU5VWi9mLy96aFN5dmJOdStVZ3RvR1IwTHBYTmdZQ0FkaThXK0ErQllJanBXU3JtVDd1Y0VYU3BXSWZjN3ZLbmZKd2N4OHpJQTV6SnpVYUZRS1ZWd01pQm9LYVdVS3VxYU9KNDBOalp1UmtSNTRZaVpIOU9XRXNYSVd6ZDZuamZvbmNmTXNaQkw2bkJFUjNCRHpZdWp5V1R5VkNIRUJjdzhRVW81Yi9YcTFTZU1seHVmWWUxZ2hJd1I2T2pvZUt5MnR2WUk3YjgrN013RE15L01ack16RnkxYXRGNzdyeGtNNnhJaHhETktLZGJaOHRiTE5HSEpaSElubmNLd3liYnRXaDI4YlFjOW1QMnZEaGczS2p6UHU2MjV1ZmsxMjdZUENXL0xack4vc2l6ckdTSEUvd0IwaE4wd3RFOTZwVGFMTEJqQld3aHhhdUNaZlFxQXRTNWtORFEwYkJHTHhjNEQ4SVBBOCs1RkFOOXNibTVlRm81WjRMcnVDYlp0cjlhV0dSVkVkR2x0YmUzeGlVVGlmTmQxVXdCVWRYWDFEb0ZkUmpXVEZJeUg4REV5VlZzcWhPbG01a05kMXkwNGlOZis0ZHVoY0d5UEpRQ09jMTMzNyt1aXdRR0t1a1JKS1E4TVprQUo4UWFBK3pPWnpPdlI2RWNUNHA3bkxRNkxHRHJqeVZNRjZ2Q1pCT0N3NFJwWmFpSXgyN2FQWXViZkJ5d2JIdFZXTG41Nnd2ZXoyZXkzSXBISVB3Qk1Ga0pjSTZVOFhpbjFjejhEMFhpaHN4UUJPcU9SVW1vV0VaM3JpeGpNM085MzFMV0lHUUd3bjFMcTEwS0lHMG9OdUxtMlVVb055bTR5QWdYN1JGTEtUWm41NTRIZitSZFN5cmxLcWR0MERJV1N5R2F6d1VIZDEvMFBSUFJLWFYxZE9YTEJsaGZHNC9GZHU3dTdYNGNXbWZPTkV5TG9zakRQM3hhUHg5WEhQUnM3ZmZyMGFFMU5UWTBRWWp1bDFIWkNpQWVDc1dFUVNDOGJob2lDd1FvZjE0TkRrbExlRU1nTTAreTY3czhBc1A3OUR0TDduaEtKUkR6WGRYOFV0RFFiQTZ5dGdvN1N3dlNlb1hnZ2NCeW5lZGFzV1p1RTF2MUxTdm1tRnUzUDFKWWwvOUlXRmJjQU9BcTU2MjR5RWQwUDRGQWl1a2hLT1UrbnBOMGQraDRwS3lzcjZ1SWxwWndPNEp6UTZnYWRUZWFYaGNSTkxZSUNPVkZvWXFHWUl6cDEraEJzMi82cy9ybFdPWTd6dXBUUzA4ZkkzeE5TeXQwQi9BM0F6dmdvV1BOdmRBcjFZRHVxL0dlelpWbmZBdEJlb0szNUZNSkNpSEY5dGhWQ1Nta3g4eTJCdE5IUVFjMExjc0FCQjFRRjMxZEV0RHk0bllqcWxWS0R4RkFoeEpFNjgwc3g5NjBPQUpjcXBSNEpyaFJDTEVmdU41dEJSRmNBNk5NQlFoc3JLaXBXQnliZURCc2dSc2dvZ2ZiMjluUWlrYmlrd0VNeVNML25lUWN2V3JSb3Jmc3ZHd3diRWtxcGhUck94S2JNSFAvclgvODY5WVFUVGxpdjdnc2kraGtSSFkzQW9DclFoK3p4VFJtUjYxZzhMS1VjY1lhM3VibDVTTzUzbjVhV2xqY0JGRTBGNlRqTy9Ycm14Mi9Ma0k2TURueDFidUR6V2tVTE1IY0d6VDExVU12RGRMcmFRckRydWorMGJmc05JdnFkbnZuNERCSGRaZHYyWTY3cjdoY2FnSXpLWDFVSXNXLytRTUVmWmQxd0x6T2ZTMFNINnJSK2NlMjMvaXFBZTdMWjdKL0NNN3JEMEt1RmozOER1S2VucCtlV3NhU0EweWw5QzRvUFVzbzRnT3BzTnR2RHpBTkV0RGtSSGVWdkx4Qm41Vlh0MmxLbXQ3OUFSTGNycFZyOG9JdDFkWFdSZVB5amZpZ3p0d2ZFTlEvQVc5bHM5dHFXbHBhaThWQ1krWlgrL3Y1OWltMUhib1o1cGhCaVRyRnpadVpEQVp4SFJKOFAxSHRUZDNmM2ladHV1dWtnYTQ3bTV1WVhHeHNiOTQxRUl2TzA3LzhYaFJEM1N5bWZaK1k1UkhSSDBNcW5GUFRNN0JxTGFNbGtjbGNpK2hhQUk0UVEvc3grUmcveWEzWGFUVER6dHdCY1JrUmJDeUd1QVBCTEthV3JZd2s4cWdkMFJaRlNKb29FeVBRdHFpQ0V1RWhLT1NnR2p1ZDUzOVV1S1FpVUd5N1RTQ2tRTTk5S1JOTUM2ejZ0WitXUGNWMzNqckhVcWQwOGdOejM5ZGw0UEQ3b093bGV0MFVxdUR3ZWoxK3VGNThJWkpES0U0bEVUcEpTNW1kbm1YbTdnQlhJYkQwdzlkazF2SDh5bWR3VndHY0JiQ21FK0ZUQUdxU3F0cmEyMXplSEYwTEE4N3o5cEpRZHZsV0QvZzM5M3l0dk5kSFkyTGhqTU02SDUzbDNTeW5MZExCYy8zNWZBdUFLS2VXK3pGeXBzejM5VlFmWkxDT2kwMjNiM3FLam8rT1lRaWwzUzRXWi8rdy9ZNWo1eExDUVVZeUJnWUd2UlNLUkxZUVF2L0hqanpEemRkM2QzVCtjTW1YSzRWckU4OC9wVUNMYWdabi9DT0FFSXZxS3JxYkRjWnhlblcwbUw3VE5tREVqVmxWVmRRcUFYeFY0VmdvaU9sOUt1WTlTNm94VUtoWE8ycEtQUzJKWlZ2MUlLWEI5dEZEME5iMzR0Qll3NWl1bGJoZENCQzFRZjY5RmpDZTB1OWErQU40am90L3JlM3Q3QUNjdzh6SDZPdnRyVjFmWDNRV090MzNnUGZwRVdBQWJiNlpQbng1bDVwdERhWTRmZEYzM0h1amZxTGUzMS9QalcrajNXdERGMG10dWJoNWtGZUU0VHNmMDZkT2ppVVRpSy9yZVB5S1FnWEtSZnA0Y2h0eTFkRHNSTldxcnZhdUpxSjJJN2dKd1A0Qi9CVVJMMzdyejJMNit2bm5sNWVXZGV0S0MxbERrTTR3alJzZ1lnWnFhbWsySTZEd2lPbVdFb2pITHN0eEVJbkYrUjBlSGEyNEt3eWVWdnI2Ky9sZ3M5aWFBVFlrb0ZvbEVhb00remVzRFJRYlVLd0c4enN3UGhreWgxM29LVUNubDFRRDJBckNDbWZ1SWFKdEE3SW1zVW1xSSs0SGpPT2NsazhtN2xGS3F1Ym01cERnTm82Rzd1L3ZCZUR6K21wNEJVOHg4Q1JIOW9wU3NNNjdyL3FHcHFla0p5N0p1QWZCcGZRNW42ZWRnM2pWa0pCTjVuWDUxbVE2Y3FrSis0YVdLQ0dQQ2Nad3VIU0g5MXlVVTkvZjVJNEEvcnUyMjJMWjlyUjRJYmgyY2ZlcnY3ODhQM3BSUzlVS0l2MFlpUlYvamc2eGZITWZwa0ZKZW82KzduN3F1V3l3bFhoNHQzSXcyZFowWE50Rk9KcFBINkk4RFFnalNzMnBBN25vUHU5SDhqb2grRkZqK1FDbDFaaXFWdWdFNWQ0RkM3WHl4dnI3K2krWGw1VGNBOEFkOXV4SFI1Y3pjQzJEWTFKWnJtNmFtcGk4S0lkS2hBSTNRd3VCcHJ1dStySDlqSVBjZC9GTXB0YnRsV1JmcndMQ1RBSnlnL3dha2xMYzVqak1reFh1QVNUcnJRMUdJYUsvd09zdXloZzJVT2hhU3llUUJvUUdOeitlRUVQL1dBdE9yZWdaMlFBdHUvdURhMGdHRUk4eGNUa1F4cGRSVFd0ajE0OVM4VXlnV3l0cUFpTTRLTFFjL0QvZjlBem1CNGtRQUp4WFpQTWkwU2JzUVBTeWwvS0lXYWZNQ01qT0hnem0rcndkeEw2ZlQ2Y2RzMjc2RGlHWUh0bStsMHg4WHRYWWlvc05yYTJzblRaZ3dJUm5NdGpFYVhOZDlURXI1aUI3RWY3dXBxZWtYNlhSNjRYRDdORFUxZmMyeXJOOEMrR0pnOVRQTS9PaVVLVk11MWlJR2lHaXg2N3FQMjdiOWdyWXkyYXV4c1hFL1BkZ0hFYjBvcFp5cnM2REU5THF2VlZkWEh4ZU1MOFhNYndQNElSSDlOSERNcnhQUmM3WnQzN0Z5NWNydjZzRFdZT2JuaVdoUFhlYjNVc3B2REpjYUd4KzVSTlVGTEE5OEs3dExQYytiRUJReXN0bXN0Q3pyUWlMNmllTTRmYlp0bjA5RTV3TzRqcG12OVMxd2lPaDlBSWM3amxNd3RoNHpuK05ueS9FOGI3M0t3akZ6NXN6SkZSVVY5K2pZSmo3ZCt0a0ZBS2l1cmo2eHVycjZEN1p0Wi9VOVgrYi83c2lkMyt0Qml4a3QwcnNBcGdmZmY3cGY4T2ZWcTFlZlcxRlJjUXdSSFliY3UvQUdadjVWSkJLNUhNQ0JXaVQrcWY0YnNHMzdxZTd1N3E4VFVVYVhMN2NzcTB3L2F6Sm12TFpoODRrVE1walpLc1dzZGF1dHR0cXNyS3pzTkNJNk5ldzNYQXdkdmYrdVJDTHhIRE5mMk5uWk9XOFVRYk1NaG8yQ3laTW45L1gyOXJiclRrUzVFS0kyRU5GOGZlRlJBRmN3OC8rSTZKWCsvdjVYZE9ZQ1FBZkpDNVM5VFhlT2dsaEVGTTd3VVRMTXZKaUlUa0xoanVjMTZYUzZZSXJTQWpOS2E0MEZDeGIwSlpQSkk0VVFOd0g0Z2V1NlQ1ZXdXNTUwT3YyTWxISlhBRDhDUU9sMCtra3A1WjdCd0d2TUhBNjJOd2pMc2xZRCtCY1JGUnFVclkyTUdoc0VXc1FabEFLVG1WL3hPK0I2dWFpZnRBNXlkMmVCVGVjQjZQMjRVeUlMSWI1VGFBWmNwKzhOQ3lyWDYrdzVIb0Niczluc09jM056U05HNmRmaVNZT1VzaEhBcGRyTjU1MmVucDZDbGgvckVzdXluZzlaZER5Z1UwQStVbXdmTFJxZG1Fd21yeUtpSHhIUnQvVU1jeGt6RjkxUDR3RVlkWlkwei9PR1dKb3g4MlBoNE1iRklLSkR3djJqRHovODhQRkpreWF0QWxETnpLM2FldXlLUUV5TTNZaG90MEFkeGVvR2N0Zk8zL3Y2K2g2TnhXSU9FVWs5ODlzRllFMVNFTCsrQnZzV2habmJoK2xmZnFERnhTWE12RVFJc1ppWkh5ZWlmUXZzazM5TzZ1d3FCd0Y0VkNsMWtiNjlidzhKR1lVWVlPWVBkYXlHQ3UzUzlMVjRQTDZYZnYrTkNjL3p6cllzNndraWltb0xpMitQc0lzVkVCUWVaT1pmRXRFL2hCRDVXRVBNL0haSFI4ZVRBRmdwZGJwbFdiY3JwV1pHSXBGK0FKMEFhdlE1bnhaMFYyWG10NGhvMzhDeC9rRkVoem1PODA1ZFhkMTlVNlpNdVphSWpvRTI2V0htRmFGbjZCWGF3cVJjdTRUVWp6TGw5N3Q5ZlgxL1FVNG85bWJOK2lnMGtPZDV3cktzSC91cG5LV1VudzVtVE5RRGFIL0NaRk1BYVNubE93RGUwY0ZFa3pwWTZHNDZoZ3NBekJ2dUdUSWUzSHZ2dmN1bGxNSCtVUStBeG1CbXJtdzJ1MEJuYW9vVUdYZGVIVnh3SEtkTEJ3S3VRdTUzK3BDSWJtWG15MTNYZlIyNVB0cWdDblIya29OczI5NUhqOXNPMVJhaVpVVDA0b0lGQzdKTlRVMDNXNWIxZlNIRURVS0lYZ0JWekh3MURCczBueWdoWThzdHQ0d1RVZEVnWXdDUVNDUjIwOEdhamhoTENrYmtIbEM3RTFGeklwRjRCOERmc3Ruc25FV0xGcTMxR1ZTRFlYM2s1WmRmN3F1cHFYbERkd2hpMld4MisvRnVVeGpIY2Y1VnFsbXM1M2xYRlFuMk9XWWhRd2YveWdBUTJqKytuNWtYQWJqRmRkMUxTdGgvblpCS3BWN3lvNjZQQlczQ2VVbGcrV2twNVNGNklQTlNNWUVtQ0RPM0FEZ1FnS2RuTGQ4QThCZmZUUFdUZ0ZMcVdSMmh2azliN2J6SXpJTXlnYVRUNlhZcDVWdDZOdElEME1mTVBVVDBKak5mVmlqSTNYakZYZEFEMmk4ZzkzN002c0hWeXdEK29LKzVZQnRmbFZLZTVIbmVBeVBOOWhaQ3oycmVMYVZzVWtwRngrTFNzNlk0ampOZzIvYlBBVXdqb2x0SFl3cXV2NDhUWnM2Y2VXWmxaZVVoekx4UGQzZDNzUUN6L3ZIK1cwcWF5bElnb2l0SEdleHprSkF4Zi83OEh0dTJVd0ErMWRQVDA5amEydHJmMk5nNDE3S3M3eFBSQWN5OG8rNkhqWmp0aEptenZiMjk5OXg3NzcyckFSd21wZnpmd01EQTFWcDBMcW1OSTVITlpvK05ScVBGWXNjTXgyWGhRYnhTNm1raHhCMUUxQW1nZzVrN21ibERDTEc0a0h1UWJkdFA2K2QvVnJzNWRBSDRlMzkvLzNuQmNvN2p0RWtwdjU1S3BaNkdUdlVwcGJ3WXdBcWwxTnM2VzhyN2xtVjlBR0RGcWxXclZnYXYrOGJHeHMwaWtjanRudWVkdTZhcFNMVmcvVlB0Q25XNGxQSnV4M0VLaWFaKytZZWxsQ2xtdnQ1UElhd0RLdnR1TjY4cHBZNzNYVjdTNmZRakRRME51L2tUQzFMS0JnRE5QVDA5elZWVlZYc1EwWFQ5cnJ6VGRkMXpwWlRWekx3WEVaM2pPTTVOL3V5NnRqbzVWa3A1aDNZWldkN1IwWEZxc0cycFZPb2xLZVYrQUM3VWdUcEhuTFJrNXRWRXRKU1pIeUtpWHhWTHpXeFpsbUxtaEhZdDYyUG1UaUpxWWVZbmlPZ2ZYVjFkLzQ3SDQxTUI3S2RUYk8raUxmQStSMFQvY3h4bmhaU3lRZ2VYampKemUyOXY3ekdGampYT3NIWnhTakR6TkNLYTVUak9vSW1yNXVibS85cTIvV0V3bTRsT2Qvd0dFZDNrdXU0UXR6aG0vaFdBeGN3OFZ3aHhYNm52THRkMUh3UHdXR05qNCthV1pUWG9TWkhmSTNkdFBabE1KbWNMSVM3V0tZVC8zTi9mUDFLR0xjTjZ6bmdFVXZ0WXFhMnR2Vm8vVER4bS9qd1JUUTBWbWRQZTNuNWNJcEdZRGVDblFaL2NZZmdRd1BrQTlnbWtKaHdXcGRUWm5aMmRSUVBmR0F3YkV6ZmZmUE4zbFZKWEVWRVpNOTlVV1ZuNWc5bXpady9yNTIzWWVKa3hZMFlzR28xdUVyUjZNUXlMUDhnYktUYUxXRTh5ZEJnMmJFUmRYWjFBYmdEb3JhbXB0WlR5MDMxOWZZdm16WnUzdWtnUm1qRmpSbGwxZFhVVWdMVjY5V3BSVmxZbWtCTVdLQktKY0NRU1lRQmVPREN5WWYzQXR1MVQ5TUQvZmRkMVJ6V3JMYVdzem1ReWtXZzBtaTFsZ0ZwZlh6OUZDd1pEbm5kU3lrMEJEQXhYajQ0cE1rbTdENjVMaEpTeUZya2d0SXNuVDU1Y1JVUVY2WFI2U2FuM2xJNGZVZTA0em9xbXBxWXZDQ0VPUms1Z1REdU84L0k2YnYrWWFXcHFtcWFVb21KWlNtYk5tclZKTkJvVkFMeXVycTcrc2JvM0dReGhObm9obzZhbTV0ZENpSjhWMjY2VStrMW5aK2M1aVVUaW0wUTBiSjUyVFV0Zlg5K3BTNWN1WFlTY1VQSnRBSmNER0pKT3pZZVpQK2p2Nzk5eDZkS2xSU011R3d3YkUzUG16SmtKNEVZaWlqUHozNW41Nk9PT08yNVVBZmNNQm9QQllEQVlEQWFEb1JBam12WnQ2QWdoSGlwbGUwZEh4OThCRkkybXpjeFBNL04rN2UzdGpiNklnVnhHazl1V0wxKytBelAvbjQ0SVg0aWZHeEhEOEVuQzg3ekZBSllqTjVPd05ZQk5SdDdMWURBWURBYUR3V0F3R0VabW94Y3lCZ1lHL2ptTXdIQmZlM3Q3WHVoUVNwMmhNeGNFZWR6enZJTTdPanIyNnVqbytFZWhTdDUvLy8yVkhSMGRQK252NzkrT21mL0l6SG1US1diK1QwZEh4N1ZyNjN3TWhnMEJJbHBLUkw1SjhGWkd5REFZREFhRHdXQXdHQXhyaTQxZXlGaThlSEV2TTdjeGN4OHpMMlBtRjVqNUxtWStwcjI5dlNGWXRyT3o4eDBBRnpCekx6UGZySlQ2VW50Nyt6NExGeTVzTGVWWVM1WXNXZHpSMFhGS2IyL3Z0Z0IrQnVCTlpqN0paQzR4Zk5JNC92amp1NVJTZnJyTWlaRklaTXNSZGpFWURBYUR3V0F3R0F5R2t2aEVaQzNwNk9qWXU0UmlRTTVWNUtwdHQ5MTJ6bHR2dmZYQldJLzN6anZ2ZE9uSS9lT1dmY0JnR0crRUVLL3A3QlBJWnJNN2pYZDdEQWFEd1dBd0dBd0d3OGJCUm0rUk1RYXlheUppR0F5R1BLLzVINFFRTzR4dlV3d0dnOEZnTUJnTUJzUEdnaEV5REFiRE9vR1pYd3NzN2ppT1RURVlEQWFEd1dBd0dBd2JFVWJJTUJnTTY0UnNOdnVxLzVtWlB6MityVEVZREFhRHdXQXdHQXdiQzBiSU1CZ002NFNKRXljdUJyQWF1U3dtbTkxMjIyMVR4cnROQm9QQllEQVlEQWFEWWNQSENCa0dnMkdkTUh2MmJBL0EvL1NpR0JnWTJIbWNtMlF3R0F3R2c4RmdNQmcyQW95UVlUQVkxaG5NL0lML1dTbTE2L2kyeG1Bd0dBd0dnOEZnTUd3TUdDSERZRENzTTRqb1JmK3paVm03akc5ckRBYUR3V0F3R0F3R3c4YUFFVElNQnNNNmc1bGZESHcyUW9iQllEQVlEQWFEd1dCWVk0eVFZVEFZMWhsQ2lOY0I5Q0ZubmJITmRkZGRWem5lYlRJWURBYUR3V0F3R0F3Yk5wSHhic0Q2U2sxTlRRMkFnNExybVBuZGhRc1hOZ2ZYMWRiVy9rZ3A5Yy9PenM0blAvWkdHZ3pyT1o3bjlRb2gzZ2FRQUZBV2lVUzJBZkJxQ2JzYURBYUR3V0F3R0F3R1EwR01rRkdjM1lVUTF3UlhNUE5UQVBKQ1JpS1JPQWZBeFVLSWdVUWk4ZU9Pam80L2prdExEWWIxRk0vekJvaG9NUkVsQU1Rc3k5cmFDQmtHZzhGZ01CZ01Cb05oVFRDdUpXT2twcWJtTENLNldDK1dFZEZWdGJXMWY5dDY2NjByeHJscEJzTjZRMzkvL3dBUkxkS0xaVVMwOVRnM3lXQXdHQXdHZzhGZ01HemdHQ0ZqRE5UVTFKUVRVYkxBcG0rWGxaVTl0dFZXVzVuQm1zRUFJQktKOUFQd2hZd1lnRzNIdVVrR2c4RmdNQmdNQm9OaEE4Y0lHV09nczdPekw1UEoxQVhkVEFKTUx5c3JleWFSU093NURrMHpHTllydnYvOTcyZVVVa3NBS0FBUlp2N1VYWGZkWlkxM3V3d0dnOEZnTUJnTUJzT0dpeEV5eHNqaXhZdDcyOXZiYlFCL0NHOGpJbytJbG85UHl3eUc5UXNoeEhzQVZ1bkZ6WHQ2ZWlhTWM1TU1Cb1BCWURBWURBYkRCb3dSTXRZTTFkN2VmZ1l6bit1dllPYk9iRGE3YjN0NysydmoyelNEWWYxQUtmVXVnSlhJaVh4Yk1MTVJNZ3dHZzhGZ01CZ01Cc09ZK1VSa0xkbCsrKzFqMld5V1JyTVBFVVVMcmE2cHFTa1ByMlRtM3dQNEVNRHBSSFNRRUdKcHNGeG5aMmNHZ0RmVzloc01HekxNL0I0enJ5SWlBTmdjZ0JFeURBYUR3V0F3R0F3R3c1ajVSQWdabnVjdEVVSnN0cWIxRU5HZVJOUTdRckhYaEJoczZKSklKSDdTMGRIeGYydDZmSU5oUXlTVHlieFhVVkh4SVRNRFFOeXlyT3J4YnBQQllEQVlEQWFEd1dEWWNER3VKUWFEWVozeTl0dHZ2OC9NcTVDenpwaGtYRXNNQm9QQllEQVlEQWJEbW1DRURJUEJzRTY1NElJTGxGSnFNWEpXVGNLa1lEVVlEQWFEd1dBd0dBeHJnaEV5REFiRE9vZUkzZ3A4TmtLR3dXQXdHQXdHZzhGZ0dET2ZpQmdaQU81ajVvbWxGTlJCUGc4ZW9kaTl6Snd0OWVETS9IcXBaUTJHamZQQWVwZ0FBQ0FBU1VSQlZCRm1YcWlEZllLWnA0MTNld3dHZzhGZ01CZ01Cc09HeXlkQ3lPam82RGk2MUxLMXRiVVhqQ1JrTVBNQ0U3elRZQ2dkWmpZV0dRYUR3V0F3R0F3R2cyR3RZRnhMQW15enpUYTdBRGluaEtJWDFOYldtc0dZd1ZBaWtVZ2tMMlF3czdsM0RBYUR3V0F3R0F3R3c1Z3hRc1pIV0pGSTVBWUEwWkVLRWxFVmdCdk45MmN3bElibmVSMEFXQzhhMXhLRHdXQXdHQXdHZzhFd1ptaThHN0Mra0Vna2ZrSkV2eHZOUGtxcHN6czdPMGUxajhId1NlWEdHMjk4UndpeEJRQllsclhOa1VjZXVYaTgyN1F1a0ZKdW04MW1KMFlpa1Q3SGNkNFk3L2FzS3hvYUdxWkdvOUU5QVVBSThZSGpPSThXS3l1bHJQWThiL04wT3QyK0x0c2twZndxZ0UwOXoxdkd6SzgzTnplL3Q3YVAwZGpZdUpsbFdTY2haMTMwVENxVmVtQnRIMk5Oc0cxN0JoRnRBUUNyVnEyNnZiVzF0YitVL2FTVWt4ekhXVkZzZTExZFhXVHk1TWs3Q1NGMkYwSzg2empPMzlkbXU5Y0FrVXdtdjVCZkVPSUZ4M0VHeHJkSjZ4YmJ0cjlCUk5zQVFGOWYzMTN6NXMxYlhhaWN2aCsyMTR2TncvMitKUjczZFAzeFpkZDE1NDkyLzJReVdVOUVYeWFpYWN5Y2RWMzNtTkhzUDJQR2pGaDFkZlhoeU4xN2kxelhmV2lFWFlSdDI3UDE1eVd1Nno0V2FzK0JBSmFuVXFtblJuc3V4WmcxYTlaMjBXaDBWMmIrWUdCZ29HM3UzTGtmcnEyNnBaUmZCdERoT000N2hiWTNORFJNc0N5cnRybTUrWVhBeE1HdzFOWFZsVStlUEhuN1NDU3lrNjY3VFIvclhHYmVBY0FBRVozbU9FN3ZtclkvbVV6dXdNeWJwOVBwSjBhelgyTmo0MjVDaUtnUVlyWGpPQzhQVS85T0FLb0JJSlZLUGJ1bTdUVVlET3MvbjRnWUdTT1JTQ1QySmFLTFI3dWZFT0xpYWRPbVBiTnc0Y0pIMWszTERJYU5CeUhFbXdDMkFJQ0JnWUh0QUl5N2tDR2xyQjdydm4xOWZhclFBSUtacjR4RUlvY3k4MHNBZHRISDJaMlpqeXkxN213Mis4ZVdscGJPc2JadExFZ3BFd0QySzdMNUhjZHg3Zyt1aU1WaWZ3VndFSExuZkFPQWdrSkdNcG1zQi9BbkljVEtHVE5tVEc5dGJlMlhVbG9BS2tiYnhxNnVycjRGQ3hZTUYyajVGZ0ExbG1VQlFCT0E1dEVlWXlTRUVGc1MwYStRczg2N0FzQ1loSXltcHFaYXk3TCtyUmZmZEJ4bit0cG9IeEdkQytBcnlMbDAzUU5nUkNIRHR1MURBZHhxMi9hWnJ1dGVWNmhNUEI3L0xvQ3I5ZUpiZFhWMTI0M3dXMEJLV1FIQUd1T3BCQmtvSms3TW1ER2pXZ2p4akwvYzM5Ky9GWUNscFZTcUI4WWpXbUdXaXVNNHF3R290VlZmTVlqb0RBQXpBU0FhalQ0SW9LQ1F3Y3pmSWFKamtKdDRlUkxBR2drWlJIUzVydmNtQUtNV01vaG9OeUw2bWY2c1pzMmFkVnBMUzh2eVV2ZVBSQ0lUdERVc2lPaGVBTU1LR1hWMWRXVkVkTHRldkJmQVl3QXdmZnIwYUcxdDdmVUFqZ1d3cEtHaFlmcmN1WFBmdFczN0xDTDZ4V2pPaVptN1hkZXRDYlR4ZXdET0FzQ1daVzBKNEVQb1FiWVFvcVhFT24vdHV1N053WFZTeWtuTS9BUVJrWlR5L1V3bXMxMzR1NHRHbzk4U1Fsd3ZwZXhtNW90ZDEvMUR1TzVrTWpsYkNIRTBNMjhCWUVzaW1ocXdMcDRENERqYnRyOEI0Q0lpQWpQL1lVMUZqR1F5ZWJBUTRnYjkvdStlUG4zNjFMYTJ0a3lwKzF1VzlSQVJiUWJnZVFDNysrdG56Smd4c2JxNnVzZHhIQSs1YTJJT0VlMkYzRzhmSGVuNVpEQVlObncrOFVMR3RHblRFa1NVS3VCUzhpeUFQVUxyUGdRd0liQWNFVUk0MDZaTisrTENoUXM3UG9ibUdnd2JNcThEMkJ1NWpza094UWErSHhkYXhCanpiRmw1ZWZrU0FGdVhVcGFaZHlLaUg1ZGFkelFhYlFId3NRb1p6THdYRWQxWVpQTmNBSGtoSTVsTUpuMFJBN2tPNUxGTlRVMjNwdFBwSWFJdUVaMEFZQnNpUWxWVjFTOEFuT3Q1M3Rjc3l4cjFqSDQ4SGo4T3dFMnpaczJhRk40V2lVUjJCK0FQS0RLZTV6MHphOWFzVFVhcXM3Ky92N2UxdGJYZnR1M2J0UGhSRUtYVTN1bDArdDlDaUx4TDRValpxNlNVdXhmYnBwVGFCY0FrWFU5c3VMTElEWktmRytsY3hvS1Vja3RtdmcxQUpSRmRhOXYyWGdNREE2ZEZvOUZ2aE5xN25JaXlSQlFCc08yVUtWUE9UeWFUYmNFeVFvaStrT0QxR0lBMUZtaVkrVElBWnhiYVZsMWRQY2l5TkJhTDlaVmFiMVZWMVY4QkhMR203Zk5wYkd6OFhITno4NHRycTc0Z3RtM2ZRa1NOZXJIY1h5K0VlRlZLV1hEMm5abGovbWNpYWd1VTIxbGJqZjIzMlBHeTJld1VJcW9BZ0hRNnZiU1FRTlBRMERCQkNMRVpNM3QzMzMzM0l0M09iaUlxTDFSblNOUVMwV2gwcVpSeU9PSEh2ODhya0hOUnJBclc1UXZSSzFhczRQbno1L2NNVTg4ZzJ0cmFNb2xFb2xKbjB0b3FGb3ZkRG1CL0FHVUFxa2F1WVJCOTBJUHFTQ1JTUmtSNzYvVXZaN05aVlY5ZlB5VndEcDh1c2M1Tnd5dVVVbDhTUWhCeXYrdExoUVFnSXZxMi9qaUZtWXU5UHpZRk1OUFBJaFppYnlsbFdVQ3dCQkVkYjl2MlVlR0N6SHhjS3BXYTV5OFBKMXA2bnZjS0FQOTdtRkpUVTlOWVcxdDdYNkd5eFNZSUNrRFYxZFZ2QVpoazIvYWZYTmY5WVFuN0dBeUdqWXhQdEpBeFpjcVVDWlpselFzOFlJSGNBL3BWQUpjUzBaMmg5UzhEZUlPSThoMGZJdHJNc3F6NWlVVGlxeDBkSGU5K25PMDNHRFl3M3ZRL0VGSHQrRFpsN1ZOWFYxZU8zTGtKL1ovcTZ1cks0L0c0WWk3SnluZDlwc3YvME5UVU5FMEk4V2U5T01ETVRFUXh5N0x1a2xKKzFYR2NWNE03NnRuakEvWGc2NnhrTW5ubm1ud2Y5ZlgxbTBXajBhNFJpa1V0eTFxa0xUT0dKUktKL0Z6UFBwWUJpQlVyNS8rdTJXeFdSQ0w1VjZkWHJIeGRYVjBFd0grS2JRL29JU0Npenc1WEZtdHhobEZLK1QybDFIdXBWS29GT1lIa0hkdTJEd053TzRCcUlqcXVyS3hzRlJHZE1sdzlSSFJlZ2NIUXV3QzJYTk0yam9hK3ZyNW9lWGw1Y0xsa0lXTkRRb3NLUXdiWlJGUTV6RDRGeTJVeUdWRmtJSnZIc3F3dkU5RTg1TzY1K0x4NTg3ckRaYUxSNkJGQ2lHdVllVm1nSDFVOTNIMFVZbGlycks2dUxvckg0L3NEYU5WdENtNCt5QmVpSjA2Y3VDemNqeHNKei9OK0VJbEU5dE5XQWwrVFV2N1lmeTR4ODRmTXZLY1FZZ0dBTFpqNXUwVDBpbS9SNFhuZWw0VVFSeExSeVg1OTFkWFZ0L2xXTXREM2RIbDVlVmZnZU4vMFB6UHptVVFVZG1lWkJPQ2VZdTBsb3E4RkZ1OEpXQk42anVQMHpwbzFhN3VBUmQzN1FvaUNRb0VRNGpVQWl3QXNZK1pkaUNqQ3pQOEJjS0ZTNmpraHhQVkV0R05nbDRtRnJoVXRhQWI1RjREZENoMHovQndXUXR4WnFCeEdtQ0JnNXExdDJ6NTY1Y3FWcVFrVEprejFoUzRpZXIxWWZRYURZZVBta3l4a1JDZE9uSGdIZ00rR056RHppUUEyS2ZUdzd1L3ZQNzI4dlB6QTBFdHpld0R6cDA2ZCtvMmxTNWNPZWRrYkRBYUFpTjcwTzRwS3FlM0d1ejBoZW9JV0I4WElqZGxweUt4OUVldU9uZVB4ZUMrQU5pTGF4L084YlVwdGpHVlphejIydzBnUVVacVpEeWFpTFpSUzd3ME1ERHhkWGw3K291N29kd0hBekprekp3c2g1Z0tZak56M2NTNFJyUVJ3blg0bS9yMnhzWEgvNXVibTEveDZIY2Zwc0czN3QwUjBQb0JlSXRwWktmVWlnRUtkMmMzMHpDZ0F2RlpnY0wvT0xOK1krWEVpS2lvVUNDRU9sbEkrRTF4SFJHZEpLYzhLRlgzVGNaenQ4Zi9zM1hsNFhHWDFCL0R2dVhkbU1tblRscmFKTGRDV1RFVFpRVVNRVFEyTElKUXV5ZHdYVUZBUVVIQUI0ZWNDQ0NxSUNnb0lydXdDcnNDOWsyNWdCVUdyV0ZaQkZKREZrZ25kYUVtNk44dHM3L245TWUrZDNreG1zclJwMHlibjh6eDVPbk8zZVdlU21jNDk5N3puYkIra2xDcDd4ZGgxM1c1WHBjUGg4QWNBUE83Zmo4ZmpaelB6N1pabHNWTHFLNjdyL2h3QVBNOTdPQjZQbjJoWjFrSUFMeFBSRHdIMEdzZ1lLR1orb01RMEZ6SXA0d0NRWStaMXBmWWxvdWVSZjUvVlpES1piczgvSEE2L3Arais1Tm16Wi9jMXZXUDkzTGx6MXhQUlNnQnZsTm5HRHRTWEFJQ2xBSHBOc2Jjc3ExLzFTTFpHSnBQNVdqZ2MvaDdNOURVaStvaTVmVElSbGZ1OCtDNkFHY2gvNWpaWWx0V0MvR3UwTXBWS1ZkaTJQUVBBUVVUMEEzT3NIL2tuNjMwOTEzNVlxclcrUHJqQVRDMzVQRE5ubVBsSy96R0lhQkl6cnphMy80K0kzamZRQjR2SDR4KzJMS3RzN1FWbVBsVXBsUVh3ZmRkMXZ6Tm56cHcxOFhqOE1zdXlmcy9NS1pOWlVXSEdvRDNQZTkxc0R5SmFEcUJRN3lpVHlTeXBxS2pZNnU5NnpMeGFhOTB0WThLMjdmR2x0bFZLM1FGZ0lqUDdtUjR3Nzg4Zm1ydUxBUndiRG9jdkROUzlHd2ZnWGFWVXQyTTFOemZYdUs3N0Z3RFRZTEpuQUV3a29qZGQxNTNuT000MS9sUWtBSE9ZK2FIQVk0WUIzR2FDYVcvMTUvL0xiYUdVMmhQQXVibGNyakI5eUh4VzNEOXUzTGhmbUN3dDMybEtxWU1BRkM2UVZGZFgzeEhNVk5KYTM1SklKRjdkbm1NV1F1eDRJektRVVZ0Ykd5VWlGOENweGV1WStmNldscFpGdGJXMXMwdnR1M0xseXJhNnVycExBZncydUp5SURxNm9xUGo3bENsVFByNTgrZklWMjNQOFF1eUswdW4wa25DNE1JUHIvYjF2dmNPdGNsM1g2V3VqK3ZyNlVFMU5UYi9uOXZyTUhPTWhyd25TRzlkMTAwcXBxd0FjWTFuVzd4Y3NXUEJIcFpTZjR0eXFsSnJBekg4a29vUE5zZ1dlNTkwTWdCM0hPWlNJTGdJd05SUUtQZTA0enVuQlFueHRiVzAzVkZkWDE2VFQ2ZS9QbnovZnIxOXdadkVZR2hzYmo3UnQydzlrTEhSZDk5TGliV2JPbkRtbU9BakN6TWNSa1g5Q3V3TEFQL3I3dklub1ZlUlA1bnZNSncrS3grTm5CN01veW1IbURBQXNXclFvcDVRNnBjdzJweFBSWjgxdEpoTTFaK1k3aUtqa1BIcHp2RWtBM3VsbGpQc0Y3OXUyZmJFZnlJakg0NSswTE9zK2M3SkR6SHpKS2FlYzh1dUZDeGR1Ukw0NDNyTU5EUTBmVGFmVEt4NTU1SkVOalkyTlU4MHhxZ0g4MlEvZU0vUGRXdXRyemUxUnRtMS9rNGp1enVWeUxiMWxxS1JTcVl1THIrclBtREdqMnI5cXpjeHZCMnNObFBHemNEaDhSbThiMkxiOVZsK1pPTXg4RFlCclhkZjlocWxuMElOU2FuTFJhMzJXNjdyOS9yc2FiTUdhT1VxcGpmNXRJam9kd09ZeXV3VURNYSs3cnZ0NjRINGF3TU9PNC9qdlo1MU9wMzg4Zi83ODFjaWY1Tlp2NDVCYkU0bkU3Y0VGU2lrSHdFVkVWQUhnSU0venpqUDFXVzRsb3UrM3RiVmRYMU5UY3lhQVlDRGpEUUJYd3Z5OUVkRzN6TzNYaWVoK2M3dURtYW0zZWl6bVBXWUh0MGtrRW45d0hPZklYQzUzMTV3NWMxNXhIT2RxZjUyZllZZjhTWENZbVN2OHY2dG9ORnBSL1AyWm1aY0JlRGZ3T2RRdFFHWlpWalp3K3pjRGVCMm5BOWl6dHd5YW1UTm5qakZaSS80aU96QXRwK0NGRjE3b0s2UExmODd0SmxoV21MN0N6SEhUc1EvTWZEc1I3YU9VYW5WZHQ4ZjNYV2ErZktDMVlremRvZUNVcEwwQmZNKzI3VWdnZzYrZG1VTkU5SnBmMU5NNEVVV0k2THpnZmN1eVBBQVN5QkJpbUJseGdZeWFtcG9xYzBYeHVPSjF6UHpHcGsyYityd0sxZHpjL0x0WUxEYURpTHA5b1NLaS9jTGg4T0pZTERZem1VeitaN0RITHNTdUxCd09yMkxtRkJGVkVOR0VHMis4Y2ZUWHYvNzFmczlyM3A2WW1mcForSFBBaFF1WjJkcWFvcUt1NjNZN09URnprRC9OekxxOXZmMDMvZTFHTVVEK3RJQVYwNmRQSCsvWERtTG1zUUNlOGErVU1uTXpFWDI5c2JGeFQrUy82TjlnV2RZQjVpcnhCQUIvVmtwZG83WCtnOStwQnNBZmJOdXU4UXN4MXRmWGg4YU1HZVBYc09qbzU3eG9tQzRBaFNDSXVSSVg5Kzh6OHlXZTV6WDU5eDNIZVRFd2xhbk9kZDIxVy9uYXJEWEY1cW9BK0JsRnE4eDBDZ0RZSDBDWWlQeEFGeGNYU01XV1lJMS9xVFREekRNQS9NNWNiVHlmbVo4cUx2UzNEVTVUU3NXMDFpZGJsdldMUUZHL1Y0am80MzRRUXltMVA0QXpXbHRici9PbnJ6UTFOUzJ2cjYrUFZsZFgvNTZJL0F6RU9VUjBVVk5UVTA0cHRiZTVLaHNEY0NRekh6Tm56cHcxZ3pUdTdZcUl0bHZteEJBNGZ4djNuMm4rZmRZUFlteWpKaFAwT3NGeG5PdHl1ZHpQUXFGUU0vTHZUWStJN2pGajNzZDAyUG10eVlUNFprMU56UUptL2pzUnRTRWZ2Tk1tQytzR2JBbDhmUXNtdzg5MTNSdjhCelYvdzkzcUxqR3o1V2V1bVBmdnk4VlpYWjduZmFYRWN4aG5zdW1BL0Vudy9LTDFQWUxTbnVkOXdYRWNEZUNMek56c2VkNit3ZlhtYzZxLy85LzFLR3hyNnZFOGlQeHpyd0JRQ0x4SElwRXZFdEZ1WnJ2bFJQUjJZTmZEQUVUTi9oeVB4eThob3VQTmNmeWFiOGM2ampQWFpKMzhBOEN4Uk5TdDNsSFJOS1ViemMyZkFQQ0R6Vmsva0VsRU4vc0ZPUHZMY1p3cmlDZ2NxRHMwQWZuL1c5NE5QUFlTclhXamJkdlZSSFRmUUk0dmhCaWVSbFFnWTlxMGFlTnQyMTRJNE1NbFZtL081WEtOYlcxdC9TcisxOUhSY2Y3bzBhTVA4THNTK0V4YnNhZGlzZGg1eVdUeW9mSkhFR0prNmVycXlrU2owVlVBOWdJUW5qUnAwbnUyNTFTQmdUQW51bHRkK05OMTNjMzE5ZldWTlRVMVk1aDVtZm1pK2QvVzF0YkRKa3lZc0w5dDJ3TStkbkZOQkdhK2o0aE9OMFV6UHdKZ1FLMEwrNmtReUloRUlqWCtRaUphRjB6Yk5hL1g2K1d1Zkp1cm4yK1lEaHFGY1laQ29SZjhJc28xTlRWSCttbnN2UlZ6N0UxOWZYMkltZThLek5kK09oakVNR01aNjErZDdPcnFLcGxTNFRqT1o0aG9acWwxUG1iZTZMcnVCNVJTeC92ZEVwajVGcy96Zm1TT3NaS0lkZ2RRTG1PSGxGS2ZBM0Jyb0RiQWp4S0p4S05LcWJOTnRrc0l3UDFLcVJrQUxpN1Jackd6UkRiSzRYNmdKcHZOdGtjaWtlQnFDOEI4eTdLQy8wODlCK0FVUDZCanV0WDhHY0FlTlRVMXh5dWxsT3U2cTA0NTVaU3hvMGVQZGdOVEdCYTF0N2QvY3VIQ2hibjYrdnBvTnB2ZGFOdjJPMFFVQTdDUGJkdno2K3ZyVDFpMGFORjJxMUhCekk4QzZKYlZRVVI3QXBodDFxOEg4THRTK3hMUngvMU1NSzMxVmdVeUhNZHBCSEF3RVYwMzBCTzE3U1dUeWV5OWZ2MzZrbG1nMWRYVmR4RlIyVzVKU3FsOS9POUR6THplY1p3TGtIK3RudDNhT2paRTlHblRJY1Fpb3F0dDIrNzBhM3VZSXFBWGFxMy9DV0FGRVhrQVJwbXNwTThEK0JRUkhRcGd1dCtsUmlsMUxUTlBET3p2TzhCeG5KLzdkM0s1M0VOTlRVM2Rza2hNalNJL0lQRzA2N3FuWWN2ZmZMRHdadHBNdWRnbVJPUm5CcnlobEhvSitkZjFZaUw2WnlhVDJWVDhmYkUzTTJiTUdCVU03aEpSeW5YZHM3RWxvT01ITXNZRHVNTGZUbXZkMk5UVVZKZ0M1empPVzBSVTV3ZFlpZWlEUkRTcjZPSDJOTytqRndDc05GTnRlbnVlM1dxZ1RKOCtmVHd6endYZ1o1TmQ2VGg5SmpnV3U5WC9tMnRzYk55ZG1TZWFBRWEzZWtoTlRVM05EUTBORmFGUWFEL2tYOTk3aWVnU3Mvb3ZBQTQzdDNjcnloRGI1dmF4UW9pZHo0Z0paRXliTnUyd1VDajBZT0JLV2pkYTZ3dVdMbDFhdGo5MXNkV3JWN2RQblRwMWRpZ1UrcWNmQ2ZlWjlMc0hZN0hZU1pzM2I3NjB0YlcxWE5xbkVDTkpocG5mSmFLOUFJUnp1ZHlrblNXUU1SZ1dMVnJVNVRoTzNQK1N4OHk4YU5HaXJvYUdocEp0STdkQzRRb2ZFZTNiKzZZRFo2WnNqRWIrODNCNUtCUUsxaDc0QnpQL2dZajJOek1oRGkxM0hHYitHUkY5eUhYZGh4ekhLVG0xWXJCVVYxZC96MiszeDh6WnZncFU5dUxnWUZaSEdYNjJRVEI2VS9qZCtzVkEvYWtsUHRQcXNkR2tXd2RmdDhlWmVkbU1HVE9xWGRmOWsxTHFTOHo4Q3hNRWNwaDVodU00dnllaTIxM1hmZDVrZUd3b25wS2psUEwvMzByT216ZHZXZkc4K09ESkV6TzdSSFJPc0oyaTF2cjlsbVg1R1JmSE12UHpqWTJOWjltMi9Wc0FoYm91UkhSSVZWWFZ1NlpHUjQ4SUZoRWRYVjFkZlMrQVR3SFlMdFZ0UGMrNzEyKy82Vk5LTmZpQkRDTDZuK3U2SmJzWE9JN3prRi9FY0dzeU1wZzVEdURMcGpqaXh4b2JHei9WMU5SVWRwclBqaElLaGY1VFUxUFRaOWVTTXV1LzZsL3RKcUpUQUp4aWxuL2RkRzREOGxNcFZoWDlYWDFHS1hWMm9DWkQwQjJtdUM4QS9ER1h5OTBkQ29VSzdlMWJXMXRUMWRYVnRRQithZjdXTlJGOW1abHJpZWpyWnJONy9XNHl6SHlPK1QraldHMncyS1p0MjY4cnBkcVorU0t0OVcxTlRVMHZsdGpIZHdhQVF2ME92MWhwT3AzK1NTZ1V1czhjcnduQTRjek1XdXVUQUx4ZTVsZzVBSmc5ZTNhdEh5Z3oyUXcvTXV2SE1mTUo0WEI0UVpuOVN3cUh3d3FBMTQ5TkNjQURwcFhzd21BUUE0SFBKVC9BU2tTdk12TVRSRFFwOE5td21wbGZBZkNHNTNsZjZ2RUlBYVdtVjQ0YU5Xb2lnT3NHOHZ4NmZVSkVmd0t3Si9LL20xWEYwMnBzMnc1K1ZqL2haeTg2anFQOWJWdGJXOXVsL2FvUXc5K0lDR1RVMXRaK3hiS3NINW5XV3FWYzI5TFNVcmFLY2puTGxpMTdLeGFMblFGZ1FhbGpFOUg1VlZWVng0OGFOZXJMYjcvOWRza0swa0tNSUJraThsT1h3NEVwQnp1RERjejgyMzVzUjBUMHhWNVduaDY0TzFrcGRVUXFsVm9lQ29YdUtiRzVueEsrb2RRWFZwTldYYUMxdnRTMjdaOHlzd1p3V1QvR09pRGhjRGpZYmFLU21RLzF2eFF5ODBSbS9uNDZuVjRSaVVRTzBscS9wOXh4TE12NjQrYk5tOG1jelA2ZW1WOGlvcHNEMHhyNnE5RnhuT0FWek0yZTV4VnFGem1PYzFhd3ZvR1pZLzFTOFRTZVFBa0toTVBoMFVxcFFzYkE1czJiTTJhS1RpcVE5aDBzSmhsTUJkK01MZlAwL1dYQnEzeTJHVWZHaksvZUZNNmJDV0JDMFpmeHZ3RDRIeEhkSG8xR3Y2ZVUrckxydXJmRjQvSDFadDUvMkFURVBndmdzMHFwTm1iK2p1ZDV2d3dleExSczlldGk5R2huVzFSLzQzclA4NjRxRGpJa0VvbEg0L0g0R1VUa0VsR0lpTWJhdHIyTW1kdUx4bHl5R0dFUUVaMFpqOGVmVGlRU1B5MWVGNDFHSzVSU3ZRWDFwNVZaL3gvWGRZOHVzZHkzWitCMmIxTmJDdjlIYjAwZ2c0aG0rTitaaUtqZXR1MS94K1B4VHljU2lVY0hlcXhCTmc5QXVXbFpIeTJxTjFFd2UvYnM5d1lLTzRLWm04M2ZhYW1XeGQwQ1Y0RjZFOTAwTmpidVpXb3BBTUFybVV6bXJGd3VGd3AwK1RtNHBxYm1EYi9ZcE9sNmRGNTdlL3VDcXFxcURBQUY0Q0FBbjNJYzV6K2U1LzJRaU5yN015V0RtVWNEK0RzUmpiSXNxOFlQYmcyRW1iYTJ5WEdjQy8wciswVDBxZ24wSFZ0cW4ydzIreWZrUDF0bW1YR2tpS2hiZG9mV3VzdTI3ZFdtY0RLWXVZT0l1bVhwTWZPWVFHZVpWbWJ1YjJiVFdzL3p2aENQeDM5aVdkYjFTcW5qaTdKTGJBUUNySzdyM2dqZ1JxWFVMLzFBQmpQLzNmTzgwNUgvM0xyYWZKWU9LU0xhQS9uWGJrVnhiU0ptL2pjUnJXRG1QZExwOU9QbGppR0VHUDZHZFNDanJxNXVIRFAveG53QktZbVpiMG9tazlkczdXTWtrOG5IYW10clQ3Y3N5L1hua3djUlVjeTI3VWZxNnVxKzJ0emMvT090ZlJ3aGRuWGp4NDlQZDNSMHJEWmZjc09Cb21nN2c3Yis5S0UzVjZOS0JqSk0rN3RnKzcySnpQeE1KQks1dDZPajQydVBQUExJK3VCSnBGTEtEMlNzY2wzM2dyNGV1Nm1wNmEvbVMvNTJRVVNGUUVaeE1Ub2llbFJyZmZ6OCtmTmZQK1dVVTE1WXVIQmhTaW4xQlZPelk2SG5lZGNoWDFEeUVxMzF3UXNYTG53UitTdm9qd0Y0VENsMTAxWU1hU29SQlR1OWJQQnZLS1UrQWVCWC9oVmhabDdlMXRiMmc1cWFtZ1lBYnRIWUM3ZHQyKzdXS2FDcXF1b2VBQmVZRS95clRLcTlmK1gxQmRkMVAxUThLSFBDNGQ4Tm5uajdKM2IrMWNwS2M1VTBLQWZneHdDK3c4eVhFNUUyOVFRZWNCem5PTS96TG1wc2JGeGlXZGJkZ2FLcUFGQ3R0ZTV4aFptWkwvREhvclYrck1ScjZKbVRRekR6UDhwbFNpUVNpYm54ZVB3Q0lycFBhLzJsUkNLUmRCekhaZVlMelJYY3BDbWkyZ3BnTFRPdkk2Sk5STFJKYTkxT1JJcUl2cy9NLyt6cTZncis3UlF5QXJxNnVsTFJhTFJzeHhWemNseHFmZG4yb3VaNWZUQVFjSHV6M0hiQmRQaXRtVnFTeStYT3N5enJFd0N1TUdPdElhS0ZTcWtmdHJhMmZtdDdYdjJkT1hQbW1IQTRISndLVVNqa3lNeS9aZWFTWFV2TVZYYy9rSEZBUEI2dlF2Nzl2UjdBamNIZ1RqYWJQU0VVQ2wwQjRFTGtpek8vR1E2SHZ4QThubVZadDVtYnoyaXQ3dytzNmtUK00rcHRwZFNKekh4WE9wMCtyYUtpb2lNY0RuOGlzRjJ3R08wYnVWenVVN1p0dDQwZVBYbzVnUHVaK1p0RTlCQ0FTaUw2dmxMcVJkZDFDNTNsVEpEeVZ2TzgvKzE1M3MrQzQxTks3UVhnQzBRMFN5bjFnZGJXMXBKWkZDYjc0SGRFZExTcDhSSTh4aEhNL0pQQW9nT0o2QStsam9OOEFPTlFBQytaV2hRZ29uWEI5eVVSblczYjlzdXU2MDcydTJpWXVpQmZMVHJVOXdINFV5UU85anl2ZUZyWjZIS0JRRE5WSm1IcTlCd3phOWFzdytiTm03Zk1QTmNRRVNGUXU4ZC9IVC9sM3llaXVPTTROM2llZDRYcHpsTzIrNHR4VFBDTzY3cHZLYVhHbE44Y0FIQzN5WVR4TytpVURVQWtFb2tPcGRRTEFGNE9oOE1yaTZjNUpSS0pCZE9uVC8vSHFGR2pQbHRSVWRFZUNGNFhJaDQxTlRXamxWS0ZxU1d1NjNZTXRBQ3BFR0xuTjZ3REdjM056WjExZFhWbGkrd3g4eStUeWVUWHk2M3ZyNWFXbG5teFdPeFRBQjRnb2g1WEtaajV5VXdtYzF2cHZZVVlHZGF0VzVmMU94UUFDT1Z5dVlsOTdMSWpWUWZuVy9laWJPbjRjRGg4WmFrcmw4emNHQTZIdjZxVWNzMUo2NE91NjNiN1BERDFDT0pFMU5EYTJucjY5cXd6MEl2SnZhMjBiWHN2cGRURHpQeCtBUHN3ODN1SjZDZ2k2Z0p3M2V6WnMyc3R5L29KOGxmMXJ2Yzg3NXZiT0o1TVVkRzd6Y2gvQ1o5dUNnb0dzK0EyTEZxMEtGdGlXc1dBTVBOSmdaUGlwbmc4ZmpZUk9jeDhUeUtSV0lEODd6VFllbnRENExaZkdEV0RmQkJub1ZMcWJ3QStadFkvcjdXK09KRklQR3Z1WCtNNHpyTUFIaVFpeSsvQTBOVFU5SHg5ZmYxaDFkWFZseExScFNiallIRlRVOU16d2JFcXBmWmtaajhBdGphZFRpOHNmajVFOUFObW5rbEVGWlpsL1dybXpKbUhsQ3ZvbUVnazdtOXNiRnpSMU5UME9QS2RacjQ3WWNLRWU1aDVESURjbkRselhtdG9hRGdRK2VrTTYxS3AxTWFLaW9wRExNdXF5bVF5RDRiRDRjUGIyOXZQOFF1SUd2NEpkMjdseXBVYllySFlIVVVQR3cxa0JXeG1acisrUldXZ05lZXkwcit0d25Nc0ZPNW01bi8zc21raElHSloxb0RmWDdadGE5ZDF2eG1QeDU4enY2dXhKcUJ4UlUxTnpVZG16WnIxU2Yva2NiQ0ZRcUVQVzViVkkrTUcrZWZ5U0grT1libzIrQjVoNXJkNzY0Umh1Z3NWZHgyNURhWXdlbkZIRW15cGxUQVJRRk1rRXJrRFFIMVJkd2svRytHbkd6WnMrTjVqanozVzdqak9TYWJvNUpjQkxEYkJqRnVZdVRtWHkzVUwwSFIxZFVXajBlajV5UC9lSHdIUUxaQ2h0YjZGaUM0eXY1ZnZBUGhrcWVmbWVkN0RwbVBMYjAyTkZ5QWZpTjBYd0NNbTZKVXhCVUs3TVVsT3dTQjhEbHNLaXdMQVpOUEJ5WGNHZ0UrWVFJWHY4K2Fub0xmZlJVREpRR0JYVjlmcWFEVHFINkFtRW9uOFFTbjFNVlBIeGYrY0xBUXl0TmFmc3l3cjJOWEVJcUxMbFZMUmJEWjdkeWdVNmkyb2J3ZW5IUmtjbU41eE9SRXBNMjMwTzY3ci90Y3N6L3JQMGJLc3J1Smkxc1ZjMTcwVHdKMW0zeDdybzlIb0dRQnVOaitsckEvZWljZmpoeWNTaWVKeEN5RjJjY002a0FFZ3JiVnVOTDNGOXcrdVlPYWZKNVBKUzhydk9qREpaTktMeFdKbm1neVFZRUdxRnpkczJIRGEyclZycGRDUUdORXV2UERDekgzMzNmY3VFYkhKeUtqdXgyNDd5cmpnZk91QmFtaG9lQStBejVpNzdlWUw1d3BtWGc1Z2ZrZEhSMmJjdUhIVFRmWDRaUUM2QlRKR2p4NTlEaEg5RkFBbVRwem9GTGQzM2hHMDFrL2J0bDFjMDJKLy80dWkxbnFOWlZuVGlRaEtxV08wMWsrYkw2WkhLS1hzWUJGbHJmVTI3MUZ4VUFBQUlBQkpSRUZVRjg0RDhNdFM3VmZOaVgzSmFZSmE2MldXWlJWUEU1d2VPSm1hVXhRY2VTNjRJUkVWTW1xMDFnOVlsdlVYTXorLzBrd2hSQ0F0SGxyclF1RkpaZzRYWC9rMEp5OXRBRzR0MWJxVGlQWUQ4QXNBZjNaZDkybC91Ym02ZjFOOWZmMnROVFUxczVtNVIvQ0JtYjhUcU1keWU2bXVMMTFkWGNzcktpcnVCSEF4Z0VtUlNHU2VVdXE0WUkwTVh6d2UveEFSVGZXTERKckEwQy9NNjdlaHZyNitPaFFLdld3ZTcvNVFLSFM3WDZ3MUhBNWY3THB1UTlFaExiOWdIek52ZXVHRkZ6SXZ2UEJDOEFUUEwxcDRqam5tR3MvekxsSktmY3pNK2YrRzY3cTl0cWxzYkd3OEVrQ2haU3N6UDFGdTIrQ1VJR2JlNm01SmlVUmlybExxS0FBUEI2N21IeE9KUkU0QXNGMDZLWmpXbmNFeFc0R0NzYnBVSVVOekpkN1BRc2tCQ0Fadk9rMHdwdXcwT2FYVXo1ajVrNmJ1eUZGbHRva3g4L1BJL3kxL1RtdGRUVVIzOXZKVTBrUjBXUzZYYTY2cXFqcktjWnd3RWYyZlA4WlVLdlg0Z2dVTDFpaWx4cmEzdDkrNmNPSENqWTdqZkpHSWZsVGlXSjhJWmlpa1VxbjNKeEtKL3ltbEZnRTRqcGxuVFp3NDhaQmV4dEpOUTBQRGdTWllWTTM1RklEUE1uTmI4ZFFoeDNGdUNYVHFXT0M2N3N2bTl2cEFCeU03MEs1NFBSRVZaOHdzQmZCYTBiSjlnbi9MSmVTWWVSSHlyM1hZVEJ2S0QyTEJnbzU0UEg0bUVUMW5mdWZIbUpvOFAvQS9LLzBBNjh5Wk04Y1EwUlZtMmxuV0JHRGJ6UE0rUFJRS25WOGNmQnFnNDAxMnltR3BWS3BVUnhnQStLTGpPS2VWV3BGS3BhNHBidE1zaEJEbERQZEFCbHBhV3RaUG16WnRobTNienhQUkJHYldSUFRWWkRKNTYyQS9WaktaOU9ycTZ0NW01bm1tZXYyS1RDWXpZKzNhdFJ2N3Nic1FJMEc3S2NvWUpxS3FoeDU2eUQ3OTlOTjNpdXIvMnlJVUNuV1lFNGNWSnMxNHV2a0MrMUVBOXJoeDR4b0FSSkgvRXRwVXZIOHVsL3Q5S0JTNkNVREVzcXdMaGlLUTBkbloyVnBSVWZHL1VDZzBsWm1uRU5GVUl2S3pCNURMNWY1cldkWnpBSTVnNXJNdHkvTG5VWS9PNVhLSFdKYjFZWFBTMnRIWjJmbGtMdzlGU3FrUGJzTlFmOC9NdDVpNTgyUDgxeFg1azh4blN4VERYT0ovTWUvcTZ2cDh1Uy9KczJmUDNzMThDUWVBNTV1YW1wb2R4L2tOZ0tzQmZMeXhzYkd1cWFtcDJRUWZnUHhWK3VBVitCNVhQbDNYL2ZQTW1UTmZOVmUzWWRwTmpqWTFXY1l3ODAwbWErZURzMmJOK2wvd2lyNlpQdk1kWnI3Tjg3eHVyMmM4SGo4WmdKK05rVW1uMDc4bzkySVIwYmNBTkpyT0JCOEc4S0JTeXZHN1FnUzJjNGpvOG1nMGVxdmpPSTJlNXozaGYwZmdyV2hob1pSNm41OEZRVVQ5S29xcGxLcGk1b2ZNRmU5N0hjZHBMKzVDRTJUYjlqY0NkLy9kMU5UMGRybHRBNjBtb2JYZXByYlBydXYrVnluMVlSTVlPd2JBejEzWDNXN3RJRDNQVytUL0RjZmo4UU9JNkRkRWRLajVMRDNkZGQwNWp1UGNhRHF6SUoxT3oyRG05UlVWRlk4Qk9OSUVNbTRHOFAzQTc5MXlIT2R1SWlvNXJjMU1vWnBZM0NXbWlHMjJBVE5YcE5QcDMwV2owUnNEbVRqcm1QbFBSUFJCYzZJZUFYQkhtVzVIdi9mZm02N3JmamV3UEZJbUU4RU9MZytGUXY2MGdyc0JIRWRFaTAzSG9uNnhiWHVTL3hvVDBUZVorV0RMc3I2aGxIcmNaRks5b1pUNlFTQ0lzU3c0ZGN4TVRmd3lUR2FIWlZsK29PTFRydXMrWFBSd2Z5cWVXc0xNM3c5MDN5aWx5L084RTdFbEFOaXRtMGNpa2ZpUDR6alhBN2pHUElmRyt2cjZINW1nUnlIQUdvbEVyakR2cjZlWitmM205L2NFTTcvTHpQZWF2K25DTkdtVDNlSi90cVdMUGd1NkZmMVVTa1VDQWUybC91ZGVDVFBLWmFCRW85RmIrL2liQTB4V0VETUhwemY1Z1dnL2dQVHI0RlM2WEM0bndSRWhocUdCRmwvYkpTMWR1clRaZkxuZEFHQjJjM1B6b0FjeGZNM056YzluTXBuRG1mbnZ1Vnh1eHJKbHk4cDlrQXN4RW0wS1hCa2MwMHNCM2gzS0ZMb2IwNCtmVW9Yd1lOSmtrd0J1WStac1lIbmFYUDMySy9CdmFtMXQ3VEVGWU02Y09XdVkyZit5K3pHbDFONmxIa2NwTmM1MEZ4bDBvMGVQZmpBY0RpOGhvcjlhbHZVYk15Mmg4RmpoY0xpZG1WMllMOGtBVnZsZk9HM2JQcHFJampmci9tb0thSlpTcVpSNmlKbC9zTFhqTksvMWp3RWN2UzFYMW91RncrSFRBOU5ESGpMLy9nN215N3hsV1o4M1U0dU9NT3ZlZFYxM0Jjd1grRUJSemVCYzlNa1ZGUlZMbFZJdktLWE9NSms0cmduRXJQRzc5aERSU1pGSTVPVjRQSDZxMlcrYWFXZDRKQkhkM05EUU1ERjRUQ0s2Ti9CNFArL2xoQUd1NjI1ZzVtQW14QXdBODA4NjZhUnVKNGVCS1JwanRkWitONkVhczY3UDlzR3paczJhcXBUNnVQKzlRbXQ5cEwrT21WL3FhMzlzK2QyZVlVNlFiQ0w2Z3dubzlORFkyUGhSWmk0VWROUmE5NWpxVUtUdzNyVnRlNXYvYmx6WGJkMjhlZk1KQUs1c2JXMGQ5T0s3eFJvYUd0N2pPTTRQTE12Nlo2QnIwUGUwMXErWktSRUhBemdFd0NIaGNIaS9jRGk4cDliNlVuUENIUUh3YldiK2R6d2UvMlI5ZlgzSWRBdjU0V0NPY2NHQ0JSMWE2eXNBUEEvZzV3QSs3M25lcHdCOGhKa3ZaK1pmQmo4Zm1ma3VBRGN3OHprQUxtaHNiRHd4SG8vUEx1cDI5Qkl6LzRLWmZ3RWdXRFM1eFYvT3pML1FXbTlHdm9CdlFtdTluK3U2SDJsdGJlMHRvTnFOQ2R6Vm0weUdHNG5JcndOeG9tVlovMVpLTGZiYm5ETHpPd0ErN3Jjd2h1bE9OSDM2OVBHTmpZMVRMTXNxWkZZUTBRY2R4MmxVU2swSVBOem56ZitGaFo4K2doajlRa1RYQTNqRlpJSWRiVEs3dWdWWS9ld3VadTVXOThQenZFc1NpY1MvUE0rclRhVlNFNGpvUkNJNlVXdDlvUDg3WStaelBNK0xlcDVYU1VRZjFGcDNtNDZwdFQ0MUVNUXEyUkxZNkRJWlJqMStjcmxjditwWU5EVTEvZFh6dkhPRFA4ejhscisrcmEzdC9PQzZ1WFBuZHF1UFpONERJK0ljU0lqaGJOaG5aUGlTeWVTZnAwMmJGbHU2ZE9tNjdmMVl5NWN2WHhHWUZ5MkUyR0tqcWFrd0JzRFlkZXZXUlhhRy91NUV4SDNOMmNXV1lwL2xqckhZZkhudmRwVklLYlZub0IzaG5GN3FYL3phWERrSE01OEY0TnJneW5nOGZoRXovNnlpb29JZHg3blF0S0ljVE4xYTRab3ZyNFY1MUYxZFhSdERvZEFqb1ZEb1JnQTF6RndQNEVVaXFqWnArNGVZL2ViMjhoajdBOWlmaUlvTDJRMkk1M25mUXBtNTA5dWdrR2FmeldibktLV3FzdG5zV3N1eTNqQlhreitybEhvTXdBVGtmOStGbWhXYk4yK09WbFhsczdHRFUwdTAxcWRibG1VRCtLQy9uODkxM2IvTm1ESGpvR2cwZWd1QXp6UHpKblBDdEtmcnVrc2R4L2t4Z0NzQlZOdTIvWDBBRjgyWU1hT2FtUjgzR1g4QXNJU0lydXJyaVhtZTk3RGpPRDhObkN5ZFBIYnMyR2VWVW5IWGRkK1lQbjM2ZUFCK1lkTTNtNXFhbXMyWC9Gb0VUbjU2RTRsRTlqV0ZYUjl4WGZjMHk3S0M5UW42RmNnd1kxMFVqOGMvWjFuV2ZlWUtjSTlpbjlPblR4OXZXVllobUFOZ2RUcWQvblV2aDZYZzY1L05adnNNelBTSENkamRVRzU5UTBQRGUwS2gwRGVSLzF0NHZWUmRpZjR3MDIwV0JxYVRyRFVkUnE0aG9oN0Z5b25vMGVBVmIyWitoNGgySjZKOWllajNOVFUxcHdNb25nbzBLQktKeE8xS3FSdE02OUlaQUR6WGRWdjlkcVJLcVhQODc1NXRiVzJYQkQ4UGxWSzNBM2l2M3c0Vlc3SlJGbUZMSm9KZkpQblZVZ1dhemUra1hLdlVYcm11K3dLQUY4eFlqbWZtMjRub3N5WVk0RSt2V1VwRUo3bXUrMFp3MzdxNk9zOTBLQ3AyTFJGQmEzMTRvUHZHMWt3dDZjLzQwMHFwdy95c0c1TWgwYTB0dEdWWmZ3UndReTZYKzcxdDI5OEo3cStVdW9PWk04ejhESURmd0hUcklhSW5BSnhzdW5JOTREak9mQUNuV1paMU80QkNRVmdpQ3RiOU9LcXhzZkZFditaT2tRYlhkZiswTGM5MWF5bWxLazF0bGJPVVVqbG0vbW1wYms1Q2lGM0RpQWxrSUorWnNkMkRHRUtJWGhVeU1waDViRGdjM2lreU1nYWoyS2VaMDcraHhNbjE1LzBpb0ZycnN1bm43ZTN0ZjZxcXF0b0lZS3pKNE9nV3lMQXM2NUxBWi9iRkFBWTdrREVQd0RKbWZqT1h5NzI1ZE9uU1pHMXQ3YWZOZEpHc3FjSHdtcG1xOFpiV3V0MjI3Vk5kMTgwRk9yRG9YQzQzUDNqUVdiTm1UUzB1Z3NyTWY5MlN0VHowbEZMbm1xdlpRRDQ3WXdueTZlcUZiVXc2ZHVGa1dXdGRtUEpRV1ZsWnlHNWc1a0kyaW1WWlo1dGxXU0x5QUZ3ZWZGenptbDdvT003Zm1mbGx6L05XS0tYZVVFcTlxN1crMjdRcm5rUkVGelEwTlB6RXR1M0xpZWdBYkpudWNaN25lY1dCd0pMdktWT0xvTkJaeHh6bktBQnZWRlpXbmhpNE9yblF2Q1pIQjRJMlpidUJCSXp6bjc5U2FuOEFKd1lldTFSSGxiSVNpY1Q5anVPTUphSW5QTS83YjNEZGpCa3pSa1dqMGZrQTZ2eGx6UHlOVWpWQ2ZQRjRmTzlndW53b0ZOb2gzd1ZzMno0V3dGZVFmdzIrdmJYSGNWMzNTYVhVMHdDT1orWmZFOUhsQUpZVWJSWU50TnJzTUxXSVlPNS9nNW1yTE12Nm9kbXV4MWhDb2RBM2llaUlyUjNqVUZCS1ZXbXQ2eXpMZWk4enY3ZXRyZTNXWVBlWW1wcWEzajVneUhSMUFZQ0lYeHNtc0g0ZlV4OG5hRDZBendZek1YeW03V3JKQjJKbURyWWJaK2FuaU9pbVhDNFh0U3dyYXJxMGZDNFFPRHluc2JIeHowMU5UY0ZPUlZISGNSN0hsaG9aSlFXbmpHV3oyVEgrWjVqZmN0aDEzU1dPNDl3MFo4NmNOY0gvcTVSU2s1bjVQQ0lLQWVqMi9tRG1IelB6cnl6TFdxZVV1b0taWHdkd0doRTFBUGdTQUczYVRYZXJzV1RidGhlUHh6K1ZTQ1QrV0c2OFErQmFBT2N6OHhvaXFpQ2lLeDNIYWZZODcrNmhIcGdRWXVCR1ZDQkRDREcwc3Ruc3BuQTRuSUtaczg3TVpiK1E3V0RiVk93VCtTK0k1YklNR3MyL2J6VTFOUzFDL2t2amhPS05GaTVjbUhJY1p3RVJuUVZnNzNnOGZrQWlrWGcxc0VrVGdLc0N0d2VWNTNtTEdoc2IzMEIrcXNzN3lGOWxuSUw4NytyZHhzYkdqMXFXOVg2dDlhMUVsTElzNjBCbVB0QjhHZmJuaXEreWJYdW00empRV3YrcHFhbHBlVGdjUGk3d01HbXQ5VmNzeTdvU1FHRmFBQkZkb3BTNnFDalY5NHRLcWVMNSszZVhLUUNLY2tVQmcwVWVvOUZvUzRuT0pqY3o4OS83R1ZUWjB4eXp3MXpadEFCbzI3WlBEbXpUQWRQR0VjRGhadG1mWE5kdERiUmY3RGF0dy9PODMyRkxKNUwzRWRIN0xjczZnSm0vUzBTM0FMQkRvZEFGWnY3L09lWVlYekludVB2bmNybU5uWjJkRzZ1cXF2Wmw1b01EenpkWXJ5T25sRHJUQkt5T1orYW5QTS96QTJ1RndudGFhMy9xMDVXQjE5QXZkRnFXMXJyYXNpd1EwV3BtL3BiZndZdVovME5FbjFaSzlTaDJXbVJhcWZhU1Npa3dzK2Q1M3JrbXcyR0JQNzNIZU1UenZFS0FhZmJzMmU4bG92WFpiTFl6R28xbUFVeGo1bUNRc3RWa0NPd0loWEVTVVordllTOTBMcGM3QjhDK2E5ZXVYV1NXZFp2bVZsMWQvYUNaOGdVaSttQnJhK3RieFFlWk1HSENQTnUyRHc4VXFDd3dKOUk5TVBQbzR1azlSTFNuVXVvVHpMeDdIKytiY1VxcEs0cVdGVDd6cTZ1cnY2YVVDazQxMmEzNGVFcXA0N1hXVXkzTDJyMm9WZW9uQUd6eXN4eUlTQzlhdE9qSEp0ak01bmluQkFxOFpnUEh0Sm41SGovWVJrUmpvdEhvd25nOGZvRmxXUll6WDIwNm52aC93OHNCZkx1M0xEaXQ5WjJXWmMwRHNOYlU1bmdBVzFxTkhtQ0t3L3BqUFJQQW1XVnFoWUNJYnJCdGV4MkFZQ0RESnFJVHlyL1VzQm9iRzZmYXRyMnB0YlYxWTAxTlRaaVpnOFUyQzEwOGlPaDdKZlkvMXdReE5tcXQ1OXUyZmJWNTdoV0pST0poNUQ5amYwQkVWNXEyMFFBd3FiR3g4YWhVS3ZWZklyckxQNUNwYzNNNmdIR1daVDJpbFBwM2NKb2lNNThXajhkckE4RTIyenkvTUlBSU03L21lZDY4Y2s5VUtUV3p1T3VMT1c2aFJYRk5UYzA4Ly9QV3JHdnpQTzljQUEzTXpGcnJnNGhvVDh1eW5nY3d5M3kyQ2lGMk1STElFRUxzTUtGUWFHT2dSc1pZeTdKMmxveU03YWExdGZWUTAzbGlONlhVNDZhTjZMNysrdUFYYkNMNkZUTXZ6V2F6OTh5ZE83ZmJpWWpydWxmSDQvR0h0Tlo2enB3NXIyeVBzZHEyWGMzTXp6dU84dytUL2h3M3E1WllsblVlRVozVHg0bkxIdjRYV3RNQlpUa1JQV0E2Ykl4bTVzWkVJdkdVNHpqZkk2TEt3SDdoNEFsT3VXWE1IRVY1SllzQ0ZvMjN4M3BtcnZBODd3bHpvbjJzU2NOL0IwQXJNN2NDYURWVG9yN203MDlFdHpQenhVcXBiNW11RWNFQWpGOVVycEM2VDBTL01qZlhtS3V1dFk3ajNFOUVyd1hHTVFwQVBGRDdZazU3ZS90dFZWVlZEUUR1Y0YzM0R3RFljWnduemNtNzN3b3pZZHYydm9HcExmNGhON3F1RzJ3UEM5ZDFOeDkyMkdHZnFLdXJ1OGZ2TG1FNnpweHFOdWxjczJiTjM1UlNYL2FYbWRlanVGZ2hUTWNEZit6SFdKYmxkeUZhYW9yVnhzM3Y3dzVtM3I4NGVGUGllRlN1dlNRUlJlUHgrTWxtdWttd1RmQ1NUQ1p6ZG5EYlVDalVSRVFIRjJYVEZHNzduUjkyQkQvRGdabVhlNTdYNytrMXBXaXRONGZENFQrWG05cFc1UFZ5MnpIenRTYXpvTmhjWmo2QWlONFhYRWhFVS93c25ZQVRBWnpZVi9DUGlIWURjSDB2NjY4cnVsOXFzNTlibHJWZmllWEZVWUROU3FrS0FHdE10cElkNk5vQ0FJWE9JVnJyU3l6TE9xZG8vNCthQXAxRVJNSDM4eW96eldJdngzRytTMFFXTTF2bVBXOFRrYVcxZmpXUlNQanZjYi9ZcC8rY3NyMU1uK3d5Z2M5MlUxeDFOK1IvUi84QzBGSmkrMkJ0bCtMM2lyWnQrMGtBVS8zZmZkSGZmU0dycXJqUXIxbC9udG4rZDdsY2JwVWZaQ0dpYnp1T1V3dGdGQkZkYURaL0RNRDdBTHpYdHUzVFJvMGFkUUlBdjY3VGk1N25mZEp4blA4R3BqMGRFaHdMRVgycHQ3OGRaajYvN01yOCtycGdoNm5BY1lOM1R5MWE1OWZzeUNELy8xT1VtU3RSTkIxUUNMRnJrVUJHR1MwdExYUDdTQ01YUWd5UTFucWpiZHVGWXA4N1N5Q0RtZC9PWnJQMS9kalU5cWNkOUpkSmRmYVF2NkoxZFlsMDVVTHF2T3U2ZndGUXRuVnBJcEg0ejBBZWU2QlNxVlJMUlVWRkJZRGlLMzlOQUE0dHMxdXZYTmROTzQ1emZqcWRmc3Z2eWtGRS8yVG1rb1ZUKzlEY3k3b1ZBQllQOUlETTdKOHduSlhOWnR2bnpKbXpwbmdieDNGKzRKODRNUE9tZERyOW80cUtpb1BONnVLQ2NZOGgvN3l2VkVyTkFYQkdhMnZyQXJQdkUwUjBHUEt2d1dlQ094V2RkS1NZK1VZejM3OWJ2U1d0OVJsTlRVM3ZCUFpiSEF5TUJZN3hxK0psQUdEYW9ING1zRjE5b0JYeVh5ZE1tTEFIZ0JzRDZ5LzFQRyt6S1k1WFlGbFdzemtwQ0pzcnpQNzQvcHBJSko1VlNuMFBRQ01SM1dFeWRoS2x4dE1melB5TVNZMGZGMWljek9WeUo4NmRPM2Q5MGVZdm1NS1hwWTdqRjZQY0VjaTBvZHpXYkl3ZElwUEpYQllPaDA4Q2NCSXp2MEZFQnc3MW1JeG1BS1VDR2RvRUoxWUFXR211NG5jNmp2TXZJanE2ZU9PaVlGd2htS1cxL2p3UkhVbEU1NVVJamdEQVpDSzZNcmlnK0NTY2lDNHEzcW5JYjdUV2orWnl1WFlpNmdpRlFoMnU2M2FZNXdEa1AyTnU4anVaRU5HcEpUTDgybDNYclVLWnJpWEdZd0I2QkFITXRKZStNZzYrQU9BTDJXejJqbm56NWkxWFNyMWhwdGNjRE9DbXdMRllhMzA5RVUwbUlrNmxVbitOUnFOZEFEN056Sk9JNkZ3QTJ2TzhhMDFBL0ZMeisraVJoVmhHTHAxT2x3cTBCYVdMZ2pyOTBXN0dmNThwY3Z2ZlFOYllIL3JjV3dpeFU1SkFoaEJpaHlHaVRmNWNZbVlleDh3Vi9kaHR1eU9pYkhGVjgxSjZLL2JaVHk4QjJBdGI2aVlzem1hejMraDd0eDFqL3Z6NW01UlNHMDBid3BUcDlEUUh3TTlUcVZTRmJkc2xwM1dVc243OStzSTBBVk93cjhCMTNaS2RLTGFGNTNrdUFIZHI5M2RkZDJtNWRhbFU2bnZSYUhRTU0zOEp3SmZuejUrL1dpbjF0UGtkRWpOdk1rVUFiL0k4NzZuQU1aOEQ4SngvZitQR2pkOGRPM2JzT0NLYVZaUlpBT1QvSnRZQWVJbUlydkU4cjJUQndtQVF3K3l6bUlqTzk3L2NNL05LSWtxMHRiVmRWMnIvWXJsY2JxVnQyN2VhK2UwTG01cWFtaHNiRzQremJYc0JNLzh3a1VnOFZPYjFXdXM0enNVQXZrTkV1elB6dXdCdU5pMXcwZHpjZlAyMGFkUGNPWFBtNUV5M2lYdEtIV2NnNHZINEdaWmx6UVh3VWpxZG5oMXNWeHZ3YW9sbDdjeThXR3Q5cFNsa3V0MDFORFRzYStyZFFHdmRJNk5sb09iT25idlJ0TFRkSmtSVXFPL2d1dTZTK3ZyNk1MWUVYTzgwUDVneFk4WVRmYjNmYmR1T1daYjFZdkh5YkRiNy9rQTcxSUY0dXJqZ3BkWjZvV1ZaclNiZ21OUmF0OWkyM2RMYTJyb3lXQThqNEZrQVI1cmlscHNCckdEbSt4S0pST0hrT0pGSS9Fc3A5VEl6ejBza0VuY0J1RXNwOVFDQUMwMjcydDM3MjlHQ21WUFpiUGJCM3JZeFU1a0diVHFUMWpvWDZBcnlibURWYzZiK1F4WkFKeEd0WStaL2FhMXZiR3BxNmpHZEtNaDBiWG5DdjUvSlpLYUhRcUZ2RTlFQnpCd2xvaXd6dHpEem5VMU5UWDh2M3IreHNmSFRsbVdORFU1YkNoNVRLVFV1blU2UERZVkNvN1hXRlVRVXNTd3JyTFVPNWYrVWJHSm0wbHAzbFd1UkhUanVMd0g4Y2tBdm1rRkVOd01ZemN5ZnkzOTA4NDNtL3c0aHhDNUlNZzZFRUR2VWZmZmQ5eWdSbllUOFZkMWpQdjNwVHovVjkxN0R3MGtublRSNjNMaHhGYWxVS2xOUlVkSGh1bTV1cU1jaytpOGVqeDljbEJWVG1JOC9UQlNlajFKcVhQSFVsSjJCVXVvVHJhMnRpM3JwL2tPSEhYWllDQURHakJuRGl4WXQwc0VyMzBJZy8xNytVQ0tSK0dlWjFWUmZYMTlSV1ZrWnFhcXFDblYxZFZsRVpJZENJU3VielZJd1NKUE5aalB6NTgvdjBkWEh6MkJhdEdoUmJwaDlSZ2doeEU1REFobENpQjNxM252dnZjK2ZuOHpNenJubm5ydlZLZWRDQ0NHRUVFS0lrV2RyVXYrRUVHS3JXWmExS25DN1IzcTlFRUlJSVlRUVF2UkdBaGxDaUIyS2lBcUJESzMxbmtNN0dpR0VFRUlJSWNTdVJnSVpRb2dkS3BmTEZZcVRFWkZrWkFnaGhCQkNDQ0VHUkFJWlFvZ2Rpb2dLaGRHWWVmZWhIWTBRUWdnaGhCQmlWeU9CRENIRURtWGFOQUw1b0lZRU1vUVFRZ2doaEJBRElvRU1JY1FPeGN5ckFuZWxSb1lRUWdnaGhCQmlRS1Q5NmdERVlyRTdBQndCWUtuNWVSdkFuNVBKNUwrSGVteEM3Q3FVVXZacHA1M1dCU0RFekhxdnZmYXFPTzY0NDdKRFBTNGhoQkJDQ0NIRXJrRXlNdnBwNnRTcDd3VndQaEY5Z0lobUV0R1hBZHpBekttaEhwc1F1eExYZFhNQVdwR2ZXbUlsazhueFF6MG1JWVFRUWdnaHhLNGpOTlFEMkJGaXNkZ2tBUGNQWkI5bXZxS2xwZVVsLzM0b0ZMcVdpT3pnTmtSMGR6S1pmSDB3eHlyRUNMRUd3TzdJdjQ4bStvRU5JWVFRUWdnaGhPakxpQWhrTUhPbFpWa25EMlFmSXJySnYxMVhWM2NzZ0xOS2JQWjZiVzN0bVgwZHk3S3NGNXVibTk4Y3lPTUxNY3l0OFc4dzg0U2hIWW9RUWdnaGhCQmlWeklpQWhuYm9yYTJOZ3JndGpLcmI3R3NmczNPdVF5QUJES0UyR0t0ZjhOa1pBZ2hoQkJDQ0NGRXYwaU5qRDRRMFkwQURoenFjUWd4ekJReU1temJsa0NHRUVJSUlZUVFvdDlHY2tiR1c4emNobnl3SWd6Z2c4VWJ4R0l4eHhUMUZFSU1JbVplUzBUK2JabGFJb1FRUWdnaGhPaTNFUnZJWU9acmtzbmtiNUdmUGpMWnNxeDNpdFlmQWVEcUVydSt5OHpyeWgyWGlQWXBYcWExN2hpa1lRc3hMQkRSMnNCZHljZ1FRZ2doaEJCQzlOdUlEV1QwdzNWRVZHcnFUV3Nta3psOCtmTGxuY1VyWXJIWTJRQitVN1Q0M2ZiMjl0OXZ2MkVLc1V0YUU3Z3RnUXdoaEJCQ0NDRkV2MG1OakRMS0JERUE0SUJJSkhKejhjSzZ1cnBwUkhSTDhYSm12cXExdFhYemRobWtFTHV1WUNCRHBwWUlJWVFRUWdnaCttMGtCekorV2xkWHQ3eXVybTQ1RWIxWXZGSnIvYXZBM2RhaTFWK29xNnU3MUwrejU1NTdUbVRtQlFDcWk3WmJtRXdtN3g3MGtRdXhpNU9wSlVJSUlZUVFRb2l0TldLbmxoRFJlQURqemUwZTZ5M0wrZ09BU2FZZXh0Y0F2RWhFZXdRMnVhV3VybTV5SnBPNUt4d096eTN1Yk1MTXpaMmRuZWZzZ0tjaXhDNUhhOTBXZU44VkJ3Q0ZFRUlJSVlRUW9xeVJuSkhSSnlJNkw1bE1ucHRNSmxjRE9KT1p1NG8ydVR3Y0RyOVdvajNydTBSMHlxcFZxNG96T1lRUUFMTFo3R1lBV2VTRGZtT1ZVdlpRajBrSUlZUVFRZ2l4YTVCQVJpL2VldXV0ZHdIa0FDQ1pURDVKUkFwQXBtaXpjTkg5cFFBKzB0emMvT2FPRzZrUXU1Wm9OSnBqNW5aejExWktWUTd4a0lRUVFnZ2hoQkM3aUJFeHRhU2xwZVh0bXBxYU1jRmxvMGFOT3NpMjdhZUtOajFpMDZaTnJ3RkFhMnRyb1N2SmxDbFRLa09oMEVuTWZIYXBhU2hGS3BuNUc3VzF0UXM2T3pzZlg3MTZkWHRmT3dneDBqQnpEc0JtQU9PSXlFcWxVbVBNZlNHRUVFSUlJWVRvMVlnSVpBRGc0czRodGJXMVBkcW5aaktaenRiVzFzMFRKa3dZVzF0YmV5eUFJNG1vSHNESGlLaS9WNHhyaU9oOElqcC8xS2hSdVZnczlqOEFMelB6UDFwYVduNDZhTTlJaUYxWVYxZVhqa1FpL252U3ptYXpWVU04SkNHRUVFSUlJY1F1WWtRRU1tS3gyRjFFRkROM0Z6YzNOMytudCszSGpSdDNNeEZkMEo5ak0zTUhFWTBxdFk2SWJBRDdBdGlYbVRkdHpkaUZHSTVHang2ZHkyUXltNUYvRDlrQVJnLzFtSVFRUWdnaGhCQzdoaEZSSTRPSWpnSndBb0FUbVBtUXZyYlhXditZbWJuY2VwTVdQd2ZBNFVTMEJ6Ti9tNW5YOUhaTVprNXM3ZmlGR0c0Nk9qcTBQNVdFaUN3QVkvcmVTd2doaEJCQ0NDRkdTRVpHZjRWQ0lTOFdpM1VSVVJ1QWhRQk9MZHJrWldaK0lKUEozTDk4K2ZJVmdlWFg3YjMzM2ovS1pyT3pMY3M2eHdSTkl2NUtadTdLNVhKLzNYSFBSSWlkV3k2WHk0VkNvYzJtNW94dFdaWk1MUkZDQ0NHRUVFTDBpd1F5QW9ob0grUURENnVaK1V3aTJnL0FVOHo4cEdWWkM1dWJtNWVXMjNmSmtpVXBBQThDZUxDbXBxWnExS2hSSDdjczYzZ2lPb3FJVmkxZnZyeEhUUTRoUnFwUUtLU0p5SDlQV014Y2NucVdFRUlJSVlRUVFoU1RRRVlaTFMwdGl3RFV4V0t4cDRub1JHYStOaGFMOVdQUEh1NXZibTYrZlBCSEtNU3VLeHdPYTYxMXltUmtXTUVNSmlHRUVFSUlJWVRvalFReStrQkVOUUFtYmNNaHhnM2ljSVFZRmpvN096a2FqYWJNWFdMbWlpRWVraEJDQ0NHRUVHSVhJWUdNQUdiK0RCRWxBYVNIZWl4Q0RHZVJTRVF6YzlyUHlMQXNTd0laUWdnaGhCQkNpSDZSUUVaQU5wdjkxN0pseTE0WjZuRUlNZHh0MnJTSng0MGJWOGpJa0trbFFnZ2hoQkJDaVA2U1FNYkFMV2JtdWIycy95b1JUZDZCNHhGaWwxTlJVYUdKS0dXNkhGc3l0VVFJSVlRUVFnalJYeExJR0NCbWZpbVpUTjVVYm4xZFhkMjVBQ1NRSVVRdjNubm5IYTZycS9PbmNCRUFDV1FJSVlRUVFnZ2grc1VhNmdIc3hDeHpnaVdFR0dTdnZ2b3E1M0s1TlBJRmRXVnFpUkJDQ0NHRUVLTGZKQ01qSUJRS1hWMVhWemVHbWQ5TFJMSDE2OWZYRFBXWWhCaU9YTmZWMDZkUFR5R2Y1V1FSa1dSa0NDR0VFRUlJSWZwbDJBY3lZckhZUndHTThlOFQwZEd4V093bEFIc1ZiMHRFWjVoL0FRQnIxNjd0MkcyMzNZbzNPNkMydHZhaWNvL0h6T1A5L1lVUVpURVIrY1UrcFVhR0VFSUlJWVFRb3QrR2ZTQUR3QndBRXdMM2E0aW92NWtXMmVJRlJGUlBSUFdETnp3aFJpWm16Z0xRUkdRQkNGOXp6VFhXTmRkY280ZDZYRUlJSVlRUVFvaWQyN0N2a1VGRUs3WnkxeDVCRENIRTRMRXNLMDFFT1hNM1BCSStqNFFRUWdnaGhCRGJidGlmT0REemdBTVp6TndCNE4vYlowUkNDQURJNVhJWlp0YklCeHpEKysrLy83RC9QQkpDQ0NHRUVFSnN1NUV3dGFSa0lNTUVLNVlRMFJJQS8yUG1KY3o4djJ3MnUyVDU4dVc5QlQ4eXpKenVaWDJsU1pVWFF2U0NpREpFNUUrcGdsYjZBQUFnQUVsRVFWUWxDYmUzdDh2N1JnZ2hoQkJDQ05HbllSL0lZT2JuaUdqOEFJTVZ2UjN2em1ReStlVnk2K3ZxNmw0QmNNQTJEVnFJa1NFRFFDUC92b3EwdGJYWlF6MGdJWVFRUWdnaHhNNXYyQWN5V2xwYTdnUnc1MUNQUXdqUkhSRmxtRmtURVlnb1BHSENCTW5JRUVJSUlZUVFRdlJwMkFjeXR0WEdqUnNQcmFxcUtsd3B6bWF6cWQ2MmIyNXVQbkNIREV5SVhWd3VsOHZZdGwwbzlwbk5aaVdRSVlRUVFnZ2hoT2lUQkRMNjBOYld0cW10clcyb2h5SEVjTlJ0YWtsVlZaVUVNb1FRUWdnaGhCQjlraE1ISWNSUUtRUXlpQ2drR1JsQ0NDR0VFRUtJL3BBVEJ5SEVrQ0NpUWlBRGdKM0w1ZVR6U0FnaGhCQkNDTkVuT1hFUVFnd0pJdExNelA3ZElSNk9FRUlJSVlRUVloY2hnUXdoeEpEUVd2dEJEREN6QkRLRUVFSUlJWVFRL1NLQkRDSEVrTEJ0dXhESUlDSUtoVUlTekJCQ0NDR0VFRUwwU1FJWlFvZ2hRMFF5dFVRSUlZUVFRZ2d4SUJMSUVFSU1pZURVRWdDVVNxVWttQ0dFRUVJSUlZVG9rd1F5aEJCRHdoVDZsSXdNSVlRUVFnZ2h4SUNFaG5vQVEySEtsQ2w3UnlLUm1WMWRYYjlldVhKbFcxL2J4Mkt4azRqbzFPQ3lkRHI5OCtYTGx5OEJnS2xUcHg0WUNvWDJUeWFURDIzUGNRc3huQVJyWkRDejFNZ1FRZ2doaEJCQzlNdUl6TWlJUkNKZkJYQnpOQnBkRVl2RkhxaXJxenVoanl2Q2h3RDRTdkFuSEE3SEFLQ21wcVlxRkFxNVJQUmdYVjNkUDJLeDJCRTc3cGtJc2VzS1RpMGhJZ2xpQ0NHRUVFSUlJZnBseEFVeUprK2VYTVBNbnpGM0kwUjBCak0vTm5YcTFBTjYyYTJqZUlIV09nd0FWVlZWdHhQUnZtYnhNUUNlaWNWaWQwMlpNbVhDZG5rQ1Fnd1RKaU5EcHBZSUlZUVFRZ2doQm1URUJUSXFLeXUvUWtTamloYmZzMnpac2xmSzdjUE03Y1hMaUNoY1cxczcyUVF2Z3N1SmlDNklSQ0t2NzdYWFhxY1c3eWVFeU5OYW16SVorYWtsNlhSYWdobENDQ0dFRUVLSVBvMm9RRVp0YmUxdVJQVGxvc1ViTGN1NnVyZjlpS2hIUmdZUlZiUzB0S3pxNk9nNEVNQlBtRmtYYlJLMWJmdC9nekp3SVlZNUlxSlJvNHJqaTBJSUlZUVFRZ2pSMDRnS1pGaVdkUm1BY1VXTHIzM3JyYmZlN1cwL0l1cVJrY0hNbFFDd2V2WHE5dWJtNWt0enVkeEhtVGtaV0g5QmMzT3pCREtFS0VOcnpVUlVtRm9pR1JsQ0NDR0VFRUtJL2hneGdZekpreWZYQUxnc3VJeVpYMnR1YnY1Wlgvdm1jcmtlR1JrQUt2MGJ0YlcxVWN1eVZnQzRrSm1ibWJtWmlBNk54V0wzMWRYVk5RM1djeEJpT0NudVdqSzBveEZDQ0NHRUVFTHNLa1pNKzlYS3lzcnZBQmdUWEVaRWx3RElUSmt5cFhMNTh1VXBBTjJtaDlUVTFGU05HVE5tRDYzMSs0dVBSMFJmcjZ1cnU1aVpkeWVpOFNVZThncS9FVU50YlcyMHBhV2xhL0NmbFJDN0xwT1JBZk1qN1ZlRkVFSUlJWVFRL1RJaUFobFRwMDQ5a0lndURDNWo1Z2VUeWVUanlMZGp2U1VXaTlVRHVORzI3ZDlxclY4RU1BMUFGZkpUVW5vY2s0anF6TDk5UGo0ejd3NGcyZWVHUW93Z29WQ0kvUmFzekN3ZFdJVVFRZ2doaEJEOU1oS21sbEE0SEw2OUtHaXpNWnZOL2g4QVRKczI3UUJtdm9DSTlpR2l1N1hXYndIWTJ3OWlEQVptM21Pd2ppWEVjT0VITVdDS2ZRN3RhSVFRUWdnaGhCQzdpbUdma1ZGWFYzZHBjWXRVQUZjdVc3WnNKZkx6OUc4bUlqdXdiazhBbXdCRXR2SWhOekh6U2lKYXljd3JBYXpVV3EvZSttY2d4UENrdFdiTHNxVFlweEJDQ0NHRUVHSkFoblVnSXhhTEhRTGcrcUxGV1FBZmlzVml2eVdpQ1FCT0RxNWtaaGRBaElobTlYWnNabjRUd0oxK3NNS3lySlh0N2UwclY2OWUzYVBEaVJDaWQ4eE1sWldWL2RoU0NDR0VFRUlJTWRJTjYwQUdFWVVCVkJRdERnSDRiSmxNOW8zWmJQWlMyN1lQSXFKNVd1dVZsbVd0VEtWU0t5T1J5SnNtOE9FZmUwVnpjL1BOMi8xSkNDR0VFRUlJSVlRUW9tQllCekthbTV2L0dZdkYzaWFpdmZxelBUTmZaYWFjckN4ZUY0dkZOZ0NZRUZoVTNkZnhwa3laVWhtSlJLYm1jcm1KYjcvOTl0TURIYjhRdzV3TmdKQVBET1p5dVJ6M3ZZc1FRZ2doaEJCaXBCdldnUXprZ3hOTlJIUlpQelo5S3BsTS9yS1g5UnVLamx1OXh4NTdWSWRDb2IySWFKcHQyM3RwcmFkWmxyV1g2WGd5RGNCN2tPOTZzcTRvQ0NMRWlFZEVOak5iUkFSbWxrQ0dFRUlJSVlRUW9sK0dmU0NEaUI0QWNJU3BaZkVPTTYreExPdnJSVjFKMHRsczluTUF0TDlnNzczM3J1anE2cHBxMi9ZMDI3YjNZdWJkaW82N2V6UWFiUTB1SzlXbTFXdzdmdEtrU2FPbGZvWVFXNWdpdS80Y3I1eGxXYnFQWFlRUVFnZ2hoQkJpK0FjeWtzbmtjd0NPOWUvWDF0Wit1MFJyMVd1V0xsMzZYK1Nua053RjRMUmNMamNwRW9rVUNtbHNhM2ZJVWFOR1RRSHd4allkUk94UXpNckc4KzAxcVV4a2RBVjFycU9qSDEyNzdjY0U0VituVkhkbFFsV1VvVWlGcFRkRFd4dnAyUG1iQm1mVXU1VGcxSkpzSnBPUmpBd2hoQkJDQ0NGRW40WjlJQ09vdHJiMlNNdXl2aFZjeHN6UEpwUEpId1VXVlJEUjVNRjhYR2JPQVpna2dZeWRIejh6YzFKWGppNWc0bGxkVDZVT0FvV2pJRVlYb3VoOGFsYWF3YThTYUs0Ri9WREYwUXRlNzg4eHU1NXRlRDluOVdlWThJbXVwM2svZ0VZQkFGdEFGMnpBQWpvV3oxeEh3TDlBOUxjb2N2ZlEwUSt2Mk81UGRwQXhjeFRBR1BPNVlwc2ZBTWlaYktjTWdNMUUxSWw4KzlXUVpkS1ltRGxuMjdaa1pBZ2hoQkJDQ0NINk5HSUNHVk9tVEpsZ1dkYUR3ZWZNekIxRTlCbHpvdVV2V3pMUTdBdG03aUtpWmN6OE5vQzNpZWdJcmZYelJIUWZnS1hKWkhLRmFmc3FkbExNeXU1NktuMUZsOFpWSUZRU2FNdWtoeTBpQkRvVXdLRWFkRTNuNHBrUFJzUFp5K2lJUDY0cWQ5ek9wMlpjejluYzEwQVV5aCt1OU44V0VZMEhjRHlBNDd2WStsYm40bGsvakI0OTc5dEUyS2xQN3BrNUJPQ0RBSTQwLzM0SXdFUUFvd0taVDVzQmRBQllCK0JmelB3OGdHY2ZlT0NCU0RxZExrd3RrWXdNSVlRUVFnZ2hSSCtNbEVCR09CS0p1S1lBWjlCWG1wdWJsMHliTnEwdUZBcnRwN1UrRUVDcGs5S05BTllYNzYrMS9oV0FxMXBhV2xZRFlPU25wbHpNek9jUjBmNEEvcHRNSnAvY3JzOU1iRFArYTMybzgrbjBRMFJvNlA5ZVJDQ2MyWmtKZlRUMTNJeVRLbzVZOEdyeEZwMkxaMTROMEJWbFloZTlIVG9FNEtxdXAyZldBUE12SE9EZU93d3o3d1BnU2hPQWVVK0pWc2Urc2Vabk1vRDlBTVFCdE02WU1XUEpYLzd5bC9DNmRldEFSTmxvTkNxQkRDR0VFRUlJSVVTZnRxM3d3NjZCWXJIWXZVUjBUbkFoTStlSTZIVm1maThSUmMweXp1VnllOXUyZlFxQXBRRGVadWFsTFMwdDY2ZE5tN1ovS0JRcVBsbDlwTG01K1RUL1Rpd1creVlSZmI5b213Y3N5enAzeVpJbHFlMzVKTVhXNjF3ODYzc2dYTFgxUitCa0ZCVUgwTkZ1WjJISlV5ZFA2T0xvMjZBZTlWZ0doTUNuUkkrZS82ZHRPY1pnWSthSkFMNEY0Q3VEY2J3MzMzd1RMNy84OGw5VHFWVDhyTFBPV2pjWXh4UkNDQ0dFRUVJTVg4TStJNk91cnU1eUFPY1VMemNkRXc0b21rYXlidW5TcGMwQWZsRzgvZEtsUzkrc3E2dExBNGo0eTVqNU1PU25yVlNHdytIYnpUU1ZZcXNsaUxIejRzVU43K2xDN3F2YkZ0T2pXQmVuTGdkd2piK2tpeXRPM2RZZ0JnQXc2SElBTzAwZ2c1bVBBM0FWZ0k4TjFqSGY5Nzczb2FhbTV0QlFLRlFQWU01Z0hWZUk0WXovZmRKbzZGSGh3b0lQaERjUnVibGVkeEpDQ0NHRUdDYUdmU0JEYS8xMnViYW9KYlQxc2k3THpLOFQwY0grQWlLYVhGZFhkeXd6LzR5SVBsQzhBelAvT0psTWZuVnJ4aTEyakJSbFp3Tld0UHdXL0xlb2JjZTdzdGxEUVBRNFVLNkFDcDNIakd1SjhsT01tSEJrcjZFUjVxVVV5UjJIZEpnMDZiOFJhTTh5RzM2TW56cDV3bUIwVE5sV3pId3lnSHNCN0Y1eWZXWWo5SWFYb0RlK0NzNnNCMmMyNU51MGhNZUNJaE5CWS9hRFBlNGdVR1JDdC8ySUNPUEhqOStObVc5ajVqUVJQYktqbnBQWU5YVXNubmxtSmFVZTI5N3ZDMzVWVldGenRvSStQR2ZOZG4wY1ZuYnFtZFRubU9rajBhUG1uZTEvanZTbXE3MXlIc0FuRkk3eGJOZFJBSjdabnVNVVFnZ2hoTmhaRFB0QXh1Yk5teDhlTTJaTWx6OTlwQmRwSXVwUjU2RElzd0FPRGk1ZzVrVW11NlBZajVMSjVPVURIN0hZa1JoMGRLOGJFUDNXbk1UOHBmT3BXVXNCN0ZWNk8weE5Qelg5QU9DUlY4eUNNb0dKZ2tlamh6L1NqSHd0alQrQzhMbHlBMGhSNU1NQUZ2Ym4rV3dQekV3QURnVndaM0VRZ3prTHBOY2orODU4NUZZL0N1aWV5VWVGTTdMVmYwS1d3ckFuZlJ5aFBScUI4RzRnYTh0SEVCRk5BbkFmTThjQlBFbEVVak5qRjlYNTFJeVBNYXliL2ZzVytMN28wZk4vRGdEOGJNUEV6cHgrZE12Vy9PU29vK2RmMXQ5anA1NlplYkRXOUljdXJ1anFYRHd6WVNGM1E4VXgvdnR1RUovRE16T1A2OXFRL2hYQVMvbWZoNTFJSDNvaDAyMGNUMC9mTDZmdFEvcDd2TXFRL2VkU0FaR09wMllkM2ZWMCtuYUFEZ0tBMURNem5nRVcvR3lRbmtZQnYzaEtUV2U2YkIyYkxlUE1XTzJ3SXVFMFpTZjB0VzJ4U0U2dnBvODhJdFBEaEJCQ0NMSGREZnRBUmx0YjI2WXhZOFk4Qm1BbThpZGxLd0c4VEVTdkFYalQvUHl2dWJsNXVXa1JXUll6UDBGRTNVNDRpNE1Zek15bWZzQ1RkWFYxQnpVM043KzhuWjZhR0FUTTJLZTNKalVFckM1c0M3UlJ1VUFHQU1EYUI4QXJBRURNNDhvbWIrUTMySEpDUTcxbUFvRmg5UlVVMmQ1Mk45T3R1aFc3NWV4bTVGWS9odXlxUHdMcFhwOUNZS2NNY3F2K2lOeWFwMkZQT2dtaHlkTkI0YkhCTGFvQi9BekFiQURKM2c3VnNYam0veEhSemQwV2FueTA4dGg1dlJiWTdWbzhjem9UUGR4dG9aWDdTT1dSRC8ranNNM3owK3M0RXpvYnpQVk0ySjlBNDhGSWczZzVnTC9iYk4wV09XYnVTLzE3MHFYeFU2b3l4ZW5QTWVBd3NBOFJkbVBnWFFEUFdPQjd0clkyU3VlVHAwMWp5L3JwdG95dEhDSjZzZkxvZWQvdGF6c0xHSytCd3dvTG1CN2ZjcEJVbUJBT3JDdFpZTGtzclhHSkdVd1V3Q2VCMEErUkR3aitGa1JuRGVSWStjZm5heXVQbVg5TmNGSEg0bG1YUS9QMStZOEFxdTFLN2ZrVDRJVXZkaHNIaDJZUjRmcitQa3duWjQ4QzBDT1FRYXlqSU91Z0xjT3hmcGg2ZXZyakZVYzk4dHFBbjBzdnVyckNjd2gwVEovYjJYdy9JN2VlWUEyNEJrN0t4bVVBYnUxOGF0Wm53UHpOWGpjbW5rTmtQY0hNY3dmNk9NalhEL3EvNk5FTDd0eWFmWVVRUWdpeDZ4djJnUXprdjN4ZkIrRE9qbzZPNTFhdFd0VzZ0Y2RoNXYvMHNja0dJanFydWJuNWticTZ1bDh4ODdteFdNek5aclBYTFZ1MmJOQ3ZHSXB0UjhBZXZXL0FYVnR1SXQxYktRMkdOU2x3NEVqNUxRR3d0V1V1TzVQdTliaWF4L1Y2ck8zdk1nQkhCQmR3ZGpNeWIvNFFldE1iZ0U0UC9JaVpkY2l0YUlMZStBb2krM3dURkJvZFhIdWdLU1I2YWEvSENKT0xMTjhVbk81RHhLY0IrSC8yemp3K3JxcjgvNS9uM05tU3BndHR3MUpLbXdrN3FDd3R0RTFCQ3JKWTJpUnRNaGRCUVVRUVJWeFFRTDRJSWdncUxpQUlDQ3FJSU1vUFp0STJTVXVoZ0ZRZ2FZRVdSQ215SnVrcTJCYTZacGJNUGMvdmo3bDNjbWN5TTVta2FVdlQ1LzE2elN2M25IdTJPMXZtZk82ekZCUXltREF6b3d4ZVd6SnBmZ3NBOElzMVEyT0s3dUV1UGg4QXBaTFRPSVBEQjlBUkFJNndpQytKdHRUZVdqSzFzVjlCWXVNdE16NFZRM3dPaUE2Rksrb3lBV01CaEJnVWlyYlVQaGlvYXJ5a3J5bDRsZUpobXFpMlArc3FndDRzMjNZcXZMUm12NWlGTDZXZk1NYkQvcW1OQXk0V0s0K2F5NWErRmtEcXMwZDBXYlMxWmxsSlZkT2ZYTTBLZjhhTHBHUnE4OTg3VzJzakJJU2NLa3NiZjJMRzFFOTYrdVY4RVBSSUpuVjRMODBPQUxNSG9DRzl0TXZIZ0R6L2dpQUlnaURzbVJRZFBHSlBwcTJ0YlZsYlc5dUNmQ0xHd1FjZnZHOWxaZVZKd1dEdzRzckt5dE96ejFkVVZGUUVnOEc3bEZMTENreXpJcEZJVEd4cmEzUDgrMCtrRk9kNFBKNS9WVlpXM2pSZ0Z5UU1ISVJSQmMrenk3MkJ1T0NtUWdORCs3MktBaWhDc3AvajdqRE1mS3d0WkNpN0RPN2Fpc1RidjRUZS9PLytpUmpwd2J2QVcxWWc4ZFl0MEYyYmtUSm1BdXk1dnNYTUV3dDFMejJ4Y1RVelhzb1lrbWhtL2g3cFJqT3lhc0pPVElJRVdlTUJYSkEvRmtvYUJjSVBPNWZVRnUwUzRkQzVkUHBZQzhaVFFFckV5QXZob3ZpU21sdjdPdjVnSnE3cEtxVGRCTGt6UU5iMU8yT2V3S1M1N3lqV0YyZFVNdTVKdE5ZYzExM21zWm1uZVMyQWxjNkRtWXMwVXdMZ3dmY0I3blNLUkRRNTNscjdyUjI4REVFUUJFRVFoRUhMWG1HUkFRRDc3NzkvZVNBUU9GZ3BWY25NQndNNEZNRGhBQTVqNWhHd2d3NGlsWG5pR1FCR01CZzhqWWkreXN4bW5qZ1lRR3B6RjFOS25iWm16WnIvSVpYRlpDUXpIK2xrUktIVWdmZ05meUtoa2dFYlNiSDdidlh6aFRZeVJQU21jOHhBV2FGZHMrWnU5NVpkQ1RPWEF2Z2xnTzczUGllUVhCc0JiKzB0bkV3ZjV0bjZOcEtyL2dKdnhjV0FrWDQ1REFDL1plWXppV2hiZ2U1aEFKTmQ1YU9pTDFVSFN5WTE1M1JMU2JUTU90WWlQaWh6QWZyeG5Pc0MxaEQ0Q1NhOFQ0d3lCcDFKd0NSM0cySytrVjgvOHc5MHpLTHRSVit3OXQ1T1JHbExJR2Jlb0FpM2FLSVB3SHdsZ1U3b1BvZnZ4VnByL2hDb2FucXY2UEYzTWJHbE5XZXd4dVNTcXFhYkIySThmbUhHUG5IbEhSbVlPdS85alBwWHA1ZkhZbnhaV3Zkai9JcW16bDhiYjZrTkFicUxQY1pQbUx2dWcyWGNDOEtuN0ViUFEra01xeG5XNms0Q0hlK1V5VUJMcm5YNHB6WTNSRnRyL2dUUVYxTU55WmRrbkFuZ05XWlFyQldmYzdjdjhYVWVUUk9mMmV5VU8xdHF6Z1h3YUxxQnpoOTF1dlRFeHRYUmx0bzdRSERjTWJwMDV2ZkpEaE1ZN3Y4OEVsMGVKTWlBajlNV1lmRk82MFFtZXRJUjd4ajBSb2x2K3gralNlK3YzZjFKZTI4RUtDWHVNTGF4RjBkQkp6TGkyQVNHbG0yeVc4OVhqRFVBb0luL25MYTZZUDZqQWkxQ3lzS3R3eHZvZkRlYUxKbGlhSFdBQnVZNDR6RHhOU0IrUHRXT1pvQ3BXN0JTZkJxRG93RlFRZGN6UVJBRVFSQUdONE5heUJnL2Z2eHBTcW5iaU9oZ3VPNldVNEdicmN4OFlEQVl2QTNBZVVSMFFHL3Q3Zk1CcmZWdEFMNE1nTDFlNzlsRWxQR2pOWmxNTGhxSWF4SUdEbWFvMkpJQnRFcmk3ZzEvU1ZWVFlmOXdGd1FjVWVpOFFieERzUmgyZ01NQUhPV3U0TmovWVAzdldZQUhNc3VqaHQ3WUFyM3ZHVENHWmxpakgyWUhHYzN2S3BMTHZVUmpwaDFub3djVzZlb01BeGptVlNWVjh6TXlQVEN3a1JoWGwxUTFQcFJsMm45RHRLWG1VUkNkMjExRncrTFJrbE1BUEZITWxjWmZyajVhSjhuTXFGU1lGWmpTbEhKdFdUcDlZVlI3M3lGUXlrMkp5QVBteXdBVW5mM0lWN1hnVGJ4cDltb2RGTnVjMkpwUndYeEJZSVMvY0x5Qy82MVBXd2RGVzJvK3k2QTdXZU5ZQURyNlV2VWorUVNrdmhCVnhrVkUvS3ZPMXBvbkZQTmQvcXJtcDRuQXNaajNGdGVHZUZXQS9ML2dwZE9IUlMzY1E2VDJSVksvWUpENmJwS3d2ZHZ6QkIrV3VtS2Z4RnVyajlDcDk1UnovcVdTeVUxUDUxdExRSFY5TDZxOVp4RmpFeHQ4U2VuazVxVUFrR2l0cmdOUlpYb2M1ZzF1RVNNWGlyZ3UxakxyUTFhd29CTmNNdldKbFJsekdZbGZSQzN2cFNDMEcyeDkxVjgxc0FGTTZland0bWhyN1JjQi9jMUF3cWlsU1hNMzhuUFRBdXdmZG1lM2lNR3Zsc1MzM0VGVmk1TUFNcTRuMmxJenJ0c0hpcGVYbnRpME90OWN0dkQyWG54cDdWSFEzYTRqeExqTmYxTGoyMW5ObDBhWHpLcEF0MFVXRE9aMy9GTlN6M1YwU2ZVUjdzOXNZS2ovRlRvNlhFamNGQVJCRUFSaEwyQlFDeG1HWVd3QjBDTXRhaUd5ZzNuMm9kLzV3V0J3R0RQUElhTHNZSGp2clZxMTZzMDhYWVhkeGVKcHF2Y1kvbjJBcVUraUNMTnBKRm9Uc3pVeTcreG1Oc0lTLzlUbXR3WmllZjNnR0tEYjlZYVpZYTE1RExCMndoN0Npc0phTncvcXNCKzRoY09oQUtZV0VqSktUMnhjM2RsUzh4SlJ0MVVHYTVWWHlHRFFUTGNzU2FyYnJRUUFmQ1g2dzloMjYvaVNrK2V2eWptaFVyOEg4N2taZFJZcWlyMU1uYVF2Wkszb0g2VzJpQUVBTkhuaGxtaEw3UU91Ty9OZ1VHMWZoSXlVK05MN1JpL2FtaGxHUTRGaWZka2drZ0UvZFByN1ZWR1N2dFdYZGVZZEYzUlJ5cU9LWmpMUjJiRVhad1lUU3pEYTBuU3hzNTlWb0N1cEtoeU50ZGIraEFqNzJoMVAxc3psSUhMOVg2T000THdhZExWYjlGTE1CYTFJYVBMQ0xmSFc2dE45SXdKdGRIUTRBUUN4bDJZZlpsbjY5eG52SStxMkpuQXdpT0p1Rll5WnJnVHhsYWwzbTNjUmdMT3k1MHE4TlBOMDc0a2xieENGQjFJcEJPd3NLNXI1RHdBTmlWblcwdGpTbVdmSHRYRXB1b1hVTGtQaElqcDFjUklBb2kyMVB5V1hOWllHVDB3TFJFekRZeTIxR1c1UERGalpNV01zeGxucDU0bjU3Y0JKVGRraWhpQUlnaUFJUXI4WTFFS0cxdm9OSXJJS3VZWDBrVzNNL0lldXJxNTd2Vjd2TTBTWlA1S0pxSWFJYW5Lc0l6eEE4d3Q3T0xIVzJzczE0em9RL0xIV3hIQVE4cnNzQVdzVTZJSmR1MEo3YnVhQTdiS1JObS9ucmsyd1BscGF1T01Pb0Q5K0JlajZHUENsc3o3NkFFeGs1ckkrdVpjUXB2RUtzeXg3VTg1TGEvYUxhVDdCZlhkWGFYN00zWWFPWDFnd0dMREJlck9WSGRLRVVQU20wM1pQY1hmdW1abUVyTDhEUnJkRkQrRmdmbUhHUHArMHRKYitTVTNQeEZwcjN3ZmhZS1JFZ3EveTYyZmUwQ2MzbXl3U3JUTlB0T0M0aFFETTNGeVMzUGEvbURIOFNlZXp3c3pybUdoVVoydnRWUXc3ZzBucTh4SXBtZHE4cUxPMTVsZk9hMHpBaWRFWFpvNHJPWG4rS242eFprd01kSDUzZTM2dFpHclRnaDZMeUw3T3FtNGgwVTRkMjBvdWdROE15L0RvMzJYM1kwT3RnR1Z4em5ncnhDLzFxQVBnbXpUL2RYYzUzbHA5aEdiS0hTdUdlWC8zME1SMFZyU2w1cEFlellpdDBxcm1SeldyS2pEOHFhZUdEdEdXZW9rSXcxMEQvTlEvdWNrZDBQb2FkbjAvdWNMZWdnakhjdlpOQW9ZRklEUDRyZVl2SXUxaWlhYWMxeUVJZ2lBSWd0QVBCcldRMGRIUkVRc0dnKzhBT0RMWGVXYmVSRVFybVBrL1JQUW1NeXNpK25XT2RoOFQwVjJKUk9MT05XdldmSVNVMjhwWGxWSlBaN3VRNU9pckxjdDZZQUF2UzlpRFlXQW9FUTRBQ29mNFpHQmVpZUp2ME9URzNSSWZBOEFRMnlLamUwMmIvZ253VG93N3lrbFltMTZGWjkrTWVMdUhBQmdCSUwrUTBkTzl4SmZZbkRnRHdGeDNzNWpHak14TkpiZjdwamEvMHBjbFdrUVR3RDJxTzRycGE4ZFZPTnI5dXBOQ2oweElBWi92elZnaVV4dUpLam9Dd0pLK3JIVm5Rd1NPdHVKK0lKV0NsQWdqNHRzQ1h3WndiMy9IdE5pNHpQMzhLQVAzWUtUUHdQWnVxeGNpR3NQQWZSa2ZIK2F0SmFTdlFPcGpsUkgzaHBVS0FiZzlScGlSa2VtQ2FmL08xdHAwQU9jU24xR05hRHdXVTBaT2E1NUFWZE9YaWVadTdHeXArUmt5MC83K0lsdUFnQjB3dExPbDVtb2kvZ2xBcGU1ekN2eXFuU0huOHB4ekRZbmVSY2NzMnM3QTUwSDBtN3hQV01hRjBvMjV2bE9JRVFmd2FFbFY4d09kTFRQZkpCaC9BMUJCUlB1a3V6Sy9YdUpiKzdPaTVpa1MyNDBxTGNJdzArak8xdHFybkxJQlBPV3ZHdmlNTTRJZ0NJSWc3QjBNYWlFRHFSKzlyelB6NFFEZUpxSi9hcTFmQi9CNlYxZlhHMnZYcmwyVDNUNFlETllTMGNrQUVzejhKRFAvTFpGSU5LOWJ0NjdUM1c3bHlwVi9Ed2FEMzgxbnd1NmEvL0hWcTFlL1g2aU5JUFNFeDhjMUhRdmdxZDIwQUkvYnJRUUE5UGFkSDI5U2Izc0h5QlF5aHZXV1pqR1hlNGtHejh3V01oaFVuZUVPd0pRenlHYytlSVhwaTIyS1g1VjVnNTA3L2ZBL1g5UUF5K3YyQjFsbDdpcEYxdG9lN1NiTStSQkxhclU3cTVSQnh2NTlXZXV1SXFENHdaaW1ud0R3SXBVMTVsdjlGVEw0dFZrallsSHVkcjFoZnRzL3Fla1pJbkJuYSsxVEJNeksxNWVJcnFXcStmWnpTZnRtblQ0UHdPMmtZTGpDTU1BV0ZBOXd5ckV1N1dldk5raDd2cFJ6a3NYVHZnSXMxcVZUbTI2UExha1p3MHhYTWpDdnhML214bnpyS3AzYWRCdXplVWYwbGNRWTFVVStWckNZNGttZjUzOGZScFA3N2tmYTkvT2NIZU9lUHdQb3QyVkxOdHg2MXNnWStXcVFDbEI3aHdiOUtNT3FoUEJjckd2TWw2Skx4Z0FnRGt4dWVqalc2dXJQdklGQVBXS0FNSGc0RVkzT05hZE8wdFVaRllTTDNKOGNUZGdFUUlRTVFSQUVRUkQ2eGFBWE1pekwrbjRzRnJ2a3d3OC9MT3BISVJGOW41bVB0U3lyWWRXcVZRVk51ZHZiMis4T0JvT2JpZWgzQU1weU5GbWx0ZTV6ZWtaQklOQnhERHpSdWFUMmk2VlRHaDhyb3N0QVl3QXVzM01BblBobzU4OGE3NUhvWmFpelNlNkZEUGNTQnM1bUJqbnhML2pkNmY3WS8zQjZ4dDErWlJVdFpEQ0RZa3ZpZndCUlJqUlNZdHhOVThQUllzWklKTHFHWjJlOHRwSjZVM1k3SXVob0N6cEIzZDhwbWluWDk4dHVoeVkzZmRqWld0dElRTWl1T2lyNll1M0pRTUZNeFRtSnh2U2w1TW9pUklydjZZNWZvaDluMEFrQXJTRndFcUNwM1QyNXhUK2w2WGR3WHVmMW1lOWJJcHFZYUswNXJ1OHJ5azE4YWUxUnJQVTdZS3hRd0tKWTE5Z0xvMHZHNW0wZlc1b0FBV0RGQUxpcmRQTENoNUJLd3p0QUsrcWRMaTRaQi9DRFNIMDJlaGh1RU9nS2NEb0N4aFlpUEJSMTVYSlJoSnNDVlkxM1o0OGJhNjM1RnVjUTg2TXZWUWVSeEpjS0o1WVdCRUVRQkVIb1A0TmV5Rmk1Y3VWLys5SytyYTF0R1lCbFJUUUZVbUxHWHc0NjZLQm52Vjd2dHdITVpPWkRpQ2dCWUVFaWtiaDZ6Wm8xSC9ScjRZSUFLR0k4eUsxblBVMVZUKzBDRlNFREQ0QjkzQldjMkxqVEorVjRqem5LaWhJeXN0eExDTFIvVjJ2MVJDRGxPaEpmN3ozVkxRd0EvSjV2eXZ4WGkxcFRxMWtTYTAwOENFSldvRTY4NlMrTFpRZjJ6UXNwWXdoMHBsOUt3QjlJNUp3VDNFVVpxZ3NQWkZqYUFVVUI5M08za0FFUWZ4MUFwQzlqOEhQVFBERk4zK3ErWk43aXArUkRUcW0wcXZsUko1VnBaMHR0cE5zb2hqdEo2WXNjd1NQMmdiRmZycWd6RnVqcml2VWQ3QXJtekpxL1R1UzRQakFIT0xZbFNxcTBaKytzdFdvK2phSHVBZ0VNL0M2SHExRWh0Z040Q0FCS2tsNGRVMndMN09UTlpYbWtWVEpDN00rWnRZaFozNWFSUnBaeE9TdnFHVlNhdWE4YXpycWM4NjB3eTJLYjQrbVlMb2JHRmZrRzVpVGRRZTZncTh4YmlmZ0docG9KVjNEanp0YWFEd2dvQTJ0eXl5dWE2ZEZvYTAzS3YwckQ0LzRveERiSFA0aTJwa0pSa2RmNlRPQ0VCVzE5dkQ1QkVBUkJFQVlCZzE3STJCV3NYcjE2SFlCcjdZY2c1S1drcXZGV1hqYmhObGpqaGtVdGZUZ0JQd1V3clZDWEtIeG5PWnU0WFV6V1BtVlgzRjd0c1RXaVlpYk81VjVpa1pvSjRCVjcxSm1aTVJXS2N5dUpMWjE1YU5TS2g0a29JMTRJR0t2Smw2enVVMkJMQ3ozaWhFYTFsZk03bUZJYjIrN3BOSDlpMDAzNnAvaWVpYlltL3B1Ty9RS0VOUEJjWDhhSUJZWjlBWXlEbkRJeDdxUEpDN2RrdDRzdXFiMEVqSHBYdTZzQ2srZS9tMjdneGJqdXR4QXpRSnpTV3ZoOG53L1gwOFRHKzJGbkRJcTJ4bDB4SWVnTnFucnFJMzV1MnBhRTMzTWtBR2hXUHdEaG9yNWNSMStnazVyV09aWjhLY3NHNm1IWlVEcDU0Um9BUFZ3Z2tjbzZrMkV4cUEzOXFwTWVOcHVVRlFtbjNaZ0lkRURhZFlsNUt4TzJFR01VaUFKZzVCYi9vN0VBb05LV01KWkJaWlJESTBtMFZKOWdaUVc5WmtKblNWWHpIYkdXMnYyWnVvVU1BdUlPcW1zQUFDQUFTVVJCVk1yU0tYWGRFQVhnYXBSMXNydDlsekZ3NmJNRlFSQUVRZGlqa0I4QmdyQ0xvWW5MdTJqUzNJMmxWWTJ0QVpXb1plWWUvaFJ1RkZPZlVnZ1BFRWtBR1ZZZzVCdXg4MmZ0emxqaXNBVkFUcXVGSEdSa0IrSlVuQXdndFhHYjZUNm5ETzdWWFNmV1dqMlR0VnFXTFdJd3NEeEExcFMrM2duV1JyS0g2R0VrZFk5TkhETVVDRm5CSWJHMUwzUHRTb2pDbGlMODFWWGhCNnNMK3pJQ2RJWUluUEF6N3N4dWxXaXBQZ0dhMDV0OUJpS0JxVTMzOHJJSjN0alNtWWZ5dTlQOXBJM3UxNHBwRFRNMzIzTU1pU1c2VThQR1dtT25FRkY1ZWdWMkxCbzZkWEhTWDlYOGxyK3ErUzFTbk5NS2lrRmJBS3kwSDFFR2YrZ3FaendZbkdHUngxejBlM2xBOFU5dWZMTzBxbW1zODJEQUpZTFFiMHVybXNhQ3lCRkJjbHBrSUpGcEZjVFFYYm1hZVJOYi84MVozeDJDSUFpQ0lBZ0RqVmhrQ01KT0lMYWs1aHZRVkpHL2hmNTdZR3J6SXBxOGNFdTBwZlpab0lmYlFob0d4dXlrWlJZaWlkUm1wM3R1ejg0WE1xaW5rTEcxYUNHamgzc0pqdU1YYThZa0ZJM1NRSGVxWk9hM3M5Sk05aURhVW5zUk0vN1lNejB1MzFjUzMvSTlPblZ4ck9pTHN2RjdZditMSlRKMUM2M29BQUJ2WlZRdXI5c1BzREpFWmlMK1JBY01KazQreE9TNXFyc0NKL2VoKzJkQjdoZ2cvSWh0clpBbXZtVEdrVW1tWmtMM25YcGlQckt6dFhaMUxJNERRREN3T1RhQzRmMU0raFkrNFcyQ3Znc3dhbFBEMHVXOHRPWU9tdHowSVlPKzQ3N1Jyd3pya1dJWFcxTFYrREEvTiszeHVHLzRqUXhjUmFEbGdhckdhcUtlNWtUUmx0by91YTA2Q05RalRlc25CdVlEUUFRaXltbVJrVkJxbFBzS0RjSld6dUZXUTZjdWpuVzIxdndGb08vMk5xVUJuQXpOUnRLZ2s0bHhlL2RhNk1zRzYvOEFnRVdZQ2FJZnA4OXBmTllBUndIQXUxL1g2ajVmcHlBSWdpQUlnd0lSTWdSaEo4Q004MEdZbXIrQlNnSlloTlQ5Nk5VRjNld0pPYk1DN0dSNldHU29za3JvLyszY1NWWFpZZGxWbXdIRWkrbmIwNzJFS0VZOEErRFJHZmJwUkFXdE1hS3RNeitIYkJHRHNZMkp2MXBhMVJRdTFMY1FOUEdaelowdHRXNFhESkNtbzVEbGhoSHZzbzdPNk1nYzl5VzI3dnlVTVR1QWYrcUNOenBiYXY5SmhHT1J5bkt4am9pS0V1Q1llQnNZWGFsMG9NeUtyQjRwc0MwMnZrNmcvVElxaVk1MkZDc3d4MmppTTVzN1cydU9TNGVzQkw5ZFdqWC8yV2hMelFvUUhRMmlvVEdOMjZNdjF0NEhRbTE2ZnVabHVkS241bDN2c3RPSHgrS2w5NERnWkRjNU85WmEreE9nOFhwM3U5aVMybXJtYmhHRHdXdExHTDhvZHA1ZGp2MisxSlFuUm9ibWNlN1BrWVd1ajFTZThEV0thRDVybmdDaWt3cE42YXRxZWcwQU9sdHFUbkZuQXdvWWVoRk5idm9RQUtKTHFqL1ZIWWdVQ096amU0Mk9EbjlpWGEwRVFSQUVRZGcxaUd1SklBd1VLdGY5eWQ1aDdtMmo3dklYMzNWMEFzaXdXbEQ3bklpczBBMERDM2xoakp5Y1hmdStMV1lVUzZiUVFKZ0t6dHhNS1kvT0d4K0RWNWhsRFBXSVc4Umd4bitWd1ZOM1JNUnd6ZkNLdTZTWnoralJSQ01qL3l5SUZ0T3BpNU03UHZmT1JRRi9CUE5mRFZpVERPTExpKzFIak9VbGpQRU1YQTNRSC94VEZ2eW41OWkwc05BWVROakV5NnBIRTJpQ2F6MXZJWlV0eEIyUTlZc2d6ckMrTUloL1d1eGFZeTIxMzRuRlM3OE5wYTdQZUY4Uy96RFdVdnNkcDVob21YV3NaanlZY1EyTXI5TkpUWDF5RWVMWFpvMkl0dFRlMHBjKy9ZRmJ6UktBaGdFQU5PZTB5R0NvRTF6RnJwSkpaWGtEYWZ0SEoxNGduMVcwZXhFUmp1eWVpR09ZMUxTVEpWTkJFQVJCRVBaMFJNZ1E5bDZtbGZkTGVNZ0xrODU1dk9QMHlHYXdzeUdpR0lEWDNOWVE1QjBCTmFwcXA4MnBSazRDK1RJU3BYUUJlSjJJaWcrbzZhVndLc2lqRFdNaUF4Tzd5N3pDZjJMemluemRZMXRpM3lIUS9uQjFnS0hyZW5ORmNjUExxa2ZIV3F1dmlDNnAvbUhzeFpyTWRLMks1MmFVZ1JueGw2dlRGaGo4d294OU5Qaml6QUd4TzlMdjlwbkExTWJmbFV4dE90OVhOZi9sdnZhbGs1cTJsbFkxL3Jxa3F2RWJ1Yzc3eXhPTG1iR0pHZjhFODEvQnVKNmh2MmdRSmdkZ2pTMlowblJnTEtIT2R2OVBJdzgvQndDbFU1b2ZCK09GN3Nsb25IUEl3RXUrS2MyTnhhd3g3aDkrTVJQdUJPSFFraW56T2hqOHRlNnpSRXk0TTlaYTg4dEU2OHdUazlCL0oyQlVlaDdDN3dKVG14YjA1VG1KdDFUWFJqdjFDb0N2TEtMNURoSDNkblpiQ2VYTFdnS2U1U3ErU3hTMjhvMUhoeTZNKzdkdFgxWDBBaGludWtvcnU5UHVDb0lnQ0lJZzVFWmNTNFM5RnFLd0ZXMnRMYUpsc2JEcnJqbDNEVmlXRDBiZURjTk9ab1VkSjJOL3BNUU5lTVorQVlsTnk0SGtBRnQyRzBOZ2pLbkxydDBHb0UrYjRoN3VKWTc3Z1FQMWtxMkUxYm1aWmRvT2pYTTdXMnZPemRkRktTd0lURzU2R2dDNFpmYSswYmorSnhFT0FBTk1mRVBpeFpxVGZDYzFMUU9BUUdrOEhOMVc4ck8wZXdtUngwcmlxVmhyN2MwTWJJMHlyaWEzS3hGelcyQ0UvNi81NXQ1Ym9FTVh4cG5OMFlVMno1MnRYSnRPV2N0WTdSYXNET0x2V3NCeXVQMFhnQzREK0ZxeG0yWUc3UGdXZEFJQWxGWTFoYU90dGRjQytIbDNHN3JhWXVQN2xPbVc5RUtKYjgwVmZibmVXTkw3Q0FpZlM3dkpMS3NlVFJPYkN3WUYzaEg4cExiRWlTOERBRC9pYjJTZlorQmNBbjJtdTh6YmVZVlpGdDljbE5kWFFSS3RNMCswUUpYcENrTExEZzhxQ0lJZ0NNS2dSNFFNWVc4bkNxQmtJQVppaHN0eWdJb1BCa25hNk1VNEtycERDK3MvYndKNHh4RXlBSUQ4NVREMm53RnJiVU9tYnJNamtBRmo5Q2xRSlQxQ0tuUTQ2VlA3U0JoQUR4OFZBRkFvNEZiQ3BoRmJrc2lNVDBFb28xNkNGckxGR3dBOERRQXhsVHliV0IzUTNaLzhTZUl2QVZnR0FIVE1vdTJkTFRYZkJ5aWRUcGRBQnpKd1g2cDV4b0tTcE9qcmRIUjR0MlM2K0tSQkZMYjQzZW4reEViZndkQTRYRE1mRGRDbkFCd040dCtBVVpQV0RvblRyaWo4M0xSQURMZ2k2OWtGZ3oraXZ2MFBkRDZrQi9OejB3SjA2dUpZU1ZYanJkSFdtbEtBZnRTOTBBeTNwSCtXK0xkWDA4VGxPVE44Rk9CejdrSTBpVU1BN0RRaHd4Wko3blBYQmZaTkRNR2FLTVg5dzA5aG9DR2pQZWlFMk9iNHY0am8wa0JzYytyN2MyeEpYa0dJUUNPanJUVXZhbUI4dHJ4clFXVllJREh4VXdOeVVZSWdDSUlnREdwRXlCRDJhaGpZU01EWS9BM1kwOTJXdklWc0xBajBzYXV3cWVERXhHbmxncUg4QlcwM2FPZHRZQXBPUzdTRm1YOEM0Sm51U2c4OCs4K0Ezdm9XZUhQUjhSRUx6MU4yT0l5eEpxRDgyYWV1SlhJOXA4V1NsYjNFZ2NILzhsYzF2NVczMzJ2YlJnSytIWE8zczlUNzJacVVZbXAzbDB1bk52Mi9XRXZ0dmt6NE5aQW5XaUpqR3l1NnBHUks0ek01eitjaDFsTDdUUWFmM2ErbEUvNHYybEx6bFdMYUJzcGlYMENYOWdBbE9kY2ZpeHREUWQzN1dnMlU4TExxMFFDUVNLcXMxRFRrZGM3bFpPdjdzWmp2a0RrZ09qUzJIdVBTZ2tMbXkzc2hpTHIvbnluOFB3Q0lMcGxWRVdYZFFLRGpzNGNsMEg0V2MydXN0ZmFLUUZYajc3UFBNeU5IbWg3dUpLRGV5VnFUV0ZJN3lkSmNDV0xPWHBEZGZudzBVZnJUeE5KWkQvb216MXVlN3hLWk1DcTNYUWgzTXVHbWt1aldaZm42OWdkaTl1VmNycHMxVVN2cUgvWTlBbTRCeU9YZTVsd3JCWmw1VWN3MzdMNUFXZXhxT25SaElSY3dMMEJUczJkTXZEVHpHQ3RKRjZNN1FxdFZZdW1uKzMxaGdpQUlnaURzTllpUUllelZFS01kbEYvSTBNQlFWOXNSaGJ4RlNDR2RDcENJLzh1Y3Z6RURwZW0yNEZHRjNWQjRaWUdUT3hVaWVwYVovd3pnd2xTUkFPOHcrQTY3Q29rM2J3SjNkdlRmTW9NTVVHa1F2aU4rQ1BLVXVjOHdnTDhTVWIvdXpQYk1YbUpQeDcyNGxTVEpLSGkrQ0VwT2FueWhzNlhtU2hDdUJzTlBoTWY4aVMwOVVtNEdwamIrTnY1eTliTzZpeTRINFhRQVk4REVJS3dpNEFsRzE5MmxVNTdvOCt2T2hNOEFOS00vYXlkZ1FxK2JXd2RkNm8wbDlEeUFUc2s5V09hdW5BamZpU1hVZDNLM3habXhoRnFmZDEzK2c2c1orQXdCKytWckEzU25lMlhtWlNWSkxJdTIxTjRDNXU4VEtOUGlpamtHc2dQb0VnVVl1Syt6dGVaaXhYeDlZR3J6b2xRVFVHeEpqNnhEbTVuMWRHVVltMU5XTlRqUFlrd3M5SnlsTXJIZ2Nrdno1ZEhXMnY4QS9BK3dhaVdnTlRCMVhuZEtYVTFuOWZnS1lINE9IcjY0ZEZKemU0K0IrMEdpcGZvRXdPaEtLbjBtbUlibWE4Y01sVmhhTXl1bTZTWUNQcFZ4RGxqdU1mVEZsbVg4RGNCUkFCRUlsOFcyQlU1THROYWM1MlFoS1FhQ0xrbGF4aDh5M0hBSWY2T1RGL1JkdkJRRVFSQUVZYTlqcnhFeXhvd1pVK3IzK3llMHQ3ZS9VRVJ6TnpSKy9QZ2ppT2dZQUo5UlNuMEd3REhNL1AzMjl2WUJ5R0lnN0U0SWFHWFhKcWpuZVRvU1RnREhCSUo1QjJKWS9rQ2kyMFNCK1oxQzRnU0Jqa2JLN04wVHMzM3U4dytOb2pjSE80a2ZBemdhUUhxZDVCa0szMUUzd3Zwd0VaSWZQQUVrK21nMDR0MEh4bjVud3JQL2pHd1JBd0QrQStBbnVUc1dSK25VcGlsOTdVTW5QdkVCQmlDd1NlblVwdHNCM041Yk96dUd3emQzZEw2OUFRTDlHejJGREEzR2V3Q1BCMUhhbkVlQi9oSlYvRzV1NFVQZkdpQytPd1pqSVlCUHU4WS9RWU4rd2NzbVBFY1RsM2RoK1FRUG1KTGRJVGV3VVRGdUFJekh0TVpCbEVlOFlPYjFJR29oY0cwT0M0MGpBVG9TeE4vUXdGd0FkVWlMSnJ3NS9kWmpqcEhpSC9pbk5OODlrRUV2TGFoSFFId1laUW1zRE00UURxSkxhdWNSVU4xVFdNRUxKWDVkUnhQbmIrQ2wwNmZFTE8vZlFMWm9SblM0QlN5TnRWWmZFNmhxdmlON2JtYmVvQWpwenlRcDhtbEwzVStFRTEzalcrUlJPejFEaXlBSWdpQUlnNE85Sld1SnorLzN6d0d3T0JnTTNnS2dMM2RlRGFYVVFxWFVvMHFwYXdITUFEQ1dpSzdaaWVzVmRoVWU5YWVNTEJjOXVTN2FXck13bGxDdjVIVURBQURpUlhUOHd2UmRaU0xkbTJCMmVyUzF0aVhtSC81NmFvT1RsNjRTeStxVGU4Rk9ZRFdBN3lNcm13RjV5bUFjVUEzZlVUK0cydStzNGxLemtoZHEzelBnTytvbjhCeFlEL0lPeTI3eEVZQ3I3TFNyZ3BDQzhSS0RYd0h6SDRseE9iTlZGUmdTSFZZeXRmRndFSDAxM1l4NXFiL0tkMCtQTkx6Z1RtWStyNlNxK1ZxcW1yODJZQ1ZQQWJqRmZkNGdmWjRUeTRJbUx1OHlpTDhNb0l1WlAvYUF6L0JYTmQ3SDRMVzUxOGN4WnR4Vm9xM0RTNnNhWnh0RVU4Q2N6MFVpU3BhVkR2NUpCQTVZMWhmQmVCK005dzJQbmh5WTBuelh3R2Z1NEp6eFpqemc1OTFsdzZPdkJkanRKcUtKK2ZiQUNOL3BUc0JSbXJ4d1M2Q3FxWWJCOTdqRzl3S3FPNTdQdE1VYXdMTUFuZ1hodVVCVjAzdk93K2ZadnBhenZrK1krTDdBcExudkROejFDb0lnQ0lJd21CbWd0QXFmYUl4Z01QZ1lFZFU3RmN6OEFqT2YwOUhSOFVFeEExUldWbDRCNERmWjlaWmxmVzdseXBWL0grZ0ZDN3VXYUd2dHd3QXU2UGNBRElzSm55MnRhbXpOR0xlbDlubFFmbXVQSWdkL3VLU3E2Y0lkRzJOZ1lPWmFBQThDMkNmbitjUW1XSnRlQlc5NUhaejRDQnpmQUpBSDVCME84bzhFRGYwTWpCSEhndng1d3lGc0FuQUpFVFhrYXlBVWh0K2Q3a2VpckFoRmFjZWdvOFBiWXEzVmw0SlZaUkhOZDJ3dTBuOHVHTnNFUUt5bDVqWUdYVXFnWXdOVDU3M1ByV1pKRFBGL0FYUUltQmRBcVcrVlRKblg0ZTdEejAzenhIekRyZ2R3SFJGZm5jdVNvTE8xOWlvby9XTHA1T2FsQUpCWU9tdUNwVGtkcjRMQmF3bDRPT0JKL3RhMjZNa2dGUU5DZloySnZrREF5TlQxOEcyQktVMVhaYmVOdDFZZjRRc2tON29GMFVKRVcydWZjUWNGWmFXbk9Pdk0rUnkxVmwvQlVPbi9ZOHk4WG9GdURFeHQ3T0g2RkcydHZoaFE5ek93SE1CM3NyL2JNdG91cWJrWlROY1QrTnVCcXFhN2kxbDc1angwSjVoZURmalhmQzVYVU5Ub2t1cXZnTldEVGprdzNEZVVqZzRQY05va1FSQUVRUkQyTkFhOWtGRlJVWEdOVXVyV0hLZldKSlBKV2F0V3JWb2VEQVlQSjhydk02eTFMbE5LUFFYQWwzWHE3d0I2dGN6WXZuMzdmejc4OE1OQ2dkQ0UzUWkzbmpVeXh2N1hRRFN1ZndQd1RTVlRtMjdNcm82OU5Qc3duYlNXMm43eS9SZ1cveTN4ZGgyZmE0TzB1MkRtVXdGY0QrQ1VQbG8yRlJvVFJMUVV3QTFFSklIK2hEN0RLMHhmZkhQaTFFQlZZenF1U3ZURjJwT1Z3ZVgrS1UxekN2V050OVorMmplbGNRVVJkREZ6UlZ0cjdpVkdKNU4rSWpCbC9uUEY5T05sRTd5eCtKaVRRVGdqNE1OdE96T1ZhdDQxdkZnek5PSGpjY3llTGovRnQvVDJ2UkpiVW51NmYzTGpzOFZZaGlTV3pEemVOMlgrcS8xWlYyenB6RVA5UG10VHNRS09JQWlDSUFnQzloSWhJNkNVK2hPQTg3TFBNWE9VbWIrcWxQb1cwQ093MjRDaHRaN1MwZEdSOTA2WnNQdnBmTG4ySUVyeUlvQ082R1BYSDVkVU5lYU41eEJ2cmYyMFprUkFPS3h2dy9KN0NsemQyNTNvWFEybklwaU9BWEFMZ0tJeVhQVEcyclZyMXg5NDRJRW5BRmhGUkFOc1RpOElnaUFJZ2lBSXdtQmowTWZJNk9qb2lMVzF0WDFKYS8zejdITkVWRUxVTXkyZnNQZFJlbUxqNmtCNTE3RkUranNBdjFld01jTUM4SlFCYTFJaEVRTUEvRldOL3c2UTcxaG12Z3JnZDN0ZENPTjlCdjhnRU4veTZVK2FpSUhVWjRhSmFDMFJYV1JiWlN3QXNCRkFENVB3QW5ScHJiZCs4TUVIV0xSb0VaNTU1cGtsUkxSU1JBeEJFQVJCRUFSQkVJcGgwRnRrdUttb3FQZ3VFZjJHN0pEenpQeFllM3Y3ZVpXVmxTK0lSWWJnaGwrc0daTWdQa0dEOW1YQ0NBSThCUG9JcEZmNUtkbENreGR1NmMrNHNWZG1WRkpDZlpvVnhqRXdGRm9SRVc4andtcG0vQ3RRMVZSWVJQbUV3Y3hlQU1jRG1HVC9uUUJnTkZMcFpaMTBKTnNBZE5xQlBQOEo0SldYWDM1NS8zZmVlZWNhclRXWStZR3ZmT1VybCt6bVN4RUVRUkFFUVJBRVlROWhyMG0vaXBSMXhwMFZGUldiQVR3QTRFWERNQzVNN2NXNEUwQ3VHQmFsbENQUEhqUEhBRmpGenF1VUtycXQ4TW1BVG1wYUI2QnhvTWNObkxDZ0RVRGJRSSs3dXlDaUxnQXZBWGlKbWNzQWpBTGd0NzlibktDVFhmYm5KVzZMR1Z2ZmZQUE42NVZLRzRUOWIvZGRnU0FJZ2lBSWdpQUlleHA3bFpDQmxKang1MkF3K0pGbFdTKzB0N2ZIQWFDOXZmM003SGJqeDQ4L1d5azFQN3VlbVYvdTdPdzhMVHQ0WjBWRlJRREFEVXFwdVcxdGJUblQzQW5DWUlhSXR0bldGNzN5NXovL2VWL25tSmxGeUJBRVFSQUVRUkFFb1dnR2ZZd01GK2xyYlc5dmIxcTFhdFhIK1JwV1ZsWWVxcFI2Sk5zYWc1bmZqc2ZqTTNLSUdLY29wZjZsbExvV3dQeHg0OGJ0OUpTRWdyQW5RMFQ3dVlxZm1Ld3NnaUFJZ2lBSWdpQjg4dGxiaEF4Zk1CaGNXRmxaZVVlT0ZLb1pqQmt6WmpReno4OU9tY25NNndDY3RXN2R1b3kwZWNGZzhHWWllZzdBb1hiVnZoNlA1OGt4WThhTTNoa1hJZ2lEQkxISUVBUkJFQVJCRUFTaFgrd05Rb1lLQm9NUEU5R1pBTDRiREFaZnFLaW9xTWpWc0tLaVlrUWdFSGlTaURKU1pUTHpKaUw2Zkh0Nys4cnNQc3k4d1BiOWQzT28zKzl2R2p0MmJNbEFYNHdnREFhWU9XMlJFUWdFUHR5OXF4RUVRUkFFUVJBRVlVOWkwQXNabFpXVmR4UFJGNXd5RVoxSVJLOEdnOEV6M08wcUtpb3FsRkl2MkZrWDB0aUJQV3ZhMnRyK0RRQ0hISEtJZit6WXNTUEhqQmx6MFBqeDQ0OVVTaVdKNk1Ic2VZbG9pdGZyL2N2ZWxobEdFSW9oeTdWRWhBeEJFQVJCRUFSQkVJcG1VRyt5S3lzcmh3TjRObHVjUUVxZ3NBQjhyNzI5L2E1Z01QaHRJcm9ad1BBYzdUb0JiQ0tpSVFDRzlEVkFxdGI2NXgwZEhUL2MwV3NSaE1IQzQ0OC9ia1NqMFM3Nys0Y3Z2UERDUVMrb0NvSWdDSUlnQ0lJd2NBenFEVVJiVzl2bVJDSnhNak0vbG4yT2lBd2krbTFsWmVWTUlxcktKV0xZN1VxSmFJeDl2czlaWHBSUzExWlVWRnpZMzJzUWhNSEc1czJiUjd0RTFQVzdlVG1DSUFpQ0lBaUNJT3hoREdvaEF3RFdyRmtUYlc5dlA0K1piODV4K3I2MnRyYjV6UHlubmJrR3BkUWZ4bzhmWDdVejV4Q0VQUVd2MStzT2hDdUJQZ1ZCRUFSQkVBUkI2Qk45dGpEWVErSDI5dlliZ3NIZ0tnRDNFWkhCekkrMXQ3ZGZqbFE2MW1jckt5dFhBUmpYeXpnSlp0NU9STnZzdjUzTXZCM0FkaUtLQW9qYWdUL1BCK0JOVDg3OFVHZG41NzkyK2xVS3dwN0JLTmV4V0dRSWdpQUlnaUFJZ3RBbjloWWhBMGdKRnZlUEh6OStvMUxxd3ZiMjlnc0FhUHVVWnVhcm1QbElBQjhxcGRaYmx2VXhnRTNNdk5teXJNMXIxNjdkQ2lCUnpEekJZUEExSXZvdGdMVmE2MHM2T2pxZTNMbFhKZ2g3RGtUa0ZqSTJGR2dxQ0lJZ0NJSWdDSUxRZzcxS3lBQ0FsU3RYemdVd043dSt2YjA5UEg3OCtMT1ZVdDloWmlpVjlycTVjTnUyYlYzQllMREozWjZJL3RqVzF0WVFEQVovU0VSZmRKMkt0N1cxVFFnR2c1cVovOXJSMGJGcFoxK1RJT3hKV0pZMXlqQU1weWdXR1lJZ0NJSWdDSUlnOUltOVNzaW9xS2c0QXNCeEhSMGRFUUJkMmVlSmFCd1JuZVd1MDFxWEJBSUJLN3VlbVoreEQ4Y0FPTnAxS282VU1ITFBUcm9NUWRpaklTS0prU0VJZ2lBSWdpQUlRcjhaOU1FK3M2aFJTdjB0R0F4MkJJUEJteXNyS3cvYjNRc1NoTDBOdDJzSk00dHJpU0FJZ2lBSWdpQUlmV0t2RWpLVVV0T1Eya2lOSWFMckFidzlmdno0NmM1NUl0cXJMRlFFWVRjaHdUNEZRUkFFUVJBRVFlZzNlNU9RWVFDWTZxNWdadTdxNm5yRlZSNlMzU21aVFBad1FSRUVvZjh3ODJqWHNiaVdDSUlnQ0lJZ0NJTFFKL1lhSWFPaW9tSWlnR0h1T2lKNmJkMjZkV25UZHFYVS90bjlsRktkL1oyenNyTHl4OEZnTU9ST3hTb0llek0zM25palVrbzVuME5MS2ZYUjdsMlJJQWlDSUFpQ0lBaDdHbnVOa0VGRVorYW9mc1pkWU9aRHNzcDYxYXBWVy9zN0p6Ti9ub2pDbFpXVmE0TEI0T1g5SFVjUUJndUhISEpJR1FBL1VwK1BUc3V5a3J0N1RZSWdDSUlnQ0lJZzdGbnM3VUxHMDFsdEptV1Yxd0RvOTBhTGlJYmFoL3NTVVZWL3h4R0V3VUlpa1JnT29BU3B6OGNXcjllYjJOMXJFZ1JCRUFSQkVBUmh6Mkt2RURKR2p4NDlGRUNHU01ITU1hMzFpMDU1M0xoeEV3Q1VaN1Y1WndlblRydXlNUFBHSFJ4TEVQWjRQQjdQY0FBQnU3aEZheTFDaGlBSWdpQUlnaUFJZldLdkVES0dEUnQyWm5hY0NpSnE2ZWpvaURsbHd6QXV6TzVIUkswN09QVncxN0VFTlJUMmVyVFdhWXNNWnQ3czlYcmp1M3ROZ2lBSWdpQUlnaURzV2V3VlFnWXpWMmZYYWEzVGJpWEJZSEEvQUJmbjZQcDBqcnBpOFdSWlpJaVFJUWpBQ0dZdXNZODNiZHEwU1N3eUJFRVFCRUVRQkVIb0UzdURrS0dJNk96c1NxMjFPOURuWFVSVW10VmtWVnRiVzB0L0p4MDdkdXgrR1l0UWFsMS94eEtFd1lKU2FqZ1JPVEV5Tmh1R0lSWVpnaUFJZ2lBSWdpRDBpVUV2WkFTRHdaTnl4TDc0YU5XcVZhOGhsU0wxQ2lJeXMvc3g4MTBBdUlncHJLeCt2akZqeG96MmVEeG5aTld2N3Y5VkNNTGd3SFl0Y1dKa2JOcG5uMzFFeUJBRVFSQUVRUkFFb1U5NGR2Y0NkZ0doSEhYUEF0Q1ZsWlhmWitaZkUxSEdTV1plRjQvSGYxZk00RVQwY1ZhWkFvSEFHbWIydWFyajhYajgzWDZ1WHhBR0JUZmVlS01DTUFxQXdjeWFtVGVkYzg0NVZ1ODlCVUVRQkVFUUJFRVF1aG5zRmhsRVJIWFpsY3o4alAyM2hMSlZqRlNucjY5YnQ2NnptQWtzeTNvcFI3WGZQUzR6UDEzc2VJSXdXQms1Y3FUWEZqS0lpSkpFdEdGM3Iwa1FCRUVRQkVFUWhEMlBRVytSWVZuVzE1UlNsd0U0bTRnTXVPSmp0TGUzLzdTeXN2SWpacjdIRVI2WStaYjI5dmI1N2pHSWlKblp5cXJUQUxCeTVjcEZsWldWeXdCTXpMT0ViVnJySCt5MEN4U0VQWVFSSTBaNG1IbVVYZXdDSUNtSmR3d3lUWE5ZT0J6ZW5IM0NOTTNaV3VzaFJMUTFFb2swQXNDRUNSTzhGUlVWWDBBcVZzbnFjRGo4ajN3RFQ1OCszVjlXVmphNVVCdGh6OEkwelJJQXg0YkQ0U1h1K3RyYTJvT0l5SmczYjE1SGY4ZXVyYTA5eURDTXc1SEtBTllTRG9lajA2Wk5Dd3daTXFSa3dZSUZIL2MrUWpmVHAwOGZWbFpXVmdYZ3dIQTQvRUIvMStRd2UvYnNVWVpoekNDaWw4TGg4TnM3T3Q2ZVJtMXQ3VUZLcWVHeFdPemRoUXNYNW5UbE0wM3owNTJkbld1S2ZhM3E2dXJHRTlITWhvYUdlMXhqakdUbXJ3TkFKQkw1dWJ2OTdObXpQNVZNSmo5b2JtN2VwZUoxZlgzOWNVUjBJRksvMlY0TGg4TnJkM1JNMHpRTkFMNXdPQnp0WmU0ak5tN2MyTEY0OGVKWW9YYjVtRDE3OWlpUHgzTXFVcjlaMzI5b2FIaXR2MnNXQkVFWXJBeDJJWU5Ycmx5NUVNREM4ZVBIQjVWU1Z3QTRaZFdxVlcxT2c3YTJ0bnNyS2lvMEVkMm50ZjVOUjBmSGo3SUhXYnQyN2NZQ3o1VVZqOGMvNy9QNWJnVXdFOEIrU1AzVFhBZmdwV1F5K2FOVnExYjlaMmRlcENEc0NVU2pVWS9mN3k4bklqQnprcG5GSXFPZjFOZlhINmVVdWdlQXh6VE5rOExoY0hiMmw3dVVVZ2NDZUI5QUl3QWNkTkJCUTVSU2YwRktzRzBFa0Ura1VFT0dESG1RbWM4TmhVSzN0N2UzWDd0OCtYTExOTTNzZ01nNWFXdHJpeTlmdnJ4clI2K3hQMHliTmkxUVhsNitRLy9YMXE5Zm4zUTJIL1gxOVpjVDBSbTk5OExEQUM0aG9zTUFJQmFMZmFhNXVia29LN3hRS1BRSUFNWE1qM2QyZGk1Y3VIQmhQQlFLL1lLSUxrVHF0Ym8xRW9uY3NTUFhaSnJtU1FEK0NtRC8rdnI2enpZME5LUXRDYjFlNys4Qm5HYWE1bS9pOGZqUG1wcWF0dloxZkkvSFU2T1V1dHN1SGgwS2hhNGtvdk9ZK1FVQVp4VTdUbjE5L1Rmczk3VUNvRTNUZkRvY0RxL3E2M29jVE5QOHZaMlJ6QUFRQWRBakhsWXVKa3lZNEsyc3JQVDNkMTQzdS9QemdOVHIrejBpK2w1WldabGxtdVpQdytId2o3T2FFRE0vVVZwYU9pWVVDcjFLUkdlRncrR1A4bzFYWDE5L0RoSGRUMFJENit2ckV3ME5EWCtjUG4yNm41bmZJS0lEbURscG11YjhjRGo4YndBNDg4d3poM2c4bmlhUHh6TXFGQXJkU2tSM3VFV0E2dXJxMGtBZ3NFUFd3ZTdQYk1hRkVmMllpR3FSRWdOQ0FCcDJaQjZiMDVoNVhpZ1VlaHJBdzVGSVpJNzdaQ2dVK2hVUm5RTmdYSGw1K1pjQi9DWFhJS1pwK2dENGNwMnpPUjVBR0NuaCtRSFROSy9JMXpBV2krbGl2MjhFUVJBR0U0TmR5RWl6Y3VYS2RnRGZ0WC9RWk5EUjBmSDdpb3FLbHpvNk92N1puN0Z0b2VOckE3SlFRUmk4T0s0bElLSXVjUzNwUDBSMEs0QXBkdkVPQU44Y29LR1ZhWm9QQURqUExsOVpVVkd4WlB6NDhXc0JMT21sTDVBS3NIejE4dVhMZnoxQTZ3RlNQL29YQXpoRmEzMXBRMFBESDAzVC9EeUFoUURlQzRmRGh6cnRSbzhlL2Y4QTFPN0lYT1hsNVExT2JDV2wxSEZGanJlVW1jY0JPQmdBaXQyWTFkVFVqQ0dpYyszL1M2Ylg2eDBQWUIyQTRZNG9EcUNzdHpIOGZuL08xNStaVjBjaWtkOG5Fb21WWHE5M0h5THlLYVgrMzZ4WnM0NmJOMi9lSnRNMHZ3aGd1dDM4WE1Nd2ZnTWdMV1RZei9NaHZWMEhNMWU1anI5TVJQc0JLQ0dpTTAzVHZBWEFpK0Z3K01uZXhsRktOVFB6WFVTa2JISG5hd0I2M0Z3b0ZtWitoWWd1dFkvclRkTThLaHdPdjlsYnY4ckt5aXNCL0x5M2RzWGcvanpVMTllZjc0aUpBSzRJaDhOM21xYjVQenNnZVhzNEhENjR5Q0RqUlVORXp2ZUVrVXU4TkUzenN3REcybTI5aFVRTXBKN0hWVXFwQUZLdjE5Mm1hYjRlRG9kZnJxK3Z2NVdJN2lRaUQ0QTdBWndHQU1PSEQvOFZnS0RkL1ZwYldFMi9Cb0ZBNEYvTzU2YS9qQjQ5ZWxFZTQyTEpDUUFBSUFCSlJFRlV3V3k0YzBCRW0zWmtEZ2RtcnJXejNOVXk4N3NBNW1RMTBRREcyY2NYNXhNeW1QbG5SSFJsa2ROZWJEOXlFZ2dFMWpxdm9TQUl3dDdFWGlOa3VNZ1pYTEMvSW9ZZ0NNWGg4L2s4anBBQklDbXVKZjBubVV4KzArdjEvaHRBQ1lETFFxSFFjOXUzYjI4YU1tU0lzMmx4N2lhWGhFS2hhZlp4ZWtOTVJLTkRvZEEwclhWc3pwdzVTOUZ0emZBM0FMT2Rkc3o4czRhR2hvYTZ1cnJKdS9MNjNNeWVQZnN3QUtmWXhSZnN2NWZhZjNlcTZ3c3p4NGhvZTQ1VDNsN3VwaGFGeitmN21pT3VFMUZqVTFOVHIybTY3ZGVwS3h3T1cwamRjUjhENExwY2JZbm9GZE0wL3dyZ1kyYStGY0ROelB5YzErc2RWbGRYTnhLQVkwV3h6YktzY3p3ZVQ2ZHBtbVhoY0hpYlhYOEpnUHJlMXVRT05VVkUxMlNkdnM2K0UvNGtVbmVzbnlLaXp4VVl5MzJ6NFRyVE5LL04xWTZaR3dEOGc0aCtXV0JwYVVHSlVqNmlyNXFtbVN6US91SndPUHhZZ2ZNN0JCRTU3K05vVjFmWFE2WnBIdVZrVldQbSt3ZGF4REJOczR5Wko5cXZ6MGNBbHB1bTZYd1BSTVBoc01YTWx6aXZIelBuM0hTN21UTm56bExiNHVhM0FIek1mQkdBbHpzNk91NnRyS3o4Tm9CRG1KbHMxNGpqQVZ4bWQ5VkVkRjR4UWxJL3lCYzAyaTFrUEdXYVJSbmtwR0htWlpGSXhQM2RwNGhvbHV2OFk2N25FMGhaZmp4b0N4UUdNMy9XZm8wenJJcldyMThmSTZMdHpKejNmNkF0Q0Rucmp6RnpydThocDIxQjhVa1FCR0d3c2pjS0dZSWc3QWFZMlV0RVRpcmtaRmRYbDFoazlKTjU4K2E5SHdxRmJpYWlueUgxUS9hSFpXVmxMd0Y0THF2cEdDTEtyZ09BcVVUMG5GSnFKWUFLKzY3K1hBQW51dHJjR1lsRXJrUHF4L2w2cGRSRHhheU5pTjdZa1d2THhqQU1SN1RZME5EUThKWnBtdnN6YzdXOStjb1FNcGo1N3dCeTNubTFOeURPeG1CQlB0Y21abjdGT1k1RUl0OEM4QzMzZWRNMFAyMXZ5c2ZZN1Zja0VvbUhmVDdmK1gyNUxudVQrVzJuYkZuV2IzdnJNMkhDQks5dE1WSlNVMU56WGxOVDA0ZTlkRG5Cc2JCd05xdEVkQkdBaXd3and6aXh6RENNbDUzQ3RHblRTckpNOVRVejU0MmZrTFhwMnNiTTJiRVl0cmlPalZ5V2tYbkdwWHh0aWNpd3M0TU5LV1lzdTQvZkpmTDFRR3Z0dFErWE03TVQvMkVTRVRreHNGNWw1cUlzazF5NFl4dWNndFI3NXRGNTgrWnRxcSt2UDFjcEJXWk9FdEdmK2podVhrS2gwT2VJNkRKbUhtRy9OZ0F3MHYzWnNDenJETk0wWDNWbmRpT2ltMHpUekxDQVllYmJJcEhJemFacGZnRkFqNWdsUkhTQmFab1gyRzM5QUppSVR2QjRQQ3VaMmU4U1NZaUlIclBGaEpmRDRmQnBkdjNmaWVpdHZsNGpNNDhob3VPY3k4blZob2lHdVlwRnZlZXkrbWY4UnE2dnJ6OER3SUYyOFEybDFHUUFyN2piS0tYYy9RbkFpdXh4UjQ4ZWZaN3Q0dlBqQW01TVV3QXNzby8vU2tROVhFdkVwVVFRaEwwZEVUSUVRZGdsRU5FUUlpcEQ2a2RvOUpKTEx1bFRFRUFoa3cwYk52eXF2THo4SEFELzJMeDU4M1ZsWldYN1pHMU9pOGJuODEzcUZqR1krWmVSU09UL25QSzhlZlBlQi9DVkFWcDYwZGgrNUJmYXhSZnR2eGM3R3d6THNwNTN0MjlvYU1nckJwaW11ZEsxMmI0eUVvbjBPZkJqS0JRNm1abWJpR2lFWGZXS1pWblRtNXFhTm9aQ3VUSjk1NGVaTHljaXgwSnB5Wnc1YzU3dnBRc0ZnOEdIQUp3TkFINi8vMVhUTkQrL2Z2MzZOMGFOR25Va0VWMUhST2NEK0NpWlRKNmtsR0lpbXUySVhUdklmNVBKNUNsS3FXQ3VrMFJrS0tXZXRLL3I1a2drOHN2Nit2b2pPam82M2k4UUg4Smk1aDJKL2ZFdkFCOHdjeTZCYlR5QWxmazZFdEYrek54REJGSkt2UThBNFhENGFRQlBJL1dhUCtBRTgyYm1CeUtSU0ZHcDJiT3BxNnM3Z0lnT3RjZTUxMTdIWiszVFRlRncrSVArakp1SElJRDZIRW5aTXJEZmd3RlhWUzVSeUFtUzdsVks1VHFmcm5QTk53UTlMWFhJcVdmbWRMeWRTQ1J5cVdzc0ZRcUZmcWExdm5QT25Ebi9MYlIyMnkzcXIzYXhWNHNNWmw1RVJIMktWV0s3am5RdlRxbUxYT2NlNmUzNUxZWmdNSGdOZ0p0N2FaYlR0U1FRQ0h3SVlQOGRYb1FnQ01JZWlnZ1pnaURzRWd6REdNL016aSsvdFFOdFJyMjNzWGp4NHFScG1wT2NRSittYVhaWmxqVUZxZWU2Q1VBNU02L1JXanYyMUdXR1lUeHRIejl2V2RZMVJCUkhTaFM1cGJ5OC9DeG1uZ1RnV2lLNno3NWJlMjg0SFA3RDdycEdyWFc5VW1xMFhYekJkaFZ3ZnRCM3pKa3pKKzltTlFmRFhjZDkzalNhcHJtL2ZZYzBnTlJHWm5FaWthanBUM0JNMHpUTG1mbi9YRlVGbitOcDA2WjVSbzhlL1FBUm5lZXEvdmY2OWV2ZnRTMG4zZ3FGUWs2Y2lybHo1ODc5RDFLYjhCZVorYTlFVkFGZ3FtMmluZzU0U0VTZkFuQU1NM2NDbU92VWI5MjZ0Y2ZHME92MVhwVFBoU1VyUmt2bGpCa3o5aUdpZjFSV1ZtNE5Cb1BmakVRaWk3STdNSE15RW9sY2xldGF5OHZMcDJxdFArWE9pZ0hiR21iejVzMXRpeFl0Y3B2Wlo0eHR4NkY0QUVCTE9CeStQbnQ4MHpSdnNEZjUzdzZIdzMvT2N6MXBpT2dRMS9GcG9WQm9YT0VlS2JUVzh4eTNMYVEyd1k1YnlmS0dob1psOXZISjl0L2ZGek5tUDNtVm1mK0QxUHBQQUhDWWZWeEdSTjl4dFZ0aXgzZUE3ZTdpdE11MStWL0t6QzE5V1lRZFYrS3lRbTFDb2RBTlJIU05ZUmhmRFlWQ0YwWWlrWVg1Mm1xdGxXUDlRRVQ1M0lYU24vbnQyN2ZYNU12YVVneTF0YlVIQWFoenlrVDBuR1ZaQVRzNExlelA1a2o3OUYrWWVVdStzYlRXNytTcVorWTFlVnpac3FtMDNkc0VRUkQyYWtUSUVBUmhsMkJaMWpqWEQ4L1Z1M3M5ZXlxbWFSN28rTlhiWlFENHR5MW9MTFhydXBCNm5qdWR6ZFNzV2JOR09CWWJ6UHl4ZTVPMWVQSGk1T3pac3kvMGVEekhoY1BoeDB6VG5BUGdXQUMvTjAzejA3Rlk3SnErWkJaWXYzNTliUEhpeFlWaUVSVEYxcTFibS94K2Z6bFNkeCszQU9CWUxIWWlVbkZDTWpLMTFOWFY1UTEycDdYMnV6WTFYWlpsRGEycnF4dWFyMzB5bWRRNTRsV1VPU0lHZ0RjMmJOZ3d2YitwRlpuNUZ5NnJEZ0RZVnFCNVNYbDUrUndBMWE2NnA5ZXZYei9MbWQ4MHpSUHR6UTJZK1hHblVTUVNlUUhBQzZGUTZESDc3dkg5a1VnazdjNWltdVlDQU1jUTBTUGhjUGpyT2VaMlRIdzBnTG5NbkRORkt4RTlDMkN6L1J3ZlcxcGFlaXVBZlptNVhHdWRkME0zYmRxMHdPalJvODhEY0VRa0Vya0dxV0NyalFET1ZrcnB1cnE2eGpsejVxeHhwbUhtWjRZUEg3NVBLQlJhU2tSbnUySjVPTmR6SFlCYjdPSjFvVkJJUnlLUkc1enpvVkRvWEFBMzJjVUhRNkhRbWR1M2IvL0d3b1VMODY0eEt4QmxyMVlPRG9aaHJIQStqL1p6MUJpTHhjcmo4WGc2WTBjOEhqOE9BSnFibTNkYXZDQm1malFTaWZ3YXFldS8yOG1zUTBSWEEzQkV3Z1hoY0hpbTA4ZDJGWG5ZN3A5THlIZzJFb24wRUlrS1lRdUJlWVVNMHpTSEEzQ0VsWElBQzBLaDBPMGJObXo0djF6ZkpVcXA5QXVSYTQxMnVtRm5zeC9iRVJFREthdTFLOXppZ2RaYTIxWlV6OXZ6bmU0SUdZbEU0cnJHeHNZKy80OGpvajh5ODZ0Rk5QMERFUjNRMS9FRlFSQUdHeUprQ0lLd1MxQktWYmlLT1RkRWc1R0tpb3JBeUpFamJ5V2ljNWw1Q3pQZjh0cHJyejNjMy9HWStWb2l1dHhkRjR2RnlnRzRZejQ0RzlCOEp0YzltRHQzN2pzQTNqRk44L3V1Z0o4SnJmVWZBNEhBT3k3ZjhGNFpOV3JVQlFBZUtiWjlQdXc3N3hsM0tKdWJtM1BHdGpBTUkrL0dJY3ZseGx1b3JkMStNNEFSQlpxc2RhVm9QYTR2ejNOZFhkM3BmWEhUSWFLcnNnS0xQcjErL2ZxYUxCSGxLN0N0SEpoNVgzdkREaUphYUp1ZTE5dHhLNXBEb1ZBRGdJZTExaThET04zdWYzY29GTHFDaUJhSHcyRjM0R3RIL0lscXJZOVVTbjBqenpKWE1QTUtJcW9DTUlHWlR5UWlFTkZEYnNFc20vTHk4bVo3RGJxdXJ1NzNjK2JNYWROYVA2T1VPanYxbGFHK0FPQTJwSjduWTRsb1g3dnIvbTRSWTlhc1dTTThIczhmc3RLcnZwSklKRElzT2paczJEQ3Z2THo4ejg3elJVVG5EUmt5WkpKcG11ZUV3K0hsMmVzelRiUEVqc1dRN3hJS2tSR0EwVTQ1R25YWDVYc3Y3eUtXQXhqS3pKK3lMQ3ZEMHNadDdaQkh5RUFvRlBvaEVmMncyTW02dXJxTzhYcnpHeEdFdytITnMyZlBubW9ZeG53aXFyUmRVYTRjUFhyMGlmYnJrMjFGNWY1UVo2ZWZScFlGVnFDWElLKzVlQ1VjRGs5QnR3aVRTK2pMdVI2ZnorZkpEZ0tLNG1KYTNEUVE3aXFDSUFoN0N6dVV1MXNRQktFUHVJV01WUVhhRFNwR2pScjFTeUw2TG9EOWlPaFFwZFJEeHg5Ly9PY0hlcDVRS0RUTmViaDgwZjFPbmNmak9jbHA2MlF0Q1lWQzArcnI2NDkyalRFZHdLMU9tWmx2YW1obytOZEFyM1VRTUNZVUN0MFpDb1U2bEZLdktxVk9MYVpUZFhYMWFLWFV3OVMzM1VwYXhHRG1SN05Gak9uVHB3OWo1dk5oQnlkVVN2MkZpQjRsb2tlVHllUkJBSDVwYjdMdUlLSnppS2dPUUVRcGRaMDlkZ3N6RHlXaTN3QjRyYjYrM2gyMDFMSDgyVVpFK3dPWWtPY3gzRW5QUzBRZSsvcldXWmIxY0NnVStoS0E5UFU2MTU1S0lzSVJ1MW9wcGI1dEh6Uzc1amRkL2M1MEhUL2xISWRDb1NxUHgvTlBJbktMR1BPU3llVE03R0NvaXhjdmpuVjFkWDJQbVM4SDRGZ3RWVEp6U3lnVTZwSENWbXZ0YktqQnpDc0FETzNsOFI5WDkwOTBKZ210ZFZNNEhENkdpSDdvOFhpK2JacW1XeGhJSHl1bHVnQmc0OGFORVFBSDJJOWI3ZmZPa0dJZjhYaDh2ZE9maU03T3RhYTVjK2YrSng2UFQzTEZ3d0VSbmV5S2hlSEdjTFhKSmJZTXp5b2JmWHk0eFpHYmlnZ3E2eFliMit3Z3V4bVBRQ0JRTUJDeS9iNDhyb2lIV0RRS2dpQ0lSWVlnQ0x1UXRLKzVZUmp0dTNjcHV3NW12aURIdnZWQ0p4MWxYOUZhUDI0WXhsc0F2bWhIdGdkc24rM3N0a1JVbVNPVENaeXNKWGFiaHRSK01IU21IU2NoZmRzMEhvODdzUnYrNXZML2RqUGJWUit4M1F2QXpPLzE1OXAyQkZlV2lSNFEwUm1PenorQWZ6Qnp3UTBGRWJudm1xcTZ1cnBqQWRTNjZqNU5SSjkybFl0S3hlcjMrMmYxWmhJK2JkbzBEeEZsdU1sd0t1WERqeUtSeUUrejI1ZVdsbjZCaUJ3M0dRdEF6TmwwR1lieERRQTF0cVhHT2dCWDJPL0ZPVVEwMng3N0gwVGszSkZmcFpSNkhDbUJ4TS9NUjlqdFY3blc4cG9UcEpLWk45aVpRS0MxZnRJd2pDdnRaaHJBQllaaGZBYkFIYVpwWGhVT2g0KzNMeVZnajJrbEVvbS8rZjMrMndBTUlhS3YxdFRVM0JBT2g5OExoVUp2RWRFUkFFNDBUZlBBY0RpOGxvaW11eTU3QVFEVTFOVHNCK0JwTy82Qzh6ejlncGsvOUhnOC82cXBxVG5lN1NKazMxbGZ3Y3ozQVpnQjRERUErOWpYY0xOcG1vM2hjSGl0MHo0clBzWTcyYTRzMllSQ29SR3V6L29uUXNnZ29wK2Fwbm1qWGN4NG40WkNvV3NCL01UZXVLOEhjQzFTNGtYNnQ2RmprV0dMWngrNCtyWXk4MjE1cGoyRWlHcGRZN1NWbFpYRnd1RndJUmNld0xaU21UWnQyaG5sNWVXUDJKWkVXNGtvTFRKVlYxZVhlcjNlaWN6c2NUM1hQU3d5TE12cU1neWpJYnUrRjRJQWpyZVAwOThCelB6WklnS25Cb3JRSjZPRlRoTFJiY1ZZZHpGenFWaHVDSUlnaUpBaENNS3VnWmo1TU9mSFZ6UWE3WFBHaUQyVlBIZmYrLzByMVBITE5rM3pXTGVRc1NQWTZScm41VXROR1E2SGY1Q3IzalROaVk2UW9iWCtVVU5EUTUvVEtBNFVkcXJVbkppbW1YNi9XWloxeTV3NWM1N3BiYnhRS0ZSTFJGOERjRktPdTd0cG1MbU5tZHVLMlZoWWxyWFU0L0hBZHBkNTAwNlBtcWErdnY0NEluckF2dXZxc0oySUxnaUh3M043REpqYWRMbzNoOCtFdytIUGgwS2hEVVEweWhFY2JDdUpPOUh0ZnZJOEVaMWpuMHU3QjJpdGIybG9hRWdBd0pBaFEwNXhzc013Y3pvNG9aM3h3MGtGNldTMEdHSVl4cmRkNjBoYWx0VnBHRWFOWFk2NWd2dVcyR04yTlRVMWJRMkZRby9iS1dHSCtYeStDd0Q4RHNCQ0FFZlluNTJhbXBxYVJ3QlUyZjA2TjJ6WXNCZ0FtcHFhUGd5RlFwY0JlQWpBWmlMNk1qTWZZMXVYd08vMzN3ZWd4cld1WHdJWWFWL3phSzExbFZKcUlUUHZxN1dlTVdmT25MWEk1QkRYY2EvaUhCSHQ0eXArSW9RTVc3eklLYlFSMFRxWFpjUC9tYWI1ajNBNC9HU1dGVkJPMXhJN2dHdDJFRmVxcjYvL0poR2xZMkV3ODUrSTZMdE9VT0ppc0VXVGMwelR2TjJPUWZHZUxiUit5YllvZWxOci9iQXJ0V3VQK0JkejVzeHBjNmVXTFFiVE5DK3ozMyt3QStBNnZBamdDRnZJeVprbHhFbjF5c3hKVnh3V0FDaDNCVlV0S0dRQWVLbVlRTVJFTk1PTzJTTUlnckJYSTBKR1QwaXlLUWpDd0hMLy9mZnY0d3B1dUgzdDJyWFpnUlFITTQ4Q3lJNHRrTXRVZW9mUVdwK0ExTWIyY2xjTWhqdTExbytnTzB1Qlk1M3hENjMxVlVqOThQNUlLWFd2czhFY2JOVFYxWjNxV0dNd2M5SXdqRXRDb2RENUFORGUzdjYxQXVsQkQ3WHYydWRpTFlCZkFYalNTZU1hQ29WdXl0TTJ6ZHk1Yzk4TWhVSmI3Y3dyTSt3c0V0QmFCMHpUL0RrelgrV0lCdzdNL0t0SUpKSlR4TERQcjg0bm9taXRIMVJLWGNqTUh4UFJOTHY2UWFYVWZRQ3VZbVp0Yit4SEFHanY2T2hJWi9FZ29tKzRqcDluNWlQdDRoZ2l5a2dYU1VTL0E3Q3ZxOHBuR01ZUzF4b1h1TTQ1RzdCdDlob2ZNQXpEU1d0NUNZRGZhYTJmTUF6amUzYmRUSy9YKzEvSFVvaUlGcmxkYXlLUnlNT2hVR2ovWkRMWk1HL2V2UGZyNnVwZU53empCL1k4MWFGUTZQcElKSEtMYVpxWEFyakE3aFlEOEt1R2hvYjNhbXBxSnZ0OHZpTnp4ZklnSW5lZ3o0bWhVT2pYT1ovb0ZNb1ZEQmJyMTYvL1JLU1h0bE9JT2hZMWg3dXRmY0xoOEo5RG9kQlpSSFN1M2ZaUHMyZlAvclJieUhCY1N3Q29hZE9tRlhSSEhqMTY5TDFFZElrOTFrWm0vdnJHalJzYi96OTdaeDdlUm5XMThmZmNrUzA1dGpFa0ZqdkZFa3Zab1FsTEtadFptdGJRbU5pYXk3NjBMQVVLOUtPVXRWQktXeWdVYUtFc1pTbVV0V1daa1dTYzBwUlF3R3lGRmh6MnBTeDJRaUJBN0FTUzJJbHRTZmQ4ZitpT08xRWtXM2FjT0xIdjczbjhlT2J1TTVaazNUUG52QWZhMDhqZmRqQXhZQ2tsQVdnR2NBU0EyNGlvWCtDWW1ZVi9qVVRVLzNxb3JhME5oY1BoSVgrMzdlam82TkVwWnIwaXZ5SGpPV2JlQWNCcmZ1OFFqL3I2K2tyZjM3N2RkVjFQY05ZelRucUdqQUhGZ1puNURXWitaN0MxQ2lFT01vWU1nOEZnR0tlR2pIQTRYQkVLaFdvQ2dVQlV4OGR1UTBUYjYzOVV0N1MzdC84NkdvMGV3c3k3cmVwY1JOVGUxdFkyVlBkR2cyRk1FUWdFSXQ2eFV1cVR5eSsvWEEzY1kwemh1ZHNmb1ZQeS9XYjI3Tmt6QnVrelpIUktSN0p0dTk4Tk9wUEpKQktKeEN2UWdvaWUyQjR6ZitWTEFRbmJ0dThHTUpXWlB5QWlrWk9wWVYxR1dKWjFyWGVpczJ0OGo0aktBYUN5c3ZKMFR5c2hGNlhVaXo2UjBQY0J2S0xEZVFEZ0xjZHgvbERNQW1LeDJLbENpTWNkeC9rWWdDS2k0eHpIYWJadHU5OUlJb1E0QXNDMEFnYUpGVnpOdGViRVhrVDA5NDZPanBaVUtqV3ZwS1RrYlNMYU1iZWpVdXFKZUR4K2ZTd1crNGsyWlBRb3BYNlZTQ1F5QUtLMXRiWEJjRGc4RDluWHhLODlvNDQyL25pQ3Iwc1dMMTdjc3Q1NjYwMWc1aWR6cHRnWHdKdEV0QURBb1hyVG5ORmhJZERqOWhKUnY3aXR0NUVtb2krUmZYTCtncFN5SFVDRWlMN1IyTmc0ZWZueTVjK1ZsNWN2MHlFam14SlJmOFlXcFZSVDduVzZybnVOZDV4SUpPWktLWC9xcFRRbG9sL2J0cjFKamxqalpZN2pmQWp0MVFIZ2k5d3hOWDZQakFPSnFDZ3RGQUJMUmlKcnp3aHhoejlyQ1lBVmhJSXptY3haZ1VEZ0VKM0JKR3haMWtITVhPTHpka2doYTFob0hzQ3d0eExhSThnTmg4TjU2eHNhR25aT0pwTXJoSGpWMWRVRkoweVljTEFRb2xGNzBvVHp2Q2NVZ0RlSXlPODEwbThncUs2dWZpZ25ES3dvZFBhY2tLK28zM3RDS2ZVOEViMUdSRC9NMTdlMHRMVC91eUlSZmVDdkUwTGtIVE1mUkhTMkNSa3hHQXlHNGhuVGhveG9ORnJGek5mcEdOaUp6THd4RVcwR1lEMS9PKzhmaC81OUlJQmZBN0NKYURDVjZrRmg1c2NCR0VPR1lWd2poSWd5czNmY050cnJXWk8wdHJZdTAya0hDNlllSENta2xLZDdhVGdCOUMxYXRPZy94ZlRUMlJ5ZTcrdnJzMHRMU3gvTmVSSzl6bUxiOXErMUdLWEhUWHJ6blpmR3hzWXRFNG5FWEFCWXRHaFI2NlJKazg3UVJvaDJLZVhXUGtORzBSRFJOUUR1c0czN0Z0ZDF6M0ljcHptM0RUUGZENkJTR3h2bUFmZ013SjRGeHRzSndOa0F6dFlaT0U0QmNEMkFPL08xcjZ1ckN4TFJ1WHFlbDRVUXh6WTJOajZWU0NSZW5qUnAwakY2QTVzQ2NMQ1VjaC9IY1U1WnRHalJjK0Z3K0VvQUZ3RjRhc0tFQ2VIT3pzNWtTMHVMQXdCVHBrd3BpVWFqOSt0UXBDVUFiR1orSkoxT253M2dxMEFnY0FrUnhaaDVBMlkreFhYZGovRS9qUXJQODZmZks0dVovMEpFbHlMNytYRHl6Smt6ejVSU3hnQzg0empPeDFKS0wrUWpvNVQ2MjJEMzNIR2NPM1RvMVJuNm52VS9SV2ZtUjF6WHZYYkFBZjdYZHF1UnlGaXlOcE5NSmhmYXR2MVRJanBmS1hWaUlwR1liZHYyejczNlFxRWxJOFcwYWRPcWc4SGdvVVEwalptLzQ5Tjd5ZVZEWnI0M2xVcmQrK2lqajg2emJmc1h2cnBocFVIT2hZaEN2dU4rand3ZHBnTGJ6aCtwUWtSZTloL2s2dTlrTXBtUXp5QTZvQ0dEbWM4a29uOFZzZFJtQUZzVTBjNWdNQmpHTkdQYWtOSFcxclkwRW9rYzUvMXpLdVlMQ1RQdnZmWFdXd2VWR2s4UGpBMkcxUXN6K3pPV2pCdWh6OVZKQVhHNTcvbU9uODVKMFZrUTNlNEFBS3JRbC9WMURTbmxENW41WWwvUnM0N2pQQ2FsTE5qSHNxeFpVc29NTS8rMXM3UHp1bmc4ZnR1cXJzUDMvNmRnMWdNaVlxWFVHUURPNmU3dXZxQzh2UHdhSXNwcnlNaEpCOXJ1T0U0bUZvdjErbHppVjZDOHZQd003UVd4Qk1CeUlycGFDSEdKbEhJMmdBdjFtTmNUMFFVQXVxU1Vwem1Pa3dad3FXM2IwNGxvZWtsSnlhSFYxZFcvczIzN0dMM2VRNW01UjYvaklHYSt4WFhkYVZMS0tzZHhGdHUyL1R3em4wSkVRaW4xTDkvYWQvRTk2ZS8vSENDaUJ3QmN5c3l2TW5NcnNzYUlmeUJyWEpvTVlGUGQ5SmxrTXJtd21QdXVsTHFYaUU3MGhFRDFuR2tkQmxNVTNkM2RPeXhmdnJ3b1M4YWtTWk1PRWtKNElUUkZyWEZ0d1hYZCs2U1VEeVVTQ1UvSG9qL016QXN0VVVvNVJEU2dTQzZBbzRob1MzMTh2eGFZelVzbWsrbVFVaDZwaFlRRjhuOUhXOExNanhEUnZZN2pQSjlUMXg5YTRROHRBZERDekFPS3N1WkRLVFZIQ0RIRjkvb2NLRTFxUDFKS2k1bFA4dm9wcFZZSUF5T2kvbnZKek10OS9SNEZzSmMvR3dvUlhWRWdsV3d1MWZwM1dFcjV1UjVidXE3N1hERnJOaGdNaHJIQ21EWmthQmZFOXdIc1Vtd0hJZ3BsTXBtOWpIdWZ3VENpK0EwWmMwWnhIV01DS2VWQnpIeWtkeDRLaGM0QmNLa1d0M01CSEtxVXVuR0l3dzdaZXB0TkVySDJmVmJhdG4waE0xL2xTNTI1TkpQSm5EcFFuOXJhMmhBelI3Vkd4YVgrTkxURHBhNnVMdWk1cXpQemdvSGFhcUhVMDdIeWs5OWNvY2F2ZXdkS3FROXk2a3ExMXdNaEc5SzFwVTk0OEJyOVAzOHFFVzJqbERwVENMRXRNNy9hM3Q1K2FUUWFQUk5BUlRxZDNnbkE2NDJOalpPOWNCVm1mcFNJRkFCdmsxcmEyZGw1ZW5WMTlUZUlhQmNBRTJ0cmEwTUEzck50KzI1bWZsTUlzVDZ5RytIZkF6aGE5enZJV3lnUnZhZjdvS09qWTI0NEhONmxzN1B6QStpL2hkZE9DREhkTzJibUdWNWRPQnhXdVFLUzlmWDFsY0ZnY0Rvem4waEVCK2ZlWS8yM2JaRlNQcVdVK29zUW9zbHhuSUxlRXpObnpseEpSTElRc1ZqTXIxbXdObmxrL05DMmJTL2Q4OWNMTmZMZlM3OVhoRktxRjluWDU3MkRUV1RiOXU3ZWF5U1R5Znd4bis2SW44Ykd4aGVFRUxtZklSa0FUeWlsN2hOQ05MbXVXOGlMb1YrVHhSOWE0cnJ1RFlPdGM0RDE5M3ZORVZGM2tkM084dW1PZkp4SUpQN3RyL1JFUURYK2E1a0VZS09jc1RiQTBCRGVHRXFwdkVMTkJvUEJNSllaNjRZTUFKZzdtQ0ZEL3hOOEg4QzdSUFF1TXk4bzhPWDhvWHpxMkRrY3IyUE1EUWFEaG9pMjlFSkxtSGxjaFphTU5GTEtpSDVLNmYvOHZzUzI3WTE2ZW5vdW5qOS8vdlJJSkhKWlBCNmY2ZS9YMU5UMGxaU3lFdGxRa2xXTzM1ODZkV3E1Nytrcm1Mbm9yQVNyQzYwRGNodUFJMzNGR1NJNkxwbE12cC9iZnRLa1NWc0JlQnZaR1BsRHZIdEtSTE56TlE2VVV1c1g4bnJRZmZ5R29ESUFYUk1tVE9pUG5XZm1qL1Azek10UzMzR2psTkxScVczM0JiQzdWeUdFZURlbjM0RTZMTVhqQWw4b3BTU2lyK25qN1lnb3BvODNqa1FpYlY1S3gwQWdzRHVBMXkzTE9zVzM5cnVJYUQvdlhDbEZMUzB0UGJGWTdCZ0FSN3F1KzR0WUxEWUZ3TVpFZERHQUIzUklaWXlJanJKdCswN1hkWjhpSXI5UllzZHdPTHpDSnJXUW5vSUhFVjBmRG9ldjE2Y3Z4R0t4SHdnaHZzbk1PK24xN1E2Z0pPZi9keDh6SndEVSs3d3pEaEpDSE1UTWQ5cTIvU2FBRjRub1hhWFVzMzE5ZmY4TmhVTDNyVHo3d0REemxyN1RIYVdVcm5mUzF0WjI5QUNpc3FzVkl0cEdDOWZtcGFHaFlSSVJsWFoxZFMyWk5XdldNaW5sOXN6czEydjVxdmlwYUF2ZnlhQ2k2WWxFNGhQYnR2K2pQUk5lQTNBL2dMODZqck5DNW82R2hvWkpIMy84OFJLZmhrczBKeDN2NGlMWFdKQllMTFlMRVIzcW5TdWxQaHU0QnlDbDNBSEFGYjZpMytjUmk5L0xkOXpwTy82MkwyTk1XU2FUMlZVSU1VV0h3bjA5bFVwOXI3UzB0Rjh3bHBsL0QyQjlJbnBMS2ZXMkVPSXRMVG9NWkwzSkJzdUlZakFZREdPT01XL0lJS0ozZGRxc0JmcG5mZjFscng5bS9zYWNPWE5XU0JzWWpVWlhHcXVucCtmcytmUG5kNjVVc1dLL293cWxNRFFZeGlPMzNISkxCVE5QMUtjOW1VeW1rTENlb1FpWStRSWltcFJiVGtTbkJJUEI3MGVqMFg4Qm1HdmI5cTIrT21KbTBrL3dyT3JxNm9CdDJ3RWlDdXJ3aEordU5GRU9zVmpzSjBLSXFRQzZkSXJCS2I2MHBNcXlyRTlHK2xxSFFpd1dteTZFdURFbmRqekZ6Q2U0cnR1dlM4SE1uVjZZaHhEaVNTbmw4OXE5ZTE5Zm15Znh2MnZlWEdmWThHK2NWbkpkWitaUGlHaG5mZnFvYmR2djVzVE9ENXFOd0lPSTN2TWQ3d2pnalR6ekxXeHZiMzk3a0tGbUFkaGZIKy9xSzY4aG9uOENhQ0NpVFhMNlRLbXJxM084REIvTS9FRThIcDlsMi9hZVBqMnBjNlNVVFVvcFp1YlpVc3FUQUp6clc5c0RSRFFId0hRQUZoSDl6TGJ0VXA5SHdPZEU5R3F4OTJNQW9nRHV5L2ZnZ2JPVzA4ZVkrZng0UFA3ZTlPblRhMHBLU3E0RjBPZ0xaU0Q5b0dNWFpGOFBCMXVXVlFvZ2xtZXVBY2xadzZiK01Tb3JLNjFDb3JKcmdEN2YzS1ZlOWhlUFFDQXdIY0NkVlZWVjhNS3VmT0VWckpRcW1IYld0dTE3OVdkTFNuL1AydGFyWStiY1ZMYUZPRjhwdFNnZWp4ZDhMUWNDZ1JlaTBlalhJNUZJbW9oU3VSbVdNcG5NNjBYT2hZYUdoa21XWlgxTVJDbjlZS3BQaDM5Vis5c3BwWEpEV1ZaQUNMRVJnRHU4RUJkbWZydXpzL01XN1JYMHVnNU5LZFdHSkNCN1gvM0cxQXd6MzZJekYyMXYrWVEwa0JVUVBkdExleTJsM0JuQUtmcjFLajJES2pOL1JVUnZNZk9mWE5jZHN2SE5ZREFZMW5YR3ZDR2pyYTN0UWk4T0dBQnFhbXFPRWtJVXF6eHVNQmhXa1FrVEpsUjdjY0RNdklpWmkzWFpOZVNuMlF0QllPWWY2NmV0WjFHV2dMZHh6ZDNjK2MvOXg4eDhJWXJqY3dEZnpUYzJNei9vdXU2b2VXUklLVXQxVm9wK0k0WU81VGpTZGQyV25PYi84R1d3MkNoMzA4ck12VXFwdTVHOXptM3pwTTRGTTcrY1cwWkVUVDRyVmRrNUFBQWdBRWxFUVZSang5NUV0TGV2dXRPeXJBSGQ3UDMwOVBROEdBcUZMczBKeWNwZHc2VjVudksvcUpUNnNSRGluOXJJOUFTQWJ6UHpHOW9ZOGpFUlBRNWdZd0MzTXZPckFOcUk2RE5tM28rSUxnZXdXMFZGeFlZQTN0VFhjU01BSnFMK2F5YWlFd0NjVU1CRHBUVWVqODhDd0RvYnp0Syt2cjVmTUhNbUdBdzZSQ1NaK1Q0aTZnQlE5QVkwRHgvRTQvSEhiZHRPRUZHajc3NThCaUNSeVdSdVNTYVQvUjRyVFUxTmM3SXZGYmsxTS84SVFLUGZvd2lBNnpqT1UxTEtLZ0FqK2hsVlZsWTJhaW5kbWZrU2Y5WVNJc3JOV3ZKNHpoN2F6ME9EYUpKc3JFT1Zjc3RmVGlRU1JSazJpOVIxZUY2bmpnM2srZDdhN1A4N0QwWXltVndvcGZ3QXdLNkZ3dUtZK2I1OEhsdzVkT2ozeUtiTXZJeVpUOVplWEV1bGxJdUlhRXBPKzI0ZDlnZm9VQjdidHNzQjdPUnI4eVdBNXdBOGswNm4rek1FcFZLcHBaWmxuYVBmajk4QzhEVmszNGZyQTlpWGlJb1NyelVZRElheHhwZzNaQmdNaHRGRktWVk5SQlZFQkNMcXRDeHJ5RUpzaHY5QlJMT1krVE5tdmpvZWo5K0VyT2ZBSC9VVHUzMzBVKzhxNzZsekVlTU5tZ1VDMmIvamswUzBnaWlHM2pRMjkvWDFuYjhLbDdUS09JN1ROMlhLbEhxZFNlTklBTWxNSm5ONk1wbGNTWmRDaTJsbWRLakJwcjc3MUtVMzFyL3dzaFF3OCtzNVJwOWVBTTI5dmIwMzVWbkRuYlp0YjBoRUorbU5ocVUzTDY4QXVNQnhuS0pkdjJmTW1MRnMyclJwZXdTRHdZc0FUQ0VpNzJueFltYitrSWp1anNmanorVHB1aVFlajc4U2k4V09GMElFdTdxNjNwczVjMmF0cjU2a2xGMEEzZ0h3anV1NlQzZ1ZqWTJOUWdqeE5vQUhYTmY5RU1DM2JOdXVKYUpYOVBYOVEwcDVBWUF6bUhtTG5OQW1BRmpFekMzcGRQcW5ubnU5NjdvL3pIRzFQMUpLK1c1Zlg5OGZkZHBURjZ0SUpwTzUxTEtzTklEL0tLVmUwQm9GQlEwSE91M3F1UURPamNWaXUraFV0cnVsMCtscmRmMWl2NURrR09OTEx4ekJzcXdlNlBBT0tlVjhiWlRvMHg1WDh3QTBFOUZ2QnhudktRQlR2Uk5tWGdqZ2VhWFUvNDNrb3BWU3p3a2hUZ2FnZENod2x6YSt6ZWpzN0x4eXFPTXg4d3RFdEd0TzhaY0FQZ0J3QnhIZFU4U2FsQkRpR0czVVBDc2VqL2RyWXpEelM5cVFvYlRoL2gybDFBV0pSR0lGN1JSbS9oVVJXY3o4RERNL0U0L0gzOHozMnRWR3VCdjFEK3JyNnpjdEtTbnhqS1U3dDdlM3o4enRZekFZRE9PQnRVK2xiVFdqUFRJZTlKY3BwYmJQRTFweVcwN2VlVER6WnpseDBQbllMS2ZQNCszdDdkOHQzTnhnR052OCtjOS8vbzVsV2Zmb0w4cFBBemoreEJOUExOYnQySkNIV0N5MjQwQ3UyQUNvcnE2dU5GL0doYkt5TWw2d1lJR3FyS3prWEIySXdaQlNoZ0ZrRmk5ZTNEdHIxcXpsd3hFSVhaM29EQUo3dWE1YlRBckRZc1lyN2VucFdTOFVDcWxVS3FXKyt1cXJycUhlczdVTkthWGxPRTZtMkhLRFlRQklTaWtjeCtIVi9GbmdmWTZObW1kTElhWk9uVm8rYTlhc1hBOGVVVnRiSzliMXp3cUR3V0JZMnhucmhnd3JFb20wNXBTdG4rTk9DbVorRDBDL2lHYzZuWTZWbEpTY24ydklHQTdHa0dFWTc5eHp6ejFIRTlIdEFDb0J1RXFwVTMvd2d4OFVLeUJuTUJnTUJvUEJZREFZRENzdzFrTkxLSS83WUw1RzIrVVVsUlZvYWpBWWhnZ1JiYWcxTWhqQXdyNitQcU9SWVRBWURBYUR3V0F3R0lhTlNSTnFNQmhXRzVkZmZubUFtY1A2czBZeGM4ZHBwNTAyV3VyOUJvUEJZREFZREFhRFlRd3cxajB5aHMxWFgzMTF3WHJyclhmNXFvNmpsT290b3BuQk1DYlpaSk5OU3JVMkJuU2F1ODlHZVVrR2c4RmdNQmdNQm9OaEhXZXNHekl5ekh5OGQ2SmQzSCtYMjRpWkx3RFF2OEVxS1NtWnQyalJvaVdMRmkxYXNpWVhhekNNUVVvQWJLcVBVLzczbVdIZFFVcFp4Y3o3NlJTSTIzWjFkWjAvYytiTVlqOGZTVXBaN2poT3dXdzFPbjNxRHZyMFU4ZHhPa1ptNVdzdlVzcXRsVktUL05rT1JnTGJ0aVV6VHhCQ3ZOWFIwZkYyUzB0THowaU92N3BvYUdqWWlZaVdKUktKT1lXRUkyT3gyRjdMbGkxN2JlYk1tUU0rSUtpcnF3c0dnOEhObTVxYVBocW9uWlR5WkdhdUpLSmV4M0Z1WGRWcldCZlE3K1Z2RWRHbWp1UGNOWlMralkyTld5cWxTR2ZSQUFCTW56NjlSZ2l4TmJLWlVHWTdqck5JejFNMmxFdzlCb1BCWURBTWxiRnV5T0QyOXZZSHZKTklKUExUZkhuRG1YbUdQMnRKT0J5dXFLbXBxUm1wUmFSU3FmU25uMzVhVkU1MWcyRXNVVkpTc29KSEJvRFBSM2xKaG1HUVRxZURsbVc1UkJRRWdQTHk4dGtBYmgrc24yM2JVNG5vTndEbUE2Z2ZvT25YQUx5SzdPZngrUUN1RzhuMXIwMU1uVHExdktxcTZna0Fld3NoNXRYVjFXMHpjK2JNWG0zTUtSMnNmMDlQajVveFk4YXlBWnBjSzRUWUVnQ3FxNnNQQmJCT3BHYTBMT3MrSXZxR2xMS0htUTkzWFhlV3YxNUt1VFdBbHlvcUtwYmJ0cDF3WGZlNGZPUFl0djA5SXJvQlFNbjA2ZE4zYldwcUdraFkrSmRFdEJtQXhRQUtHakppc2RpUGlXanlxbHlmSnVXNjdxbXJPb2h0MjM4bW92MjlVOGR4WGl1bW41VHlYQURYRXBFQWtHbHNiSHc4a1VnVS9kMUVDUEVyeTdKT2tGSyt5OHhudTY3N1pDQVFPSWFJcmtUMnZmc2RBTE9rbEJzRGVORzI3WCttMCtuekIva2J3TGJ0QndBSVpuNWsyYkpsTTJmT25ObHIyL1p2aWVoRVBlN1ZydXZlVU93NkRRYUR3VEErR091R2pCVWdvaDhVMDY2OHZOd1dRdHc5VXZPV2xwYk9CVEJpaGhHRFlWMkJtVXNBYktKUFUwUmtEQmxyR0NsbEJUUFBKNkpLcGRTMjhYajhBOXUycnlhaUM1bjVUdGQxVDQzRll0T0lhTURQUENMeS83LzRnMjNiVnc3US9FM1hkUThFY0RHQUtRQ21TQ21QZEJ6bllTbmxZUUFpL3NiTVhPMFptWWxvSHlubFNsNEVIUjBkZHhialhkRFkyQmdWUXB3QjRHQWkyb3FaSndCWVRFUmZNUE1MbVV6bXVtUXkrVDYwRjBBZ0VIZ3p6ekFaWnY2S2lONEQ4TGV1cnE0LytqMVFwSlJuQWJoSm4zWTdqbE14MkxvOFpzMmExUzJsWEt4UHQ2aW9xRGdUd084QlhBUGcvd2JySHdxRlBnS3d0VzNiM3lLaWsveDF6QnpLeWNwMWxKUXlWdVRTUG5VYzV4ZjYrdTRFY0RLeVJxemRBR1M4KzhUTTk3cXUrLzFpcjdjWTlHdDBaKzh5aUdpbDlMbk1mS3gralpRUlVXZWhzWWhvRHdCYkFVQWdFUGdqZ0dPUTNTeDNFbEVvWjh3SmVzd3FLZVZLSGtPOXZiM2JOamMzenllaWc0am84Rlc5VG1idUJYQ3FYczlSUkhUV0FNM25PbzV6YklGcjNOUzd4a3dtczhJMVNTblBZdVpjQVhPUHpYemFhSlpsV2ZmYXR2MXVnVGxlOVh0c1RKMDZ0WnlJR3ZWMWJKZE9wejF2RjcvV21wZSs5eTRBTlVSMFNrbEpTWjF0MjBlN3J2dGN2bm5xNitzM0phS2pBRmdBWkVsSnlaYmE4RmtGWUNQZHJPajNsOEZnTUJqR0QrUEdrQkdKUlBZSHNHTytPbVl1MjN6enpiZis1Sk5QUGx6ekt6TVl4aTZscGFXVlNxa045ZW15NWN1WEc4K2tOYzh4UkZRSjRJdDRQUDdCbENsVFNvam8rOGgrOWoyRDdKUFdJSUJKeFE2b1BUT0NBelRaQUZtTm9Bc3N5L3FQbnV2Nit2cjZ2d000QThCaE9lUDVUNmZybnhXb3JLeDhDTUNBaG94WUxIWVNFZjNSOHh6eGpUMEp3Q1FpMmtFSThTeUE5d2U1Ukl1SUpnSFlCOEErRlJVVlowZ3BheDNIYVIra1gwRU9QL3p3TFlqSVF2WmVYRWRFWGxydWkrdnI2LzgwMVBHSWFGdlAyT0FyeTIxelFySGpNZlBiQUg2aFR3L1F2MTlNSnBPdjI3YjlJMS9UTzRhNjFpTFkxek9VTWZPVFJBUXBaUVVBNkpBa0FjRC9JT0wrUWdPMXRiVmRFWTFHNndIc1JrUkgyN2I5bU91NmY5R2I0UlZlc3puM3F6eDNyRUFna0U4UWZYbWgwSmNCV0dsc0FKdnIxMWNocW9jNEI1QzlmOU9KNk9BaW14OUVSQWNWcUl0cmd3UUFvS3FxNmlqUG9FQkVMYjd3RXN2WEo0T3NjZVVVeTdJZUFiQ3ZOcDQ4MXREUUVFa21rd3R6SnlrdExUM1ZHNE9JSG0xdWJwNC8yS0pyYTJ0RDRYQTQ1VGhPWnJDMkJvUEJZQmk3akJ0REJoR2RVNmpPc3F3SGhCQ2JSQ0tSNmUzdDdjK3UyWlVaREdNWHBkUnUzaE03Wm00ekdVdEdoUi9xMzg4RFFEUWFQZHg3MHFrMzllanE2cG9WQ29WMkhtaVFvY0RNeXdFZ2tVaThMS1YwQWRoRXRFbHBhZWxQUjJxT1hCb2JHeWNMSWU3STJWaDFNdk04SXByQXpGdmxlSlhrNHdVQWk1bDVReUxheFJmcThUVWRTak4xdU9zckxTMTkyYnZ2UFQwOTRWQW85REtBUFFCVWw1YVduZ0hnTmIxNXpFY1pnRVA5QmN5Y0lpSi9LbU9Sa3pwOFNHbU9pV2daOUJOeUFGdnI0bHQxblJmRzhKYnJ1aXQ1U3d5WFdDejJZeUhFL3N5OGpjOGo1M3NBbG5wdGFtdHJTeVpObWpRMXg5UGtTU25sQ21ObE1wbUdSQ0x4ZEd0cmF5b2FqZjZJbVYrZzdLRDdBZmdMZ0FabXRyQWk5MmlEVlRjekg1Vzd2a1dMRnVYei9QZ0JnRllBeXgzSCtiU1k2NVJTZnFVOURBcnhkNTkra0FTd251NzNGSUE5ODdUdjk4S3dMT3NwS2VVaXgzRTJ6OU51MkttdXZmZXdoZ0NjNjUwb3BXN3JyOGlHcVhqSGFXVGY5NTlObVRMbG9FZ2s4anNBWnhIUlNmbU1HTm9UNTJ6dlBKUEozRGpZdXFaTW1WSVNEb2ZqQU1ycTYrdVBibTV1L21LNDEyZ3dHQXlHZFp0eFljaUlSQ0pmWitiRDgrbGphSFlnSWpEejR6VTFOVWNMSVZMTVBOQVhnQW1VTTloQTdYTytiQm9NNHdhbDFDNUM5SC9QZldOMFZ6UCthR3hzbkt4RE93REFjKzArVGY5dWR4em5Zd0RRWVJOdklidTUrRDR6MzVaM3dBRWdvczU4bXltbDFNK0VFUHN4ODdXZG5aMjNMRjI2TkZOWldibkNoakljRGtjQnZLMVBMKzdvNkZncEhuNndzQkloeElrNVJvd2ZPSTV6bi9mMFhHdFRTR1l1dVBuTVpETG5KUktKbDVDOWQ1dFlsdlVrZ08yUi9Zdy9aTnEwYWRVelpzd29HTll3RkpqNVNnQTJnUHVKNkY5S3FlMEF2Q1dFK01weG5CVzhBeHNiR3plM0xHdWV2MHg3R2Z6Rk83ZHQrK2RFOUN0OTJ1UTRUc053MWxWU1VuS0FYdC9DenM1T1J4ZnZwOHRHMUJ1RGlQWUVFQnZnZnpPUS9kdm1Hc0JXTWdvSUlkZzdkaHpuUmR1MnJ3RHduT3U2VDBncGo4d3g4dlIzODM0VDBVb2VFT0Z3K0hBQUR3TjRCMEExTXdlSjZDRmQzUVNnMkh2OElvQktJc29yVXNyTTE3cXUyNExzKzYvV00yVG8wSmQ4M2h4K3l2S0ZYakJ6cit1Nkl4S1NFWXZGdnVlSjhUSnoyN0pseS83aGVjem9lK0kxTGZYS05UOWo1b2NBdkNHbHJHaHJhK3R0YlczdE4yWXo4NW5ha0FRQUx5WVNpY0VlSkZFa0VyblhNK29GZzhIWlVzcnZPbzZUTHp6TVlEQVlER09jY1dISUFQQXIvMU9EUXVqNFdaZVpUMnB2YnkvNEJTQVNpYndINE91K290NkIyaHNNNHhVaThqL2xONGFNTll4bFdaN1JBcGxNNXJuR3hzWW9NeCtzTng3UDVPdkR6QUZmYUVZN2dFV0RUTE1qZ0JBemgvSlZ4dVB4RDZTVVgzTmR0ODhyczIzYnlXbld2MWxqNXVPcXE2dS82YThrb3VzOGo1SkNhTjBBYjR5RnJ1dmU0NitmTld0V040Qjc4bmJPUXlLUitDd1dpOTBpaExoWmowK2xwYVUxQUViRWtPRzY3cU1BSGtWMm83aTdFT0psdmZZRWdHSjFMWURzNW5kakxaTHE4Y2ZHeHNaRGhqQkVKcEZJUEkzc2RYcGhKZmUwdExUMGFKSE5UUUVzVDZmVEJVTTZWaFZtbnVtOTFyUlhSaFVBVEp3NGNTOEFCK2syUzRuSS96bXl0ZWZsb3BSYXdkdkxkZDNMZktkLzhPa3Q1S01NUUQ2Tm1DOEFQT3k2N3MrZ3M2WVEwVXQ2TGQvTHA2dFJDS1hVbWZGNC9ONWkyeU43SDk1aTVuemwyM24zaDVuZkhpaXR0VzNiTTRqb3dLSE1DK0JPeDNIT1FmYTFaUUc0MmpmM2pSVVZGUjk3OCtjWW9aN01zOWIrNDBna2NuNXJhK3QxZXR3d00xL2thenFna2F5MnRqWlFYVjE5RnhFZDdTdCtzNk9qNDRNaFhwdkJZREFZeGdoajNwQVJqVVozWjJhL0QyclhRTUpSUkdReDh6MlJTQVR0N2UzM3JabFZHZ3hqbG42bC8wd204L3JvTG1YOGtVcWxMc3hrTXBjQXdJd1pNeFpLS1V0NmVubzJSRlkwc2hoUHNTdjFFK21CK0kvbnRlQkhTbWwxZEhTVUlDdlVpYnE2dXFDWE5uTWc0VVFpMmpGWHowZy8xUjJNZmk4R0lwcGsyL1o1cnV2K0RzREtPOEVpeVRXQUN5RUd5aFl5YklqSTcyRlE5T2JZeHgrMURncVkrU0Vpc2l6TEtqcGJpUmFoREFGQWQzZjNCWUZBNE5KUUtMUUVXYzJKdVp0dXVtbllzcXowWU5rblZnVm12aXdlajcrQzdPYjdMZStlQ0NHdThUWDdsZU00L1JsdGJOdSt5eE04dFN3ckphWDhvUlpPN1dmeDRzVURHVENHaEJCaUsrOVloeWtWL1IyS2lFcUdPcC9qT0tma0s1ZFMvZ1BBZDVBMWtKemllUkVWb0t5QVJrZEIvRVpKWnY0UkVlM2dxeTRxbkthSU9YNUxST3Y3aWdaNjNaZUZ3K0VFZ0dtK3NpYzZPanFtcnl2cGhRMEdnOEV3OG94MVE0WUY0TGFjTUJBblJ6UU0rbW1ELzhuQVhLWFV5K0Z3dUpEQll5VS8yRUp0aFJEOHhSZGZtTkFTdzdqajl0dHZyeUtpVFpEOTBxclM2ZlE3bzcybTBhQ21waVkwY2VMRXE0bm9LR1pld3N4WHZQcnFxMnZFU0pxNzhYUWNwMitJSGdWMzZwL2hjSDQ0SEw3S08ySG1oYmtDaHN6OEp3RHZhTGYrUzNSeE16TjczZ0cvTFNZbEtiSkdtOXRMU2tyTzhUYmtSSFN0bFBKb3BkUnZoUkR4b1FvRE5qWTJiZzdnYkY5UkI0RC9EbVdNWW1IbXFPL2YxSkFFY2FXVUozc2hEc3pjbTBxbExpZ3RMYzByYkYwTS91d3NBTkRhMnBwcWJXMGRFUytVWVRKVForaklFTkV0L2dxL29Va3BsUkpDbE9adTJxdXFxaWlkVG4rSGlFb3R5M3FRbVhzQVBLcVVlcHlJbGhIUmJwNG1DQkU5cVpUNlVnaHhBNEI5bUhtRmNCNmZkZ2dBekdEbVFZVXBmZXZMbXgzRVcrYTBhZE84OTRiZmVDWnMyLzR4TTM4Umo4Y2ZMSGF1SE81bTVoWWkycFNaVDlkZVNXMytCa1RVNERjNkU5RWNaRDFRdHZON1kvaDRtSm05Kzd3bkVXMmpqeDhIOEUwQVZkbzQ1dm83TWZNN3lMNjNEZ0ZRZE9ZYklqb3Y1M1BnaVk2T2pucGp4REFZRElieHpaZzJaR3l4eFJZYitlTERvWjhrL0RQWGtLR1V1bGRrQS9rdkFQQmhiMi92UWFGUTZPN0t5c3BpbGIrRGxaV1ZTL05WNVB2eWJqQ01COHJLeXJaaFp1OUwrVWZqVmVoejBxUkoxM2diWWlMYWlJanVuVHg1OG9MWnMyZi9ZN1RYbGc4dGp2bjRNTG91THFKTkxzMnU2LzVOaHk5Y291ZC96blhkRzVEZHBGOVJyQ0dqcWFscFRpd1dPNEtJSGlLaUNicDRzaERpWVFEdHNWanNsNE81OWx1V2RaMU9qUm9Hc0d2TzNMOWFYVmtTaEJEZjhvNko2TkNHaG9iZjV4Tkh6S1d4c1hFUEFEZjcrblkrK3Vpajg2U1VYNmJUNmJ6aXJVUlVabG5XTDN5WlkxSUZOcXRyQloyZG5WZUh3K0ViQUZ5amhTSDlIaHI5bWlnNnRHU3VFT0p4dlNrUGUzWEpaUEoxS2VYT0FDcUlhQ3NBT3dvaHptSG1jNGhvZDU4ZzdsOHltY3c4SXRwZEc1WnlVNGI2RFJubnU2NDdJb1l0SW1vS2hWYU96SkpTeG5VR24yV3hXT3lOZUR6K2R0NEI4by9KMEZvcTlmWDFHd1dEd1dlSmlKalpCbkNXNjdyMzFkWFZyVmRlWG42VHo0alJwWlE2eTN1ZkNDSE9CREFoZDJ6SGNmcEQxcVNVU1FDZUllTjhabjVRZTlOMHVhNTdYRzdmYWRPbVZRc2g3c3ZWR1J1RS92Y2hNei9ZMmRsNWtqRmlHQXdHZzJGTUd6TG16WnMzUHhxTnR2cU1HZmNycFpSUGZMQ2Z0cmEyaXlPUlNDQ2RUdjl1L3Z6NTg2UFI2QnBmcjhFd2xzaGtNdHY3M21zRFBZMGMwekR6OFhtK3M1OElZSzB5WkVncHY4N00wNUJkOHorSE00WnQyK2NSVWJmak9MY3k4L3RhQTJJS0VlWExxQUFBOTBzcGUzTkVPaStUVXA2SC80a2RGajEvUEI2ZkVZdkZkdE82U0VmNG5tNUhoQkQzU0NtbkF6aFNlNmJrSTE4NlRNWE12M1pkOStZOGRhdU1sTEtNbWFmNXJuTzNRQ0R3ZEVORHd5SEpaSExCQVAyMkJ2Q1lQNE9GaDA1WitsWnVlU3dXTzFRSWNhUDJjQUNBVnFYVVNmRjRmTlQxYTRRUXowb3B2YlNtL2NLY2xaV1ZwY3o4QUJFZFRrVEt0dTAzWGRlZGlmL3B1UURaVktrcHgzRm1BSmdocGZ4YlRvcGZZdVpkK3ZyNkpnZUR3ZDJaK2NkRXRCOFIvZE1UTXRWMFdaWVZCbkFmTSs4STRJbWNaZm9OR2EyNW1WTUdReW4xODNnOGZ2MFF1amdBcGhQUkJDSnlwazJidHZ1TUdUTUdERy9TV2wvd1VxRUN3SklsU3haV1YxZmZDK0F5SFlKMHI1U3lRUnZySXQ3MUtLV09qc2ZqZnMySllrUTB0L0lkRDZhbmcyQXdPTjN6MUN0RWJXMXRJUGN6ZzVtWmlIN3V1dTZWUmF6SllEQVlET09BTVczSVFQYWZYNUtJcGpDelNxVlNkd1VDZ2QwTE5GWHQ3ZTJyTFRXZ3dURGVJS0orUVZ4bVhpMHUrZXNDQlo0OER1VnA1QnFCbWI5QlJOZU93RkJmQUxqVmRkMEVnSVJ0Mnc4QU9EWmZ3NXdZZWErc0VrQWxWaFlTTEFxOUVUdTZzYkh4RWlIRS93RTR6U2RlT2gzQStWcjdZeUI2ZEZoQlN5YVR1U1daVEs1T2ZaZHpmWmtiUEhZT0JBSXRVc3FESE1mNVBGOG5wZFFlUW9od3ZycDgxTlhWQllVUWp5SDd0MDREdUpTSXJvdkg0NnZGeTJRWTVNc3FncVZMbC9ZRmcwRXZSRW9RMFFQMTlmVTdOemMzenllaS9pZjFtVXltb01lWGxQSlFBQThFZzBHbFJXN3ZCM0NtNHpqdFVrci92VjhVajhjWCt6dzBWa0NuOFBWT2g2UTdnYXl4UnVVclorWkhBSGhoTENkNzd3dkhjZjVxMjNhTWlCb0JiQjhNQm04Q2NQSWcwNFQwbUNrcFphblBtK0ZHN1pGNko0Q2Q5WHZCbS8vMjVjdVhYenhod29TVWwzV2tvNk1qcmZWdk10cGdWcDg3VVcxdGJjQjNUM29jeDVsdjIvYUFpOHRrTWk4RkFnSG8xTER2NkJURS9jUmlzVzhRMFYwQXZ1RXI3aWFpNHgzSFNRNXk3UWFEd1dBWVI0eDVRNFpTNnUrV1pWMEJ3UDNrazA4K3JLbXBLV1RJeUtWakFGR3JqZkxjdTd4dGlXalFKeFFHdzFpRWlMYjFqb1VRNzQzdWFrYVZCd0djbmxQMmx3SnQxeFllQnZEYUVQdWNCV0N6WWhwbU1wbTl2V1BMc2hxMWNjSGpaaTAyNkNpbGxpQzcwUnB5Wm9KRUl0RUc0UDhhR2hwdUNRUUN6L3F5VnB4V3lKQ1J5V1QySGtRNGNVU3hiYnNXUUg5MkRXYStqSWhpK2tuNTlnQ2VhbWhvcUMydzFoZTF4OU5MV21OalEvd3ZEZXVGZzB4dEVkSFBBZnpjNTFYUTVUak94aU4zZFVQbVA4eThGTm5Qam0vNkRRVkVkSmIybHRrYXdNVFMwdEs3QVh6WEgzSXdrQ0VEMlh2N2J5TGFDOENCUkhRZ001K3BOVTg4ajRUNWp1TVVESStTVWxyTW5HRG1JVm5YOUp5NzZkUGxCWnJkNmt1L09oM0ErcjcrWnpMelFVUzBQaEdkSktXY05jaVVaYnJmTW1iK0dSSDlvb2cxbmpaaHdvVFQvR1hoY0RqZTBkRnhWRGdjUGtjWHJXVEltRGh4WXEwdmpPdS94UWpySnBQSmQyemJYcW9OTW9jUjBSN0lmbGNMU1Ntdll1Ynp0SkJxUHpvOXJURmlHQXdHZzJFRnhyd2hZKzdjdWE5SElwRkZ6SHhWRWMzN2FXdHJPN3BRWFNRU2VjLy90QmxBYjF0Yld5SFhhWU5oM0hIZmZmZVZNN1AzbnVnam9vOUdlVW1qaWVmcGRRUXpMd0h3bTltelo4OFk1VFVOaUZMcWIvRjQvQUhidG04Rk1LQWJPQkhkNkRqT1UxSkt1MWhEUmlLUmVFbkg1MS9Gekdma2VGNThpNGdtQTJnVVF2eVdpRzV5SEtmUUJyQ2YrdnI2eXVibTVwVzBpcExKNVB0U3lvY0EvSjh1MnFLMnRqYlEwdEtTTG1hdHF3c3RlSmp3TnVQTS9FcG5aK2RWNFhENFR3RCtwVGZZMndjQ2dTY0JISi9idjZtcGFZNlU4cS9hTU5NZlJxSzlUd2IwRnRCZVFrUDJLRmlkNlBTay9xd2wvWUtsanVOMDJiWjlLaEY1SXJDVHBaUmJBZWpQQkZKYVdsclFrS0ZGZG0vVzJpL0hNSE1OZ0Q3YnRrOEFzSzNYSmhhTHJhRHBRRVFMWE5lZHBkZVFBWERHVUsvTHR1M2ZhMEZSREdESUtJampPSi9idG4wUmdOdVkrY2xNSnZOcUlCRElGU3ozWCt1bSt2MDBITTJhRmREdmtadWxsR2ZscXhkQzlLY0padVlYQ28xajIvWis3ZTN0TDdXMnRxWUFLQ0k2em5HY1p0dTJEL09OZFFTQWFRVzhzREk1NHgwTFlDOGkrbnRIUjBlTDBjc3dHQXlHOGNtWU4yVG8rT2FMNTh5Wk05U25pd2FEWVppazArbU5Bb0ZBQlRPRG1UdFRxZFNTSXJxTlNWcGJXNWZwRGRDUU4wR2pEUkY5T3ljR1BoOU5ReGxUU3JrWk0vOEF3RG0ra0lwL0FqZ0VXdmNBUUM4UlRTU2kzekx6T2JGWTdFb2h4SjhHMExaQU1CaTgwYmJ0TDVWU04ydHZEQURBOU9uVGEveDZDY3k4Y0xTTkdLRlE2R3o5dE56N0gvd0ZFY1gwdWo1dmFHajRiaUFRZUFuQUJnQjJZdWFqODIzd0hNYzVGdG1OWFg5WkpwTnBzU3hycGJaYWgrUWlaTy9CVWlLNjBWK3BzMHlzdGJpdTIyTGI5dDFFdEg0Nm5UNDltVXd1MEtFVFFQWXpKNjhobzZ1clMxUlVWRnhCUlB0N1pmcGUvc25mam9pMkk2TDdjN3EvSUtYY0FNQmR3MW16VXVvNGY4aU16cGd5WkZ6WHZTTVdpODJMeCtOL1IvWTlsTGRkWFYzZGVyNXdyYytaK1cvTXZGSm9raEJpUHdESDZOTm1wZFJNWk8vQkhsNDZXMlp1SDJoTlVzcUpBSTcwRlJYMEZDR2lCNkxSYUxDbXB1WTM4WGo4UnNkeG1uUGJNUFA5QUNxSnFGYUgyWHdHWU04QzQrMmtCWlRQRG9mRDkrVEpSR2N3R0F5R2NjQjRNR1JnenB3NWR4VFpORkJUVTFPTVowVnVQbmlxcWFtcEdhZ0RFUzF2YjIvL29zaDFHQXpyTk15OEVUTjdPZ2RmQU1pYjFjZXdic0RNOTJyM2ZpQzdXWjVrV2RhY1lZNTFQUkZKMy9rVlJIUXZBQzk4NVA1ME91MEdBb0dyaU9nb0l0cUVpRzVtNWdWYS9MRFF1Q1ZFOUJQTHNuNGlwZlEyUXBVQXZwNlQwdkt2dzFuM1NLS1VlcFdJK3ZULzRDL1M2ZlNCeVdUeVk2OCttVXkrYjl1MjFJS3dOeW1sYnJJczY0Sml4azRrRXYvVWhxRVZxSzJ0RFlYRDRZdVFmVTh1Y1J6bjBoRytyTlVPRVoyZVk4enFOeEwwOVBUa05XUlVWRlQ4VmFjRXpmZi9keVBmY1dmdWszOEFDNVZTSlVLSVlYbXZDQ0VDT1dLc2VUMHlpT2d5S2FVWGZyWlJuaWJzR1RFR29xeXN6TzhwT2xkN3VMeVMyeTRXaTBFSWNReXk3NXVYNC9INGJjZ2F4QTdUWlp4T3AyOGJhQzVtL2pVUmJhQ1B2K3J1N2k0a1hpeTBWMWNKRWUyanRUcFdnb2hZS1hVR2dITzZ1N3N2S0M4dnY0YUk4aG95ZkY0bkFEQ2d3Y1ZnTUJnTVk1ZHhZY2dvbHBxYW1zMkZFTVA1cDFnNldEOW1mbHpIOUJvTVl4NGh4RWJNdko3K3N2bDVhV25wdVBYSUdBc1EwUUVBN3ZIT0xjc3FLaVZxWFYxZDBOTktJYUlKOWZYMUczVjNkNTlTVVZHeGx4YWNQTXQxM1prNkEwYy9UVTFOY3dBY2JkdjJId0hjVEVRTFhkY3RhTVRJd3hiNko1ZG4rdnI2TGhuQ09LdUZ2cjYrNTRQQjRQSE1mS2xTcWlHWlRNN05iZU82N3BOU3l2MGR4M2t4Rm90dGszK2tzWU1RNGhhdG5RQWl5dnRnSUk5SFRxWHZ1SkJIeVdFQVdoM0g2ZGZIcXErdnJ3d0dnN2ZraE95OGxzbGtmcXNOUWYxSUtmZGs1dHVIY1VsZzVvK0VFQk85Y3lJcWxISGt3Q0dPRzhqbm9TT0VPTURYWmtpNlJQbzFkcGhlNTkrYm1wb0toZ05LS2IrdFE1bzhicDg1YytZSzkxK0hPRkZqWStNVzNzTWZJaHBRNnlZZWo3L242UW5saUlibWZ0NzBHMnlVVWtQV3p6RVlEQWJEMk1BWU1nd0d3K3BnWTUxOUFnQVdoRUloNDVHeGJsT2pmd2JDZXpxZVJuYXpVNm8xSUx5c0JHWEJZUEN4WURCNEZJQ3BuWjJkYzczWTlrd20wMjFaMXVQSWNXbDNYZmM1S2VYa25wNmVEUVpiSUJIOW5KbmZJNkpEdFZiSGh0bU1qZlFGZ05uTS9MRHJ1bzhBeUpzNVlrM2p1bTVDU3Zsb0lwRll3UXZBcjkvaE9NNkw5ZlgxbFVSMHJxL0pzTjVMNFhCNFFoSE5ScE05QjhwU0k2WGNERUJmUjBmSDBuQTRuTklQQnJiWDFUMDVHK2tWc3NBdzgwSUFhR2hvMkNrUUNFZ3Q5Sm1iS2VZUXkyN2ZpdzBBQUNBQVNVUkJWTElPa1ZLK0J1RGFqbzZPUjFwYVd0S080L3hIWis4WU1vY2ZmdmdXSlNVbCsvdXVxNUNBZU5FME5EUnM2Qk1QaFdWWi9lRXFSRFRWZC94eW9UR0lhRlBmTVNQN0hsU0JRT0IzQU9xVlVqY05zSVI5bWZsVUl2TGlseFpuTXBuZisrcTc5TzhLS1dVQ1FMOGhSeW4xOWhBdTFmODZiNVJTT2xyM1kxOEEvVVlwSWNTNFRlMXRNQmdNNHgxanlEQVlEQ1BLNVpkZkhyQXNheE5tTG1GbVJVU2ZIWEhFRVVNV3VUT01Qc3o4aU02RzhhTE9aTktQVW1vNkVXM0J6TDFTeWtzQTdLRDdmS1ovLzBnYkZmeE1ZZVozaWVpNTZ1cnF0MnpiWGdpZ0QwREtpN0VYUW14cDIvWjVPdFdtWU9hU1VDZ1VpTVZpYjhmajhVY0tyZFZ4bkhZQVYraWZva2dtazI4Tkp4V3U0emczQTdoNXFQM3lqTE5TNnROd09QeHZLZVd1V3JNaUE2RENuOEtYbWQ4dmRuemJ0cS9XaHdyQS9yNnF0ZEZEYXJuUHlGU1dFdzRFWnI2YWlJNExoMWZPT091L0p3ME5EUnN5OCs3ZUxXUG1CNGhvb20zYjg0bG9FL2pTK2pMekowcXBSc3V5OWdKd3FRN3IyQTNBWDZxcnEzOGpwYnplY1p3Ymk4bkdFWXZGamlDaXM0Z29CYUJQaHpydEFXQTlQZGRucnV2bS9kc3g4NkZFOUp3K2ZwMklvbDZkbFBJZ1puNVFpeWFuZEpoR2Y3aEtPcDJlcCtmZmhwa1AwZGUyWEw5bmdlenJvQTdBTVRxVFNZQ0krclV0bEZJTGtmV0Mra2huRC9KbkVNcTMxbDE5bVVxZ2xMb29tVXd1OERWNUJjQmUrbmk2cnp5VlNxV2VHdXcrZWhEUmU3N2pIUUc4a1djdEM5dmIyNGRpSERFWURBYkRHTUlZTW53SUlSUXpkNitPc1luSWJPUU00NEpOTnRta2xKbTNSUFoxMzB0RUs3bk5HOVlOWE5mOVdhRTYyN1kzSnFMZjVENUZKNkk0c2s5NEh3OEVBdUFzeHdvaGRnZHdyaGE0UEpDSUNyclQrOGYwSFI5VHFQMVlncG1mSjZMSi9zMmlqOHhRRENoRU5NVVRVYzJaNDhYOFBVWVBwZFQraGJLV1FJZG5FdEZ4K2ZvUzBTM2VjVEtaWEdEYjlsK1orWGdpT3M5MTNkOUxLYS9JTWFxbEFOeTVmUG55U3g1NzdMRXZBYnc4ZGVyVXU2dXFxczdSRy9rcUl0b1N3TjRBL2xEa0pjd2xvdjE4YTFxaGtwbC81VGVJRU5GYnpIeXZybXQzWGJjTFdZUEVId0JNSktKT0FGaThlUEcvcTZxcUptbXgxbHllU0NhVEMvV3hwVDArTm1mbUdhN3I5bi9uVUVwMVc1WjFYTzY2bURrdGhGaEpUMlVnOUwzdUJuQVlNei9vNld2NDZuL0p6SnRyMGM0S1prNFQwVWZNL1BQbTV1YWlkY0o2ZW5vZURJVkNsdzdrQ2NiTWwrcE1LQWFEd1dBWWh4aERobysydHJhUEFWU005am9NaG5XWmlvcUtZQ3FWMmxKL1llNVZTczBiN1RVWmlxTFBsN0t4WUhZUUQ4OTFYV3RkTENlaUJkcUQ0MXBrTjVUdjJyYjlDb0NINC9INGd3QWViR3hzZk1peXJOT1llUjhpMmtnL2ViZjBVK0tDbmhITS9OWENoUXVUSTNpdGF5M00vQUlSL1ZobjNFcnBlL3NWTTc4RjRBYlhkWjhid2xpdkVaSGZrTEZZR3dRdVdqMnJIekUrQjdBK3NoNHFqT3htL0Q5Q0NBRElNSE12RVMwQjhENkF1eDNIdWNmZmVjbVNKVCtxckt4TXVxN3JaZFM1RXNDeE9tdUkwOWZYZDF0emMvTjhmNTlaczJaMUE3aFNTbm1yenU1eWZDYVQrVW14QzU0elo4N3NhRFM2M0M5QXFtbG41dXR5Ti95TzQveERpN211UUR3ZVgwRU1jOWFzV2QyMmJiK1hZOWpwWXVZbnRUaW0xKys5eHNiR1BZVVF6VVIwZzMrTVZDcjFpaEFpclQyY2VvaG9LWUFQaWVncXgzRStMUFlhZlp3RzRCb2lXaWxiaU9NNEhUbWVHTU5peG93Wnk2Wk5tN1pITUJpOENNQVVJcXJXVll1WitVTWl1anNlanorenF2TVlEQWFEWWQxbHlDNjFCb1BCTUJEMzMzLy9KcGxNNXQ5RXRBVVJmYUdVT3ZqNzMvKytjZjhkaDhSaXNlMjBnRjh4VUcxdHJSVU9oMFZIUjRjSWg4UFUwOU5EdmIyOVZGVlZwUnpITVY1dFEyVGF0R2tUUXFGUWFQSGl4YjFWVlZVOStVSlp4Z3RUcDA0dDE4YUtvcEJTbGc2VTdqY2ZXa1JVOVBiMnFtQXdtSFljcDNja05GbHFhMnREcGFXbFZsVlZsV3ByYTBzUDVJVXdaY3FVa2dMMVZFeUlqTUZnTUJnTTZ3ckdrR0V3R0VhVSsrNjdieWRtZmswL2FaOGpoTmpwaEJOT1dDMGhXd2FEd1dBd0dBd0dnMkg4SVlwb1l6QVlERVdqbEpyc2krZCt6eGd4REFhRHdXQXdHQXdHdzBoaURCa0dnMkdrOGRKdGdwa0xwZ0EwR0F3R2c4RmdNQmdNaHVGZ0RCa0dnMkdrMmQxM2JBd1pCb1BCWURBWURBYURZVVF4V1VzTUJzT0ljZm5sbHdzQWs3M3o4dkx5RjBaMVFXTWJrbEt1NXpqTzR0d0tLV1dEVXFxY2lKYTZydnNvdEFoZ1RVM05rY2ltbXA3bk9FNUJ4Zis2dXJwZ1JVWEZOd2RxWThnU2k4V09JNklRQUhSM2Q5OC9jK2JNM2xVWnI3Nit2cktrcEdRekFGaTZkT204WElISyt2cjZUWVBCNEplNTRxZU5qWTNSUkNJeFp5VEVKUTBHZzhGZ01Caldkb3dodzJBd2pCaGJicm5samtSVXFrOC9QZUtJSXhhTjhwTEdKTEZZN0J0Q2lGc0FCS1NVKytiSnJuQ1RFR0l6QUI4QmVCUUF0dGhpaTNJaHhQM0lodnc4Q3FDUWtVS1VsNWZmemN4SDJiYjkrL2IyOW90Ylcxc3pVc29KeGF5dHJhMnRkNkNzQ21NTklycUJpQ1lCUUNBUWFBTFFDd0MyYmRjeGM3Q1lNVEtaekp0TlRVMGZBVUF3R1B3T0FBY0FxcXFxNnZ3cE9tT3gyS2xDaUdzQlBBSGdDQzhMaFpSeUlvQ1hwWlJmTXZPVnJ1dmV2YnF1MTJBd0dBd0dnMkZ0d0JneURBYkRpRUZFdTNqSHpQem02SzVtN0VKRVZ3UFlXNS9lQU9CSEl6UzBrRkxlQmVCb2ZmN1RtcHFhRjdmY2NzdFBBYnhZekFDUlNPVDgxdGJXNndaclo5dDJwMmNBOEdCbUpxS2xBTnFaK2VsME9uMnp0OEhQUjJOajR6ZUZFTWNET0FEQVprUlVEbUFSZ0U4QnRDeGJ0dXlLeHg1NzdNdEM4K2s1bHdINEdFQUxFZDNnT001L2k3bk9JcmhmQ0xIU2ZQa2dvcC9vditOZzdhWUFxQUpnU3lsLzVqak9sYnJxQ2dBVDljK1FVb1lhREFhRHdXQXdySXNZUTRiQllCZ3hpR2hYNzFnSThlcm9ybWJza2s2bmYxUlNVdkltZ0RJQVo5aTIvWFIzZDNkemVYbTVaOXp3UEFIS2JOdXUxY2NWWG44aXFyWnR1MVlwMVpOSUpGNENnTnJhMmxBNEhQNHJnQWF2SFRQL0poNlB4eHNiRzcrNUpxNkxpQWpBZWdCMkphSmRTMHBLVHJkdFc3cXUremQvdStuVHA2OWZVbEx5Wi85YWZXeWtmeWFYbHBiZURlRExRZWFjQUdBN0FOc3g4dzlzMjI1d1hYZm1pRi9jQ05EYjIzdHVLQlE2RU1DMkFBNnZxNnU3cnF5czdCc0FUb1AydEhGZDl5K2p2VTZEd1dBd0dBeUcxWTB4WkJnTWhoSGg4c3N2Rjh5OFUzWXZDbFpLR1krTTFVUlRVOU5IdG0zL21vaCtnK3htL0djVkZSWC9CdkIwVHROTmlTaTNEQUQySWFLbmhSQnpBZFJvM1lVa2dEMTliZjdndXU0bHlLYlU3UkJDM0Z2TTJvam9yYUZlRHpPL1IwUWZhVytESFFGc29LdENBTzZwcjYrUE5EYzNMd1dBYWRPbVZaZVVsTHlnTi9QRGdwbi9EZUExQUZWRXRCZUFpRjU3a0pudkFQQTFMMndqSDFMS3kzUWJNSE8vZ1NnWURGNHZwZXdGOENrelg4UE1LNFRqRU5IdUFBN1RwKzh5OHlQSTN0K1hwSlMvWk9aOUFHem82M0tWYmR2bk1mTWZoQkFYNnJKUzdibVNxYWlvZUJMQVZqN2g3cTJsbE04cnBlNk54K04vR3U3OU1SZ01Cb1BCWUZqYk1ZWU1nOEV3SWtTajBXcWxsTGNKNnlhaU9hTzhwREZOWjJmbnRlRncrQWdBenl4ZXZQaVNpb3FLRFN6TEd0WllwYVdsUC9RYk1aajVHdGQxTC9MT2RYakg5MGRvNlN0QlJQYzZqbk0xc2thQ01tYStpNGlPMW5XVFNrcEtwZ0tJQTBBb0ZIb2t4NGp4dmxMcXQwS0lwN3U2dWhaT21EQmhJd0RiRWRGeGdVQWdyMVlIRVRWNTgrbHdtcjhEK0k2dTI3eWhvU0djVENZWERMRGtSZ0M3NnZiK2NZOUQ5djY5N2JydVRybWRZckhZNlVJSXo1RHhqdXU2bDN0MXRtMWZSRVFINTNUWmpZakF6QzZBZlh6ekFNQktYakpFdENPeTNsQXRBNnpkWURBWURBYURZWjFuWEJneW90SG9Ia3FwelVaeENmK1lNMmRPenlqT2J6Q3NkcGg1TXlLcTBxZWZFTkZYbzd5a01VMUxTMHRhU3JtWEovUXBwVXhsTXBtOUFjQ3lyR1lBWVdiK1JDa2xkWmNLeTdLZTBNZlBaaktaQzRtb0YxbWp5QlhoY1BnN3pMd1hnSXVKNkRZcDVXd0F0enFPYzhlYXZDN0hjWmJIWXJFclBVTUdzaHYwaUw3R0JnQUgrcG8vdFhqeDR2cWN6QjVMQUh3QVlFYVJVeXBtZnBhSXZxUFBsd2NDZ1lVamNqRkRZem1BYmdDbEFFcDBXUStBakJEaVN5M1EyZzhSSFFLZ1hLOS9SazdkTzJ0MDVRYUR3V0F3R0F4cm1IRmh5R0RtQzRVUXNkR2F2N2UzZHdzQW40elcvQWJER21JekFPdnI0L21wVkdxbHRLQ0dWVWRLdVJtQXNPOGNBTjdVQm8yWGRGa0syUTN0TWs4RFkvcjA2ZXQ3SGh2TS9LVlhEbTBVYVdob09ERVFDSHpEY1p5SHBaUUpBTHNCdUYxS3VYTlBUOCtGb1ZCSTVGbE9Yam82T25wYVdsclN3NzFHSVVUdVhNdjB1ay8xZVVCMEFUZ3FOejNwVUprNmRXbzVFZlgvZjJEbTYxM1h6UXpTYlc4QWxtNC94eE1SeldReU5aWmxMU1Npd2ZxdmhPdTZSeVBybWZFMEVYbTZKZzJPNDNoWlN4NzJ0NWRTZmdoZ0syWk91YTQ3ZmFqekdRd0dnOEZnTUt6TGpBdERoc0ZnV1Axa01wbk5MTXRhRDluTjNTZnBkTnA0WkFDb3Fha0pUWnc0OFdvaU9vcVpsekR6RmErKyt1cDl3eDJQbVM4bW9qUDlaVDA5UFdFQW5iNGlMOGFrNkExMU1wbDhIOEQ3VXNwemZTS2FmVXFwUDRWQ29mZTFvYW9vSmsyYWREeUFCNHB0NzJmcTFLbmxBQzd6bHpIejgxSktpNWtQOEpVbFhOZnRHTTRjQUtSdDI5c0JxQVN3cjlhbFNESHpqVVIwMldDZEhjZFo3aDNidHQxZm5rcWx1aE9KUk5jdzF3UXA1ZGY4MTZpenNUdytrRjZId1dBd0dBd0d3M2pFR0RJTUJzTXFjL3Z0dDVkWWxsV2pYZUl6QU9hZGR0cHB5MFo3WFdzRGt5Wk51Z2JBMmNoNlNHeEVSUGRPbmp4NXdlelpzLzh4ZU8vaThXVW5nUTQ1QURNSEI4cGFvdHQweE9QeHQvVVlkUUE4N1Fndzh5L2o4ZmdiMnV0anRjSE1KMG9wOXdWUXhjdzcrVHg3QUNBZWo4ZmZxSyt2M3lnWURQckZNOTlZaFNrbkU5SGtuRFVrdFhiR2tMMHAvQngyMkdFYmxKV1ZiZSs2N3IrRzJwZVpqeU8vNkFad2taUnlid0RIQW5nVXdKVGNQa1FVbEZMbUdqcTJjUnpudzJGZGdNRmdNQmdNQnNNNndIZzJaQ3dGb0hJTG1UbEFST1U1eGIwNlZubFFtTG1DaUlhbnVHY3dyS01FQW9HUXpwNUF6TnhMUkcyanZhYTFCV1krZnNXOUtRRGdSQURETW1Rb3BSNnhMT3M5QU1mb0VBY2d1NkZkS1RzSkVVWHpaREtCbDdWRXQ0bG5iUmoyVkFCSm56NERlbnQ3UFgyTXZ3S1ltR2VjQmwrNUMyQ3h2dVloYmFLSmFEdWRBaFU1OTJwR1QwL1BDY2kreG5JL2wxZko0SkJuRFVjQU9NSzI3WnRjMS8zeFFHMmxsR0VkUmhMVm1WV0FiTmFTOTNTWVNXYW8vMS9yNnVxQ1JIUjZucW9EQURoREdjdGdNQmdNQm9OaHJETnVEUm1wVk9wYjgrYk55MDBUU05GbzlHOEFEdlVLbUhrNUVlM1YxdFpXVkNySlNDVFNvcjk0R2d6amhuUTZIYlFzSzZvM29UMUtLV1BJMEZBZUt3YUFmR1ZGa1Vna25nWHdySlJ5Tjc4aFkxV3diZnRnSW1vQ0VNeFg3empPQmZuS3BaUzdlNFlNcGRUUDQvSDRlNnU0bEJTQURnRC9Wa3JkSFkvSCswVXNsVktMY3JLeWJMTUs4MXpzT003VnRiVzFnWEE0dkJVelgwNUVSeUg3OXpyYnR1MVhYTmZORy80anBTd0RzQ0JmaGhoUEs0T1poNndQVWxGUmNTYUFMZnhsT2kzdE5zeDhIak52STRUWXhGZDNIaEZOWXVZMEVmM2MzeStWU3ZuRGpBd0dnOEZnTUJqR0hPUFdrSkdQU0NUeVM3OFJRM01YZ0dBMEd0MTlvTDdwZEhyUnh4OS9iRFp2aG5GSlNVbEpHUkY5WFovMnBOTnA0OWIrUHg0RWtQdWsvUzhqUFlsU2FnOWtoVExQOUtWSy9ZTlM2Z0ZrTjlrVlBxK05aNVJTNXlHN0lWNGtoTGdWUU5sSXIya0lYT3hMaDVxWHBxYW1yMnpiL29TSU5rZjJlaHFsbE9mNTlTcUdpaFlrL1c5dGJlM3gxZFhWMy9ZTUVVVFVBQ0N2SWNOeG5PVzJiUy8wMnVhZ3RQam42ME5aaDVUU0FuQ3hQcDBQWUZOOWZMNVNLaGlQeC84RjRGODVmVTRCTUFsQVpyQjdaekFZREFhRHdURFdNSVlNVFNRU09ULzNxUmF5WDJqUEFuRFdZUDB0eTRvRHNBZHJaekNNVVhid2FUQXNQUFhVVTAyV252L3hVLzM3Q0daZUF1QTNzMmZQTGpZMWFOSEU0L0ZYQUpCdDIvdDdUaUNaVENhUlNDUmVnYzVhVWxLU2pScGg1cTkwZXlEcmtYRTNnS25NL0FFUkNSMG10TlpCUkRNQW5LRlBOd2J3UndBbjV3c1RIQW82bGUwU2JSaUFYMCtrd0RybTZUbGZaK2I5aUNnSW5hR3F1Ymw1L2xEbmR4d25JNlgwRERLM0EvaWxuaWROUkRPblRadFduYWRiZjJhWGZQWHo1ODlmM05yYW1ocnFXZ3dHZzhGZ01CaldCWXdoQTZDYW1wb3JpZWppSXRvYURJWThDQ0gyODUwK1A0cExXZXRvYlcxZHBqZmZaeFRSZkpXUVVwNE9JS3BQK3hZdFd2U2ZZdnAxZG5ZMmhjUGg1L3Y2K3V6UzB0SkhpV2l0TkdRQXVKYVpUL0lNQndDK2I5djJWZ0N1NmUzdGZTa1VDdlVvcFRZSHNJc1E0Z2ZwZFByY1pETDU3bUNEU2lrYkFFUzhjMmIrNzBEdHU3cTZEcGc1YytZU1pJMUFuVjVJRGpQM3JjSzEvUWZBMndEZThSZW0wK250UTZGUXdkQkdJZ3FHUXFHVnNyZEVvOUc2MXRiV0VSV1VOUmdNQm9QQllGaGJHTmVHakpxYW12V0ZFSGNEbU80dloyWUZZQ0IzNVZBZVFjOWhwOXd6R05aMWlPZ0EzL0V6bzd1YThRRXpoL0xJYjN6UGQveDBTMHRMVVNMRnV0MEJBSlEvbmVqYWh1TTQ3Ylp0bndIZ3oxNFpFZTBIWUw5UUtLdTVLWVR3ZHptL3dGQ05Vc3F0dGJqejFnRDI4ZFVwSXJwem9IVjRSb3lSaEpsZlZrbzlvUVZFRFFhRHdXQXdHQXdETUc0TkdZRkE0RUFpT2o5WFhBM1pMOGFLbVgvUzN0NytwOXk2YURSNnJQNFM3VGRrekdQbWkxYjdvZzJHdFpCSEhubWtkTm15Wlh2b1RiWHE2K3Q3WWJUWE5OYVJVaDdFekVkNjU2RlE2QndBbCtyd05oZkFvVXFwRzRjNDdKRERNNWk1Z0picDZzTjEzYnRqc1ZnUEVkMU9SSlhESEdZUEFIdmtybDJMZEo3bHV1NXJJN0xZbFNtb1EwSkV0eVVTaWNWU3loVU1HWDE5Zlo5YWxuVnFudmEvQVJEV2ExN0oyMGNwbFN0bWJUQVlEQWFEd1RCbUdMZUdEUDNGcjkrSXdTdCtJdzhRMFIyUlNHU1BWQ3AxMFNlZmZMSm80NDAzRHBlVmxWMEg0SVNjY1Q0RmNQQ2NPWE0rWDdQTE54aldEcnE3dTNjVlFuaXUvdk9OUHNicVJVb1pZZVpIaU1qLytYMkpiZHNiOWZUMFhEeC8vdnpwa1Vqa3NuZzhQdFBmcjZtcDZTc3BaU1d5b1NSRHpxcVJ5OVNwVTh1SmFFdnZmQlhES29aRVBCNS9VRXI1T0RPZlJrVGZCYkE5TTI5QVJHbG0vb0tJM2xCS3planA2Zmxnc0xGMHV1RDV6TnhDUkRjNmpsTzBFVU9MZElZSzFJVUJWS1RUNlc1bTdpT2lEWW5vZU4rOEsraFhPSTZ6T044NGp6MzIySmNBVnZJUWtWSmVCQ0FNSU9PNjdvQWVKQWFEd1dBd0dBeGpqWEZyeUZCS0hXZFoxaVVBR3BsNVBqTWZTMFE3TVBPTlh0Z0lFWjFhVWxJU2kwUWlDU0k2RXNBS1QvK1krZFhlM3Q3RDU4K2ZQMi9VTHNSZ0dHV0l5Si9ScHloTkJzUHdZZVlMOG1YTUlLSlRnc0hnOTZQUjZMOEF6TFZ0KzFaZkhURXphWUZJcTdxNk9tRGJka0JyVGJRN2p2UFRsU2JLSVJhTC9VUUlNUlZBbC9ZQ21BS2dTbGNyeTdLR1pNQnlYVGVmZ0dYUk9JNnpDTUJWK21lMXorZkh0dTNidEJGbmN3RGxYbmx2YjI5L1NLSlNhcG9RNHE1QW9PQy8yVTlIYWowR2c4RmdNQmdNNDQzeGJNam9tenQzN3BHUlNPU2kzdDdlMitiUG45OEpvQ1VTaWN4ajVvZUlhQUt5RzRDSkFFN3g5MlZtQm5CektwVzZjUDc4K2NOTy9XY3dqQkgyOUE2WStkK2p1NVJ4UWJPWHpwV1pmd3hnR3dCblVaWUFnUDJSL2V4YW9aUC8zSC9NekJjV09lL25BTDZiYjJ4bWZ0QjEzVFhta1RIYUVKSHk3b1VITTc4M2E5YXNidDk1UzZIK3pNeEtxWWRYOXpvTkJvUEJZREFZeGlxaWlEWmptWFI3ZS9zVnFWU3FKeEtKZkRzYWpWNmw0OHlEQTNVaW9neUEzVXRLU240ZGpVWmowV2gwMi9Gc0ZES01YeDU1NUpFS3ZaRUdnQlF6dnpIS1N4cnpFTkVzWnY1TUtmVi9ydXZlNUxydWo1bDVCMmIrSFlDWEFIdzVGTDBMSXZwYk1lMlVVazlxSTI0L3pQd1pNOS9lMTllMzJqT3lyRTBvcGJ6VXRUMEF2bURtSjVuNUdIK2JSQ0xSQnVCamZab0IwTTNNQ3dDOHlNd3lrVWk4dk9aWGJqQVlEQWFEd1RBMldMTXFiYU5FSkJKeGlTaVdVM3dEZ0kyWWVUS0FiWWhvVlkwNmFXYitDRUFWRVczc3IranQ3ZDNpMDA4L05ib0JoakhIbi8vODV4MkVFSEVpMm82WjUyVXltV2tubjN6eTY2TzlyckZPTEJiYk1SNlB2ejFBRTZxcnF5dGR2bno1U3AveFpXVmx2R0RCQWxWWldja3RMUzFEMHNyUXVnK1p4WXNYOTg2YU5XdjVjQVJDeHdqZS80dkJybCtNNDN0a01CZ01Cb1BCc05vWXQxNEV6THdKRVIwNWlPSitGd0JYS2ZVU0VSMEY0SUFCSlBvREFMN1E3dGNiRjJoak1Jd3BpS2hHaDE4QndCd2lXalRLU3hvWERHTEVBQUNlT1hObTcwalA2emhPeDBpUHVZNVNySEhDR0RFTUJvUEJZREFZVmdQak5yU0VpSzd6dWYydUFETy95Ly9QM3AzSHlWRlcreC8vbnVxZU5TRWJHVGFSbUNnSUFpNGc0SUlTbFl0Q1NFZ21YVkZVRWpadkZLKzRYYS9YMzFYSmRic3FYcTg3UnBZUUJKZDB6MHdnWWdSQjRvb2lRVkJSMWl5Z3NpUVlFckxNMGwzbjk4ZFVENVZPejJRbXpLUm1NcC8zNjVVWC9WUlZWNTJhekF5cDA4OXpqdnVGN2UzdEI2NVpzK2E4ZGV2V0xWNjdkdTBiSkUyVjlFRkp0MG5xcUhoUFNkTDc5dG9OQU1QRFlaSW1xUHRuYW4wMm15V1JBUUFBQUdCSWpkb1pHVjFkWGUzWmJQWXpablp4WEtEd2Q1TE9NN05YbTlsUmtxNm9xNnY3NHRTcFV4K1U5S0M3UCtqdUQ1clpyNk1vdWpwZUcvMHFTU2VaMlNza1BiQjI3ZG8vVHAwNk5lMWJBL2FLWmN1VzFlN1lzZU53U2JXU2lwTFd6cDgvZjFzLzNnb0FBQUFBZTJ6VUpqSWthZTNhdFpkTHVydzhualp0MmlYSi9mR1UrWlBpWkVYUDlpQUlKR21qdXo4bzZmL1dybDM3aGIwYk9aQytUWnMyTmRUWDF4OFZEOXZON0w2VVF3SUFBQUF3Q296cVJFYlNwRW1UeGtsNjNOM0htTm1FZnJ4bHNwbE5sdlNsdlJBZU1PelUxdFkydVB1UmNaSnZSeFJGOTZjZEU0WmVHSWF2THBWS1Q3UzJ0cTZqQmdSMlorN2N1VWViV1pPNlB4ejRUVDZmNzdWTmJ4aUdHVWtOa3JSaHc0YmlxbFdyMnFzY016YUtvbFBqODNVVUNvV1YvWWtqRE1NWFJWRzBmMHRMeTZDMmlNN2xjcUc3TndaQjhPY05HemJjV3kzbS9qanR0TlBHakJzMzdnM3E3b3F6cmJXMTliYkJqSE13blhYV1djL1Back1IQmtHd0pwL1BEK3ZsaEdFWUhpVHAvWkl1NmUxN0w1ZkxmVHFLb3JiVzF0YTc5bjZFQUlBOU5lb1RHWWNjY3NqemEycHFKai96ekRNUHIxbXo1cFh4dHNtMXRiVXZNck1qSkIwUnQ1YzhVdElSWmxhZmZIOUhSOGNkcVFVUHBHdUNtVDAvZnIyam82UGpyeW5ITTJxRVlmaWlVcW4wZ2t3bWszWDNiTHk4cCtlUG1kVzdlNzJrQmpOcmRQZEdTV01salRXemNlNCt6c3dtUmxIVTNOTFNjcCs2SHpnWG1GbE5iOWZjc1dOSFN4QUVIWkp1eldReURibGNibW1oVURoM3I5NDRVcGZMNVM2UzFOamJmalBibHMvbkx5dVBneUQ0YjBubHJtRUh4d1d4cTNMMzE1blpiWkxVMU5SMGs2UzNWQjRUUmRHaFFSQzB4Y2MvSldseVgvR2VkdHBwWThhUEgvOVRTYThPZ3VEUjAwOC8vZkNWSzFkMmhHRlkvbm5wVTN0N2U3Uml4WXJ0ZlJ4eWFSQUVVeVJwOHVUSlowanFWMktsMHZqeDR3K1h0RUtTTXBuTW55VWR1eWZua2FTWk0yYzIxdFhWZldkUDMxOW1adS9PNS9OYks3ZlgxTlI4TVM2QXJsd3U5NUZDb2JCSEgrZ2NmL3p4TlljY2NzajQ1eHFuSksxWXNXSmo1Yll3REdkSVdpS3BLYTV4ZHJha25WcEk1M0s1dDVuWng0TWcrSzh3REZ0S3BkTEZyYTJ0ancxR1RBQ0FvVFhxRXhsMWRYVWZOYlAzVHBnd1FSTW1UTmdZdDFCOXlNd2VsUFNncE91THhlSkRqenp5eUNaSndXR0hIZmFDYkRiN2tpaUtYbUptaDlGV0ZhUFk5UEx2RUhmLzQ4S0ZDL3Y2eHo0R2tidS9LWlBKZkZ2ZER4dFZqMGx1cnp5bVBBNkM0R3hKbDhTdnZ5bHBURy9YcksydC9XMG1rem1pL0ltNW1mMW9UMklQdy9EOWNmdnI4cjJjV2lnVWJxMDRacEtrRFltQzFML1A1L01uVmpuWFk0a3VVWi9LNS9PWFNOS01HVE1tTmpRMG5HOW1NeVVkR3lkdU5rbTZJNHFpcjdlMHROeFU1Vnl0a3ViMEVmcXY4L244eWRWMnpKZ3hZMkpqWStOQ2R6OUQwb3ZOYktLa3A5MzlQak5iMGRIUjhlMGJicmpobWQxOWJacWJtMThWQk1HMzRycExUK1R6K2FvZHNQYmsvaVJaR0lidmRQY0ZrbDRlSjdXZWNQZFY3djZWbHBhV1Ard3V2dGluekd6L1B2WS9JZW15UHZidlZUZmZmUE8yTUF3M3g4UG5qeDA3OXIyU3ZpenBpL0VuOVgycXI2OS9XTktMY3JuY2E4enMvT1ErZDY4M3N5bUpUVzhMdzdDeTFYdHYvbDcrZm8wbEgraWY3dWM1cXNwa01yVm05bzduY2c1MUozRStFSGR2NnhHR1laTzdsMzlPU21hMll2YnMyZjJaeGRwaitmTGxXeVJGVTZaTU9TV1R5ZnowdWNZWng3VmZ0YVNMcFBMMzZsdHp1ZHpmQ29YQ3Y1ZDN6Snc1YzdLWmZVWGR2ODlNMHNFN2R1d1kxak5NQUFEUEd2V0pERW1uSmw2WGw0dWNsRHdnbTgxcTJyUnBHeVRkNys3M3UvdDlRUkQ4cGF1cnF5WCtoemJUcXpIcUJFSHd1c1R3bHltR011cVVTcVhic3RrQi8vb3VTZHJtN3R2TWJGdjhla3FWNHpyZHZlZFRTek9yUyt3THl5L2MvVTI1WE81VjFhNVRLQlErMmxzUVVSVGRFdGNaS3AvL1ZaSnVyVGptMUNCNWtIVGNyRm16OWtzbUE4SXdQQ3paNnJwVUt0MnE3bVRBbEV3bWM1ZWtjbHZnY3VLbVNkS01JQWhtNUhLNVJZVkM0YjhyUXB1a1BaREw1VUpKMzRsbktDVjNOY1ZMS2w1WFYxZjNrVEFNMzViUDUzOVc1UlRXM056OHVrd21zOURkeis2anhiZjI5UDdpMlFldGttWlVuUDR3TTV0dlp1L001WElMQzRYQ0ZRTzQ5WDlJU2labnhnK24xdU5ublhYVzg4MHNvKzd2MVMrWldYbDJ4OGRtelpwMWVkL3YzbFU4US9PQ2ltMlZ4OHp2Ny9uYy9kNXlFakUyUHJIdnRXRVlGZ2NhWXhSRnMxcGFXbFpHVVZTS291aW8zbzR6czl2TmJFS2N4SHBQYjhjVmk4Vk9TVll4aStFamlkOEpHVW4zMWRUME9wR3JxdG16WjA5ZHZuejV1Z0c5YVEvazgva2JjN25jSWpQN2xMcnYrK0k1YytaOHQ2MnQ3UjUxZjVDMVdOS0I2djZhcitubzZKZzlGRzJyQVFCRFkxUW5NcDczdk9jZGFtWXY3dWZoVGZFL1RIcytrYXVwcWRIVXFWUGJ6ZXd2YTlhc2ViV2tYdGYrQXZzYWQ1OWUvb2U4bVpISTJJdmEydG9lbUR0Mzdudk1yTWJNbm5IM2JYR2RrdllnQ01hWTJVY2tIVklxbFU1MTk4MmJObTNhVmw2N244dmx6blQzc1lWQzRRZlZ6aDFGMGN1Q0lQQmlzVml6YWRPbSs1cWFtalpLR2g4RXdXR1NjdVhqek96ZHZZVFhKYW5YUkVaTFM4dTl1Vnp1TVRNN1dOM2ZSN3NrUTRJZ09LMWlVNmF1cnU2MWtuNlMySmFjb2JGdC9mcjF0NnY3MCtpSmlZZjhEZTYrSnY3ZFBTMXgvQ1Z6NTg2OW9XSVdRczhzQTNmL281bnROQVU5bnFHM2sxd3VkNTZrSzNlWGZJai8vL0dUNXVibU55ZHJIOFJMQVA1VWptMzNwOW16KzR1aTZMMUJFTXhJN0wvUjNmOXNablBpNVpPQnBHK2NkZFpaTjExLy9mV1A3amFJSUdtZlF3QUFJQUJKUkVGVTdxL1JoNk1vMmhnRVFYMnhXUHhWVFUzTjdIZ2FmMS92K1dnWWhqMmRqYUlvV2pIWU5TdkthbXRyZjE5K1NHMXZiMitxcjYvL3ZhUVRKRTJ1cmExOWo2UzdKYlgwOHZZR1NXZFV4TjRWSndETGd2THNwTmlBT2phWjJVNHoyS0lvR2xmTzNjWGZUNW1CbkM5K1h4Q0c0WUdTK3JVMHdzeW1tMW12U3dMSGpoMnJNQXdQenVmemo2czdpWGF3dTcrM1A5K24vYnorMzl4OWNXTFRHODNzOFBqMUxmRU0yYVNEek93c2RmOTlQQ2JwaHZLT2JkdTJkU2xPWU5YVzFuNjR2TjNkVGRLTytPL3E5bXcyZTE0WWhuTDMvYzJzT1hIdSsrdnI2ejhlaHQyNTJpaUs3bTFwYVJsd3dnc0FzUGVNNmtSR1hWMWQ0TzZmY1BlcFFSQk1kZmRwa2c0dGY0clRIL0ZhOUNKSkRJd21TNVlzT2R6TURsSDNQeFMzclZ1M2JrZ2VSdENuVlpKKzZPNTNGQXFGZDVVMzVuSzVTeVc5VnQwSmdiY1dDb1gvS2UrYk0yZk9FV1oybmFSeFlSam1KTDAxbjgrWHFwejcxbXcyKzd4Smt5YVZhNkFvQ0lJUEovNmZVZTJoclZaU1RlVWE5RjdjS3VtZDZ2NGRlbEtWL2Y4Uy83ZVVlS0E3cGJkRWhydi9ZdlhxMVYySmZmZEkra2crbjcrbEhNL2N1WFBmR3dUQk4vVHNnK0ljU2NsRVJqazUwRlVvRkY2K3Uvc0l3L0FsN241WklvblI3dTZmZGZjZmJ0KysvWW14WThkT2NmZDNtOWxGOGY2YVRDYnp2VEFNRHk5UGdZK1hBQ1FURUJ0M1YvTmhUKzR2Q0lJM0o3NVcrVUtoTUUvZFMxUyswTkRRc01iTUpwaFpYVGFiUFVYU3RmMjR2dUw0cjVWMFlCQUVyKzdQOFdiMmdlUTRDSUxINDliblZVOGZodUhZeW8ybFVtbW4raHlWeC9SV0pOVGRQeHNuNHI1clpyK0pvdWhJU1g4T2d1RHBmRDcvVVBMWTV1Ym1Rek9aekU0Sm5VS2hjSjJrNjhyalhDNzNpZkluL1pLVzUvUDV2cFlsOVVkeWFjazZTZmNPOUFSUkZEMlJ5VHo3enhkM1h5WnBiZVZ4Wm5aeC9HRC9zTHNYcXB4cXFwbk5xOXlZeVdTK1ZxNlA0dTYvbFBUSC9zUmxabU1rbGV2cFJPVWtUbHlmcHljaG1zdmxybzFya3NuZHI2eE10b1poZUxLa3MrSnpQcERQNTNkSnBtYXoyUU9UUzRZcWtpNnZqLzlVbTAxenVxVFR5K01nQ0c1TWRyVURBQXcvb3pxUnNXYk5ta2NrZmFaaWM4MjBhZE9teHY4elBkemREemV6Rjd2NzBXWldkZHFzbVZXYkxnenN5MTViZm1GbXR5OWF0SWpsVlh1Wm1WMXRaaStWOU5Jd0ROZmw4L25QeHRzL0kra2NTUWVhMlNlYm01dC8yTnJhdW1iMjdOa1RNcG5NOVpMR3FmdEI0YTVDb1ZBdGlkR2JOOGIvL1hrK241OWV1VE9YeTMzVHpDNUtMa3ZwamJ2ZlltYnZqSWROemMzTjAxcGJXOWVvKzRIOFNFbUh4ZnQrbS9oZU82WGlORDJKRERPN3BmeTZvNlBqNGE2dXJwTXFwNGcvOWRSVGk1dWFtdjR2VHJiSXpBNnNPRjg1a2ZGa2Y1SXg3bjVKZVlxOXU3dVp6U2tVQ3NsRXk1OGt2VGNNdzQyU1BobHZPOGpkMzEzUjdTcVM5S3NvaXI0WkJNRUJrcjdlMTNYMzVQN2k1VVRsWWM4RDhvMDMzcmdwbDh2OVhkSUVkVCs4YmRyZGZUOFg3cjY5WXFaTFh4OEFuRnF4ZEVYcWZwanVlUjNYNnRqcG1LYW1waHNsblZuNXZrS2hjTDJrNjlYOVBmYktJQWgrSDhmVW1paEcyaTloR0I3azdoOUpiUHBXYzNQenFYMjhwVktwc2l1Sm1TVVRHVC9JNS9NZkcwaE15ZGdTdzlzbHZTMjUzOTMvVmRLRlp0WWc2YjRvaXBZSFFmQ1ZpdE5jSjJtblJNYmN1WE5uSjJaay9iTlVLczFwYTJ0N3Fydy9sOHQ5b2x4anAxUXFYVnF4NzJQbDd6OTMvMkZiVzl1VGUzSnZBQUFramVwRVJpKzYxcXhaODRDa0J5cDN2T0FGTDVnUVJkSFJRUkFjRXdUQnk5Mzk1WktPTmJOYnE1OEsyRGNGUWRDVHlJaWk2TmZwUmpNNkZZdkZkOVRVMVB4ZTBrUjMvM1F1bDd1blVDajhLSi9QYjg3bGNwZVkyYmNsUFozSlpGNDRmZnIwUjdMWmJNSE1qbFQzdzhUU1FxSHd1VDI1YnFsVSttUVlocjkwOTkrNSs1S1dscGFkUGptdXNpUmpGMTFkWFQrdHEzdTI5RVltazNtVnBEWHhzR2RaU1JSRnk4enNOZkVNZzFmT25EbXpNZTRnRVVnNlB2RzE2UGtkM0Z0UnpZYUdoa1ozenlZZXFIb2VwbWJPbk5rb3FkeVJxakdYeTEwdHFVN1M0MloyU3o2Zi8zRXl1VEZ6NXN4R001dWR1T2RsK1h6K0o2cGl6Wm8xbjVrMmJkckM4aktIK0gxZlVsejA4TFRUVGh0Mzg4MDNiMVAzUStpLzdlNXJ0eWYzWjJiZmR2YzUxdTFmd3pCY0tla3ZVUlNkYjJaSHg4Zi93Y3lxM3NOZ01iTVhscGNwcEtraWFWQ3RRT1R1Zk12TTlsUDMxKzBIWnBiSlpETDk3bGJpN2gySjc3ZXlaSTJNNTFMc2M3T2s4OVI5bjZ1aktOcXBtMGNRQkk5VjVCclh1L3Mza2h1aUtMbzdtODJlVno1ZmMzUHpsQ0FJcmtycy84OWtvaUwyL25JUjJHdzJlNFdrcDlROUMyeC9NL3RvZkY5RmQ3OUVReWdJZ2o5MGRYVk43RzEvTnB2OVdWeE1WKzQrdDFnc1Z2MGdhdnYyN1YzVnRnTUFobzlSbThqSVpyTjNUSjA2ZGNDZklwYy9EVXI4UXlCdzkrdW5UcDFhM3REUTIzdUJmY0dWVjE2NW42U2o0MkV4Q0lKZnBSelNzUGFDRjd5Z2Z0S2tTWjgzczdlNSt4WjMvOHdmL3ZDSGE1N3JlWmN2WC81dzNEcnd4MmIyaEtTZTRvQm1WblQzeDh6c3FzMmJOLzltMWFwVnBWd3VkNnVrNmU2K2N1UEdqUmNPOUhydWZybWtiQkFFOVpKT05yT1Q0MWFabFZQZ2Q1dkl1T0dHRy82UnkrWHVTeVJXVHBMMFBWWFV4M0QzMWlBSUxveGJVZGJVMU5TOFJ0SXRjK2JNZVVuY1RsYVNOclMxdGUxMml2dVlNV1BlVzFITG91ZkJNd2lDWkJlT2lXYTJJREgrUUJpR1ArL3E2cHE5ZlBueXA5VWR5RWtWclR1clRjK1hKSzFldmJwcjJyUnBOOGV6WkpSTXdFaUt5a21NNTZxdis4dm44ejhOdy9EOGVMYkhJZVhsSElsNnFqL3U2T2hZc0dMRmlvSE0wQmxxajB2YWt5VHBuYnM3d04ybkpiNVVBK284Rm9iaEJlWHVOdTdlMGRYVjlSKzF0YlZINy82ZHU5V1R5REN6ejRWaCtObUJ2Tm5kWnhZS2haWDVmSDZIcEt2aldMZnVYRE5YaXBkdGZkTGRtOHpzYVVsSEIwSHc3ZVFCUVJBb244LzNMTm5KNVhLekpFMk1yM05yUzB0THY0dkNaaktaRStPQ29aTDBuWmFXbGwxcXpReW1lS2xjcjRtZ01BeVRYNUN0NVo5cEFNRElNMm9UR2ZHMFNnQUQ1TzR2aW9zWFN0S2pVUlE5a1hKSXc5cisrKy8vUlVudlV6emQzOHlXSG5mY2NVL2VkZGRkZS96cGQ2SXV3RytpS0RySDNYK1p5V1NlTG0rUEMvSWRMT20veG80ZGUxVVloay9HRDdGM210bmRUVTFOOWVXaWRtdldyT21vcUM5UlZhbFUrdG9qanp4eS85U3BVOHQxQXY0YVJkSERZUmgrY3MyYU5UMTFPUHF6dEVUUExnYzVVczkyTHRIeHh4OWZrMWhDY245cmErdmZ3akQ4V1p6SVVCQUVwMGk2SlFpQ1pIMk1XL3RSejJLT3UzOHFzZW5HUXFId20vSWdDSUxkZFN3NXBhYW01b3J5MVBvZ0NBNnAyUDlROWJmMXhMZ3U4ZUJjSDRiaDJGNWFSZTZSM2QyZnVtZXQzSm5OWnU5SUxCRXF4OVloNmE2T2pvNGRneFhQYzVCTUR2MCtuOC9uK2poMmp3VkI4SnJ5YXpNN1k4NmNPVit1TXNOZ0Y4M056U2RJNnBtOVlHWWJyNy8rK2tmRE1OeFVMQmFQcmZZZU0ydklaREtYU0NvWFcrMlM5UGtxaHlabmlleVNmZGlkS0lwMnFRc2lLZWZ1UytNbFBOK1ZkSE5IUjhlRDlmWDFuNVQwSmtsUFpqS1oxN243TGt0eGtncUZ3amZDTUR4VjBvbWRuWjN2a09TNVhPN2ZpOFZpMi9MbHl5c0xjdmFZTTJmTy91NitvVmdzVHNsbXMrOHJsVW85aFQyYm01dGZId1RCK1JWdjZhbTFZbWJ2eWVWeWIwbnVkUGNERWo5SFI4WXpwOG8ybTltSGR2ZGhrcnZYSldZdDFWV3J3MUxXVzcwVkFNRHdNR29UR1FEMlREYWJuVmJ1OE9EdWE3TFo3TWJkdjJ2MGN2ZHpxbFQ1WDFCUnVMTGZaczZjT1ZuU2h2SzR5aWV1T3hXeXkyUXl2VDVvU05MVXFWTS9zWHIxNnNwYVFWVWRldWloQnlVK2piNHlDSUkvU3FxWk9uVnFUK2VEL2l3dDBiTjFNc3BMS1Y1Kyt1bW4xNDBaTStiVjVaa1c3bDZ1ZS9HelJQRytVK0pyVksyUFVZWGxjcm4va1BRNU13dmk4LzZ4VkNvbFoxeG8yN1p0RDQwZE8vYUZtVXpteVEwYk5yUlBtalNwS1pQSnZGN1NwWkxLQlUvbmhtRTROWi9QcjYxNDRGYXhXTnpkUFZmT2RCaXM0dEQ5dXIvbTV1WlRNNW5NRFltSHZKKzUrM296ZTNOY3RQZmo0OGVQbng2RzRXbnhKL3JQU1JpR3gwcDZheHpQMFlrSHgyVFhrcnZ6K2Z4T00xbmN2VEh4dlRza0JiVERNR3h3OTVtSjY3dzhtODNlTm1mT25GUDdxdDBRaHVHTEpOMVlaVW1JNHFUVW55dTN6NTA3OTR3Z0NMNG02WVh4cHRWUkZKM2YwdEt5eXd3aU03dW5YTjlrQUdhVTQ2bnNnaUxKM0gyK21SMFFqMCtYZEVCOWZiMGtUWXV2OVR4M3Y3WmE1NUl3RE4vcDdqOHVGQXF0a256cjFxM25ORFkySG5YRERUYzhFWWJoREVtWDF0VFVmQ0dYeTMyMVVDaDhxTXI3TDNEM0wwZ3FtZG14aFVMaDA4bjlRUkFjVVRIenFkTHJ6ZXoxZmV3L3NPTDlUNVJLcFJXWlRPYW5mYnhucDkrTlFSRGMwTmV4a3lkUHZqV3UxUUlBR0laSVpBQVlDSXZiNDAySVB3Vi9zSzZ1YnJlZlpJNW12YlRtSEp6K2hYdFpUVTNOUjgwc0srbnZadmIxdUFYdm1XWjJnYnVYdXlQMEs1R3hiZHUyMjhhTUdWT016MWM3ZHV6WTQ5dzl1YXlrbktENGVhSjd5WW5UcDArdlR4YjY3T3JxcWxxamFNYU1HUk1iR2hxdU1iTXpFK2Y4VWJGWVBLZHlPbm04dkdOTll0TmprbjRZaHVIamNYY1lxZnRUN3hQaUxoQWJrdStQazN2MzlIRzdVeEl4UEZVb0ZKN3pRM3AvNysvMDAwK3ZDNEpnU1RtSjRlNy9yOXpKWnZiczJST3kyZXpxdUhQS3lYSENxTnBzZ1Q1VkpxL2k1TVYvcWVMQk1kbTF4TjJ2cTF5U1UxR0E5ZVJjTHRkWGtxcEhvVkE0TFM2YTJoOGZLdGR5U0RnMm04MnVDc1B3amIzVjhJaWk2SVFnQ0pxcTdhc20vcnJmcUxnMmhLU1BtOW1YV2xwYXFpN2Z5ZWZ6QS82NjUzSzVKOHlzWHQwUDVjbEVodVZ5dWN2TTdPekV0cGZIZjNaaVpxK1I5SnJLN2JHTmtsb2xhZVhLbFZ2aUpVbUJwUElNckVEUzZtcHZkUGNqSzJwbXpCcm8vUUVBMEpkUm04aUlvdWo5a2g0WjdQTUdRZkNaUlAwQVlKK3llUEhpYkR6TjM5eTl3OHp1bXpkdkhxMkgrL2I5Wkl2QjJIVzlITHRiSFIwZE8rcnI2NzlhdWIyN2NZYWRXKzVLVXFIazdsZFYrZFJXWnJaTCswdDNIMk5tNnVycWFpL1hCY3BrTXNkSldoZ2ZjdW1HRFJ1Q3BxYW1tK0lPRWFkSytsSDVXdjI1ajVVclYyNEp3L0JPU2EvU3MzVXlldHF1QmtGd203b2Y4RGFIWWJoYTBvbG1WamQ1OHVRM2xKZWFTSHA0K2ZMbDZ5clBIWGVWdUtWY3lGSlNaeFJGLzluUzB2S1YvaVphWXJmSEhVbE16N2FSVkJSRnF5dmFYRFpMYXF0Mmd1blRwMmZOcktmOXFabjljZ0RYcjJvZzl6ZDI3TmhYU1RvMEhrWm0xdE9oWXZueTVVK0hZWGg1K2NIVTNXZjNONUhoN2lacFF2eWw2V3NXUjJVTmtERzlIV2htTDB3TUQ2elNXYWFxNmRPbkI2dFdyZHB0SWlPWHkwMVBkSkNSdTMvU3pPWktlcG1rb3lUOWJNNmNPYnQwNUZIMzBxcmI0OWxQdjQxcmJCeWdaOXV3Zm5RM2w4NlkyU2NrZmFLOHBFdlMxbncrZjBnWWhvMTl2M1ZYN2UzdDBZb1ZLN2FiV2M4TWpxNnVydTJTZE5wcHA0MFpOMjdjRWpNTEUyLzVocVJrelkxTW9qYklQWkoyV3NKUlptYTdMSC9LNVhMdkxQLzh1ZnNmQzRYQzk2dTlkOHVXTFl2R2p4OC9MKzVBTkhQdTNMbnZhbWxwNldsbnVuSGp4cXVibXBwK1VQRzJYOFYvRjNMM041dlpieXIydjFyU3pZbGplOXFsdHJlM1IvWDE5YzkzOTI5V2kwZlB6dVE2b1R4MjkyY2s5VnF2eU16dTYyMGZBQ0I5b3phUlVTcVZmdmJvbzQvdU1oWDB1Wm82ZGVvSHFuOEFDK3dUYXR6OUdET1RtVzBybFVwL1NqdWdFZUREOFgvbnVmc1dTWis3NjY2N1Z1enB5ZUxaQXgrbzJHeTVYRzV4TDBrTXhROVNSMGs2TTUvUGI5N05KY2FhMlFSMzkvcjYrcDUybkhFWGxQTC9NLzZucWFrcDJiSXhrM2dZNm5mQnlQaGgvRlh4OEhnemUxbjhlblZGbkQ5THpNSjRlenlMSXpsckl5bVFWRWc4NUQ4aGFWWkxTOHNkL1kycnJGUXFIWnJKWkpLLzBQOHVTYTJ0clkrRllmamJjaExHek01dWJtNit2TFcxOVJlVjU1ZzhlZkoveFFVMnBlNGt5TFVEamFQQ2dPN1AzUTlPL0QvSksvOSszTDJydkwrL2lZUDQyT2VYMjg5V3pBWkludnVwUXFFd09ia3RsOHR0ckRJam91d1ZpZGRkN3Q1cmNxSjg3ZjZLMjZPMmxwY0Z1ZnVkR3pkdS9KK21wcWJMSmYxRzBsUkpSMld6MlZzVGhWbDdMRisrZkYwWWh0K0xrM2s5LzNhSTQrZzFPYU5uWjJYdGNrd1loaStWOUllQjNJY2sxZGZYM3gvWGwrbFo1aEpGMFE1SkdqZHUzQ2Nxa2hpUzlJcTQ3Vzlaa0ZqdWMwQ1ZSS3NrL2ExUUtPeFUxRE5lbHROVGl5V0tvZy8zTmhQbTVwdHYzaGFHNGZ2S0xXK0RJUGkvNXVibVc4dHRsbGV0V2xXczdCZ1RobUY1R1pkS3BkSzZ0cmEyeXYzSmhGbXBTcDJaK3lWVjdmd3phOWFzL2VycTZuWmEwaE4zbnJrNW44LzN1Y1FFQURBOGpZcEVocnUvYyt2V3JlY210MjNZc0tIcVA3eWVxN1ZyMTFiOU5BZllGMHljT0hITTl1M2JYeHdQdDVWS3BjcU9GYWl3ZXZYcTdaTGVFLzhaZFBFLzBKZVdhMWZFbjFST2tIU011bi8vZmRQTTNpdnBaSGYvYlJpRzgvTDVmTFVFMUwvRUNZOUplbmE1d01ueGNvcU1tVjJhV01hd1MwRzl4SU5sdjd0QnhmVXRQaDYvUHJWY0k2QXlRVkVxbFc3TlpETC9HUTlQcTNqL1R1SlBqSlB0Z2M5c2FXbnBzNU5GWEVOaVl6NmZ2N3U4YmViTW1ZMlpUT2IvRW9kdDNiSmxTMDhYRFhlL3hNeHVpb2VaVENaejQ5eTVjei9wN3ZsTUp2TlVzVmg4WVRhYnZTajU5Kzd1djJ0cGFXbnQ3OWVubW9IZVh4UkZEeWRtajJUYy9XM2xUNkdQUC83NG1vcmxCMzBXTFkzdllZYVoxWmpack1TMnkwdWwwbHVESURncUNJS2lwRmNPOUw3aUpVT3ZUV3g2U2FGUXFCclA5T25UNjV1YW12cGR5Nk8rdnY1OTd2Ny95Z2t3U1UrWTJkejRZZnJ4T1hQbXZDV2J6ZjQyN3N4eGpMdWZYZTBEaVh3Ky93NTEveDMwYkN1VlNxdVNzM01TTXBMK1UvRW4vMmIydGVUT2VFWmJmMitoTnozSm5FUXk2UVpKSDVXMHFkeHBKSjdOdE11eUVqMmJ2UHIzS3J2dWtGVFpuZVMvemF5OFRHcEZhMnRybjB0Lzh2bjhEYmxjN25vek8wdlNtRXdtYzBWY1pIU1hXVkZ6NXN3NVN0SWt4VXR4MnR2YjEvZDk2LzEzL1BISDE5VFYxVjBuNlFYeHBzY2xIUlMvdm5ydTNMblRxOVV0QVFBTWI2TWlrYkZ1M1RxcVRnT0RZUHYyN2FlV0gxamQvYjUzdmV0ZGRDeEpVUmlHSjhaZENZNk1OejFRTEJablo3UFo4Z08yek93emNSSEY4K0oycDcvTDVYS2ZYTHQyN1ZlVDNVcnkrZnp0Nm41SXV5cmVGRWk2SVFpQ1UvTDUvTjI1WE81L0pVMlhkTGU3UHlCcG5abjlJNTVtL3Y0NGdSRU1aRWFHcE52anBRZGpFZzhXaXFKb3B3ZWtUQ2J6Ni9qQnJ5NVJ2REFxRm91M1ZUbm5PeEt2b3lBSXJrMU01MCs2TVovUGZ6ZysveXNsL1U4WWhuOTE5ejlKcWpPems1SXh1ZnZua3ExU0M0WEN6YmxjN290bTloL3hwckZCRUh4WjBwZlZYUmRncDR1NSs1TmRYVjNoQUplMlZET2crMnR0YmIwemw4dmRhV2F2VlBmM3cxVzVYTzVOOGRLQ015Vzl0T2RrVWZUdGFpZEthbWxwK1YzYzZhRm5lWlNaVGM5a01wZVoyYng4UGwvSzVYSURUbVJNbmp4NWJxS094OTk2UzJMc2lTaUsvbUJtbmZHL2VaNG9Gb3R2YUd0cjYxbGEydGJXOWtBdWx3dmpBcnhmajZMbzY1bE01ai82UG11MytHRitsd2Y2T05ueW4rcisrbXpKNS9NZnJ6d21ETVBENGxvaEEySm0vemp0dE5QR0pMdWIxTlRVYkZmMzkrVnZ3akQ4WGhSRlh3cUM0QzUxZnoyL3VuSGp4aytVajYydHJjMk1IeisrUEp2aDdnMGJOcnkyOGhwTlRVMDdKU1NibTV1UGsxUXU2dG1lZU4ybllySDRnWnFhbXRQaXY5czNoR0g0cm53Ky81M0s0ektaVE0rSFRXWjI3OHFWS3p2Njk5WG8yNXc1Y3c3SVpETGZpeE1vNVFUU215UjlTdExjdU4zeXozTzUzQVZ4WVZNQXdBZ3hLaElaQUFhSG1mV3NTWGIzUHF2RFkrak1talhyd0xxNnVvOUx1cWpjclNLZTd2NHZiVzF0VDFVKzJCWUtoUXR5dWR6MmVHWkdnNWxkT20zYXRQT25UcDE2U2FGUWFDblBvcGc3ZCs3Ulp2YTIrRzNsVHkxWHpwNDkrOVdGUW1IVjhjY2ZQNm15Vld0emMvT2htVXptcCs3K05qTjc1MEFTR2ZsOHZqTU13MTlXck5IZnNXUEhqdDlVSExjalhzcHhTbUx6M2RWYVpwclpFWWxoSU9uRmxjZVUzMTlsMjFIeEVweWR1UHZsaFVKaGw5b1JoVUxobzdsYzdta3orKy9kZFp3d3MzRzF0YlZIU25xMHIrTjJady91ejR2RllsaFRVM05MM0QwalkyYnpLdzkyOTgrMXRMUzA5RE9NeFhIdEE3bjd6V1oybXBrMXUvdGxrdjQxZVdCbGU4dGV1dk1HeVRvVFpyYThuM0gwUzJkbjU2L3E2dXJPY2ZlUFIxRTBwNjJ0YlpkUCt3dUZ3cTFoR0w0K244L2ZQbmZ1M01NSDgvcTl5ZWZ6ajBoNjU1NjhOd3pEcWVYWDdsNU1GcERONS9QdkNNT3dKd2xuWnYvZTFOUlViZGFGSkIzWHkreVdlOHJGUWFkUG41N05aREpYeHJOTUpPbC84dmw4dnhKTnk1Y3ZYeGNuL0M2Sk4xM2EzTno4NDliVzFuS05qbktYbTRzVGIxdlpuM1AzWmZyMDZkbkpreWRmSU9tejVhVk1jYjJiaS9QNS9GL0NNSHlQdTU5a1pvZWEyUVJKTGJsY2JxV1pmUzZmei8vcXVWNGZBREQwQnR5ckhNRG9GSVpoUmxLNWFLRUhRZEN2amdJWVhMbGM3c3phMnRvMThWcnc4dS93V3lTZDBsdkhCVWxlS0JUK3pkMC9LS21jaURqS3pKYmxjcmxWa3V6MDAwOGZGd1JCWGxLRHU5OVpMQlpQaVl2aEhaVE5abGZPbURGalltVVNROTJmU1A4dG44K3ZUTlEzMkYwTmprbzdKY1RjL1pmVlBvMTE5MXNyeHIxOS8rMnk3R1YzaXNYaWo5eDlzYVMveGxQeXV5UTk3dTdYdS9zWmhVTGhYM3ViU1JGM0FIbXh1My9KM2Y4b2FYUGNwZUx4aXBhYzlaS3VEOFB3alFPTnI4S0E3eTh1aVBweVNSOXo5enNsYlkxai9JZTc1MHVsMGltRlF1Ry8rbkVxQzhQd2Z5VzlYWEVTWSszYXRXZkd5NWxrWnUvSzVYSTlSU1hqQjhobmtuK3ExY2ZJNVhJZlNSUndWUlJGbDFjZTgxd1ZDb1ZXTXp1aHRiVjFweVRHOU9uVGV6N1F5ZWZ6dDgrYU5Xcy9NMHZPTm5obVQ2N1gxTlEwNENLZS9UVjkrdlI2ZCsrcGsyTm1qL1Yxdkx1M1JsRTBwL3pIM2VjbWRqK2MzRmYrVXlxVlBsZytZT0xFaVVlN2U3a1E2MSsyYnQzNmhlVDVaODJhZFlpWmxaZXhxRlFxN1RRTGR1UEdqWitYVkM3S0c4U0ZnNlh1R1JQSFNMcTFYTzhqL3I3Y1pjWkdmNFZoZUZBWWhoOXBhbXA2ME15K25maCtpOHlzWnpaSVBwL2ZFRVhSeWU3K1lQbTljYUwrbDJFWVBoaUc0Zi9HZFZVQUFNTVVNeklBOU11Wlo1NTV0S1FERkUrVGIyeHNaRTF4Q2padTNIaExVMVBUQS9HRGFlVHVuemV6VCtieitkM09oQ2dVQ2w5cGJtNytkU2FUK1c3ODhGMk1vdWcvWnMrZVBhMm1wdWFHdUhORHlkMy9yYTJ0N1lHNWMrY3VOTFB2bWRtUkRRME5yWkxlS01senVkejc0bG9WblpLSzhTeUdjdkhKQVMwSnlPZnpQY3N4ZGhQN3B5Vjl1aC9uTzJoM3gxUnFhMnY3Y3k4RkQvc2xuOCt2bGZTUitFK1BNQXd6N3Q0UzF3aFFuQ1JhRVliaEdmbDgvdWRWenZPTnVNTkVYOWNhOFAzRjc5c2FkeVFaY0p2UHNqaEo4U0YxL3c3WWJtYnZYYjE2ZGRlMGFkTkNkNy9MekE2VzlEWXo2M2Q5ZzF3dTl5WXorMXhpMDQxRFZhK2cyczlJVTFQVDc4SXdmSm03ZDhTemljWW1XeWJIeTZqNkpaZkxsYisya2FUWEozWnQyZE9ZYzduY2w4M3NYWkk2RXpFMlZSUTczVjBubkdQamprWlNSVXRvZDk4L3VTOXhqSEs1M1BzN096dlBhV3RydXljTXc1ZEorcDZrOTY5Y3ViSWpETU9mU25xZXUyK0x1ODJVazZxZDY5ZXYzMm5KNGFwVnE5ckRNUHhRWEh2a2cvbDgvdS9xbmdHMklBaUNyMG9hbnpqOGkvSFAwNERGZFRidVNoWkJqYTJWZEdFK24vOVpjbU5yYSt2Nk9YUG1uSnpOWnI4Vkx6TXBlMUhjcHJmUDJqb0FnSFNSeUFEUUwyYjJtdkswY0RQNzdieDU4d1pTQ3dHRFpOV3FWZTF6NTg1OVp4QUVTeVZkVkNnVUJ0U05vN1cxOWZkeHQ0UVBTYkxXMXRiZjVuSzVUMGw2U1h6SXgxcGFXbjZuN25vSTM4L2xjalBON0sxbWRtMTVWb0s3YndtQzRNeHE1eCtLVDlOSHFudytYenI5OU5QZk9uYnMySldTM3FEdW41MUdTVGZtY3JuVEM0WENjMjdGdWplWjJmZmp3cEFaTTN0bmVYbEJQcDkvUEpmTHZWWFMxenM3Tzgrb3JhMTlmZnlzdkMyS29wMldOQVJCOEtWa0I0K05HemYrdXFtcDZaZVNUb25yRjN5NHlxV0hqTHYveXN5T2kvOWVLcFYybDFoS01yUGo0MWJFbGRlNC9UbkU5d3N6KzJCOC9tcUhiQ3NXaS8rem03Z09sMVIxdVV5OHJPS3NhdnZpNjlkSmVpWk9McndtTVRQcGo1Sk9yWXpKM1pkVm03bVZ6K2Zia2kySzU4eVpjNENaL1dkRkVxUEZ6RDVaK2Q3K2FtdHIrMnNZaHUrUnRDU09aYnVreTdaczJYSkpzcjVOeFh1ZWxKU0xDLzUrS203eEtrbmZhV2xwcWRwYUZnQXdQSkRJQU5Bdjd2NmF4UERYZlJ5S0lkYlMwbkx2bm5TR0tNdm44NTNKVCtiWHJsMzc2V25UcHMxdzk1c0toY0tseVdOMzdOangzc2JHeGg4a1d4UUdRZkRiK0dYazd1MlN0cHJaMzZJbyttWkxTOHNldDViZEY4WExaSjdyY3BKaElaL1AveW1YeTMzZXpPNk5IMHg3RkFxRlg0WmhlUHdOTjl4UUtuZjFjUGYybHBhV25RcUk1bks1ejVoWlR5SmoxYXBWN2JObXpacFpXMXY3TTNmL1RxRlF1SC92M1pIazdyODJzNHZqNytVdVNUdk03R2wzLzdPa3J3d2syZVR1ZDhmZGQ4bzJ1L3ROOFFQN0hnbUNZSmZmdGZIeWkwY2svY3JNUHQzVzFyYTdXVkJmbG5USmJvNnBhc1dLRmNrV3B6M0xxOXo5TmtrZk5MT2lwTzJTTnJyN1Q4M3NJOVhQdExPMnRyWW53ekI4bGJ1M3hEOGZYemF6ai9ablpsbGY4dm44MWJsYzd2bVM2czNzSy9sOGZrTi8zbGN1Mmpwbnpwd2pNcGxNcnFPajR5djllQnNBSUVYUHVmY1hnSDNmMHFWTDkzZjNsV1oyZ3FRZGttWXNXTENnV3NjSWpGQmhHSTdQNS9NRHFXOWhnOUNCQS91bVlQcjA2YlVORFEzZTMrNFRNMmZPYkZ5eFlzV1F0RVhmVzJiT25ObFlYMTlmdjNuejVvN3g0OGUzUDllSDh0SGcrT09QcjVreVpjcXhyYTJ0ZDZVZEN3QmdaQ0dSQVdDM3JycnFxcE15bWN6M0pVMlZkSitaTmMrZlAvK3ZhY2NGQUFBQVlQU2hhd21BM1RLekk5ejlnSGo0MEk0ZE8vbzFYUmNBQUFBQUJodUpEQUI5Q3NNd1kyWXZqWXZoUlZFVTNmdllZNC85TSsyNEFBQUFBSXhPSkRJQTlPbU1NODZvTWJQajRxVm9SVE83WjlHaVJWSGFjUUVBQUFBWW5VaGtBTmlkZWtrdmkxOTN1dnNmVW80SEFBQUF3Q2hHSWdOQW44enNSRW43cTd2bDNxUHIxNjkvSU8yWUFBQUFBSXhlSkRJQTlDa0lnbm5sMTJiMkk1YVZBQUFBQUVnVGlRd0F2VnEyYkZuRzNXZkhRNCtpcURYbGtBQUFBQUNNY2lReUFQU3F2YjM5bFlsbEpZK3RYNy8ranJSakFnQUFBREM2a2NnQTBDdDNmMU5pK0hPV2xRQUFBQUJJRzRrTUFGVXRXclFva0hSS1BIUjN2eTNkaUFBQUFBQ0FSQWFBWGt5ZE92VkY3bjZvdXJNWS93eUM0SjYwWXdJQUFBQUFFaGtBZW5PRW1SMmc3bTRsRDNSMWRUMlJka0FBQUFBQVFDSURRRlh1ZnFTN1Q0cVhsZHhmS3BVMnBCMFRBQUFBQUdUVERnREE4TE40OGVJYU0zdEZuT3dzU2JwMzRjSThzUUxlQUFBZ0FFbEVRVlNGMjlPT0N3QUFBQUNZa1FGZ0Z3ME5EYldTam8rSG5VRVEvRDdsa0FBQUFBQkFJcEVCb0pxT2pvNERKQjJoN25VbE83WnUzZnJIdEdNQ0FBQUFBSkhJQUZCTmJXMXRUcExGd3pzdXV1aWlUU21IQkFBQUFBQVNpUXdBMWJqNzJZblhQMHczR2dBQUFBQjRGb2tNQUR1NThzb3JENGtMZlVwU1oyZG5aMXZLSVFFQUFBQkFEeElaQUhhU3lXVE9TZ3gvdlhEaHdzMHBoZ01BQUFBQU95R1JBYUNIdTV1azB4UGpGZWxHQkFBQUFBQTdJNUVCb01lMTExNzdRa25UMUozRWVNYmRiMDg3SmdBQUFBQklJcEVCb0VleFdEeEcwc0h4OE43YTJ0ckhVZzRKQUFBQUFIWkNJZ09BSkduUm9rV0JwSmViMlFSSmJtWi9xcW1wSVpFQkFBQUFZRmdoa1FGQWtqUnAwcVNhSUFoT2lIOHZGQ1d0bmpkdlhtZmFjUUVBQUFCQUVva01BSktrYkRiYktPbVY4YkF6aXFMZnBSd1NBQUFBQU95Q1JBWUFTVko5ZmYzckpUWEZ3OGZXcjEvLzU1UkRBZ0FBQUlCZGtNZ0FJRW5LWkRMdmtHVHhjTm1pUll1S0tZY0VBQUFBQUxzZ2tRRkFpeGN2SGkvcERIVzNYWTNNN1B0cHh3UUFBQUFBMVpESUFLRGEydG8zU0JvalNXYjJsM1BPT2VmZXRHTUNBQUFBZ0dwSVpBQlFFQVJ2S2I5Mjk1dk16Tk9OQ0FBQUFBQ3FJNUVCakhLTEZ5K2U3TzdIcVR1SjBTSHB0clJqQWdBQUFJRGVaTk1PQUVDNmFtdHJqNUYwaUxxWGxUd1VCTUZEYWNjRUFBQUFBTDFoUmdZd3lwblowV1oyZ0NTWGRPLzI3ZHNmVHpzbUFBQUFBT2dOaVF4Z0ZGdThlSEdOcEZkS3FwRVVSVkYwejhLRkN6ZW5IUmNBQUFBQTlJWkVCakNLTlRRMDFKclpTZkd3MDh4K2wzSklBQUFBQU5BbkVobkFLR1ptTDVKMGxMb0xmVzROZ3VDM2FjY0VBQUFBQUgwaGtRR01BdTVlNys1TjduNnd1eC9xN2xQY2ZjcCsrKzMza1lhR0J0WFYxU21iemY1NC92ejUyOUtPRlFBQUFBRDZZbWtIQUdCb3VIdU5wRmRJZXBXa0UrTFgrMHRxbERSV2tqbzdPNE5TcWFUT3prNWxzOW1WWThhTXVWblM3eVRkYVdaZGFkOERBQUFBQUFBWUJkejl4ZTUrbmJzLzR1N3Qzbi90N3Y2b3UxL3I3c2VtZlI4QUFBQUFBR0FmRmk4Zitjb0FFaGU3YzVtN1QwNzd2Z0FBQUFBQXdEN0czZC9nN3I5dzk2NUJUR1FVM2YzbjduNWEydmNIQUFBQUFLSkdCckJ2Y1BjM1Mxb2k2ZUJxK3p1TE8vVDBqaWUxdVgyRE9rczcxRlhza010Vm02MVhiYVpCNCtvbmEyTERRYXJOMXZkMmljY2xYV2htTnc3cGpRQUFBQURBYnBESUFFWXdkemRKSjBuNm9hVERrdnNpajlSVmJOZmZOdCt2eDdZOHBNaExmWjRyc0l3TzNHK3FEcHR3bEdxeURRcHNsNlpHR3lYTmxQUTdNL01odUIwQUFBQUEyQzBTR2NBSTV1NkhTRm9oNmJqazltS3BVLy9ZOHFBZTIvS3dPb3JiQjNUTzJreTlEaGwvaEE0ZU4wMDFtVjFtYU53cGFaNlpyUjJFOEFFQUFBQmd3SGI1eUJYQWlQSkJTUzlQYmlpV09uWHZFNy9TSTV2K011QWtoaVIxbHRyMXlLWjc5WmZIZjYxaXFiTnk5M0dTM3Y4Y1l3WUFBQUNBUGNhTURHQ0VjdmVYeHpNa012Rll4VktIL3ZyRTdYcTYvWWxCdWNhNCtzazYrcURYS1J2VXlxem4xMFZKMHF2TTdNNUJ1UWdBQUFBQURBQXpNb0FSeU4zSFNQcGlPWW1odUNiR3VrMS8xdWIySndmdE9sdmFuOUw2VFg5V3lZdkp6UmxKWDR0akFBQUFBSUM5aWtRR01ESWRJK2tseVEzdFhWdjE1TmIxY2cxbUhVN1hFOCtzMC9iT3paVTdqb2hqQUFBQUFJQzlpa1FHTURLZElHbi84c0RkOWNqVDk2b1VkUTM2aFVwUmwvNzI5SDF5M3lsQnNwK2tWdzc2eFFBQUFBQmdOMGhrQUNPTXU5ZkhMVmQ3V29wMGx0cTFjZXZmaHV5YVQyMzdoenBMN2NsTnRaSk9jUGV4UTNaUkFBQUFBS2lDUkFZdzhveVJkRlJ5dzlQYkg1Y3JHcklMdWlKdDJ2NVk1ZWFYU0pvd1pCY0ZBQUFBZ0NwSVpBQWpUMWJTeE9TR1p6ci9PZVFYM2RMK1ZPV21DZkhNREFBQUFBRFlhMGhrQUNOUFJ0SzQ1SWFPNG80aHYyaEhhWHZscG5HU2FvYjh3Z0FBQUFDUVFDSURHSG15a3NZbk4zUVdkMGt5RExxT0xoSVpBQUFBQU5KSElnTVltU29LWXRoZXVPUXViVjJEdlhSaEFBQUFBT2hCSWdNWWVZcVNuazV1cU0zVzkzNzBJS25OTmxSdTJpU3BjOGd2REFBQUFBQUpKREtBa2Fjb2FYTnlRMDFtTHlReU1yc2tNamFUeUFBQUFBQ3d0NUhJQUVhZVhXWms3RmMzYWNndk9xNSsvOHBObXlSMURQbUZBUUFBQUNDQlJBWXc4bXlYOU5ma2hrbU5oOGlHOE1mWkZHanltT2RYYnI2dmNtWUlBQUFBQUF3MUVobkFDR05tN1pMdVRzNkdxTTNVcTJuc0xvbUdRVE41N0tHVmRUaTZKTjF0WnR1RzdLSUFBQUFBVUFXSkRHQmt1anRlMmlGMUp6ZDAyTVJqbEFrR3Z4dHFOcWpWb2VPUHF0eThWZElmQnYxaUFBQUFBTEFiSkRLQWtlbHVTUThrTjlUWE5PcmcvYVlONmhJVGsrbWdjZFBVV0x0ZjVhNTFrdTRadEFzQkFBQUFRRCtSeUFCR0lETjdXdEtuZHRxbVFJZE9PRXJqRzVvRzdUcjcxVTNXb2VPUFZHQ1p5bDBmTXpQcVl3QUFBQURZNjBoa0FDT1VtZDBxNldwSkhvOVZtNjNYVVFlK1ZtUHJKajJubVJtbVFHUHJKdW1ZZzErbjJteTl6S3k4eXlWZGEyWTNEZEp0QUFBQUFNQ0FXRCtPQVRCTXVmdGhrbTZROUxMazltS3BVMy9mOHFBZTMvS3dPb3JiQjNUTzJreTlEaGwvdUE0ZTkwTFZaT29yZDk4dGFaNlpQVGdJNFFNQUFBREFnSkhJQUVZd2R6ZEpiNUQwWFVtSEpQZEZVVW50eGEzNis5TVA2SW10YXhWNTFPZTVBZ3Qwd05nWDZIa1RYcXlHN0ZnRndTN0xTZjRwS1pTMHlzejZQaGtBQUFBQURCRVNHY0Erd04zUGtyUkUwc1JxK3p1SzI3VnArK042ZXNlVDZpeHRWM3R4dXdJRnFzM1dxemJUb0FrTkIycGk0OEdxeXpiMGRvbW5KVjFvWmkxRGVpTUFBQUFBQUdCMGNQYzN1UHN2M0wzb2c2Y1luL05mMHI0L0FBQUFBQUN3RDNGM2MvZm5iOTY4K2FaQlRHVDh3TjBQalpld0FBQUFBRURxc21rSEFHQndtSmt2Vzdic0g5dTNiMTk5MEVFSC9jdXh4eDVyVFUxTkhUVTFOWUdrbW42ZXBrdlNNNUorTCtuU3VETUtBQUFBQUF3YkpES0FmVWg3ZTN1OW1jMSs0b2tuYk1PR0RlMHZmdkdMUDN2Q0NTZHNrWFNDcEpkTG1peXBVZExZK0MxYkpXMlBDM25lSldtMXBEc2szV2xtblNuZkRnQUFBQURzZ2tRR3NBOHBGb3NuWnpLWm95U3BWQ285Yzk5OTkvM2ZpU2VldU0zZDk1TTBTVkpkL0hOZm5xSFJKYWtrcVVQU1U1SzJtcG1uZXhjQUFBQUEwRHNTR2NDK3c4enNZNG54ZCtiUG43OHQzdkZNdkdRRUFBQUFBRWEwSU8wQUFBeU9LNis4OHFWQkVMdzJIblprTXBsdnBod1NBQUFBQUF3NkVobkFQaUtiemI2alBNdkszWDk4empublBKWjJUQUFBQUFBdzJFaGtBUHVBYTY2NTVnQjNmMU04N0RTejc2VWNFZ0FBQUFBTUNSSVp3RDZnV0N5K3dzeW14c09IZ3lDNE8rV1FBQUFBQUdCSWtNZ0FScmhseTVabE1wbk1heVZON0Y1VjRuZHQzNzU5ZmRweEFRQUFBTUJRSUpFQmpId05rbWFwTzR2Uktlbm1oUXNYZHFVZEZBQUFBQUFNQlJJWndBaTNiZHUya3lVZG8rNDJxNXRyYW1wV3BCMFRBQUFBQUF3VkVobkF5UGNCU1JsMXo4ajQ3anZlOFk1TmFRY0VBQUFBQUVPRlJBWXdnaTFkdXZRSU16czFIbTZYZEZuS0lRRUFBQURBa0NLUkFZeHM1NXRaUnBLaUtQcnB1ZWVlKzNEYUFRRUFBQURBVUNLUkFZeFEzL3JXdHlhYTJSdlZ2YVFra25SMTJqRUJBQUFBd0ZETHBoMEFnRDB6ZHV6WVY3ajdWSFVYK1h6SXpQNlNka3dBQUFBQU1OU1lrUUdNUUlzV0xjcTYrNzlJbWlUSkpkMjVlZlBtOVduSEJRQUFBQUJEalVRR01BSk5talNwMGQyYjQ1L2hEak5iY2ZIRkYzZWtIUmNBQUFBQUREV1dsZ0FqMExoeDQ5NWlaa2VvdXo3R1A2SW8ra25hTVFFQUFBREEzc0NNREdDRVdiWnNXVWJTWjhwak0vdm1lZWVkOTNTNlVRRUFBQURBM3NHTURHQ0UyYkZqeDJsbWRyaTZaMk5zN3VqbytIcmFNUUVBQUFEQTNzS01ER0FFdWUyMjI3S1N6a2xzdW1yaHdvVmRLWVlFQUFBQUFIc1ZpUXhnQkhuNDRZZVBsSFJpUE53a3FTWGxrQUFBQUFCZ3J5S1JBWXdnMld6MkJFbFRKTG1aM1JORjBRTnB4d1FBQUFBQWV4T0pER0NFV0xKa1NiMlpOY2UxYlVwUkZQM2kvUFBQMzVCMlhBQUFBQUN3TjVISUFFYUlUQ2J6SWtsdmlvYzd6T3k2bEVNQ0FBQUFnTDJPUkFZd1FwUktwZitRMUJBUGIxbXdZQUhMU2dBQUFBQ01PaVF5Z0JGZ3laSWxMekN6dDhiRG9xVFBweHdTQUFBQUFLU0NSQVl3QXBqWmhXWldLMG51L3ZNRkN4YmNrWFpNQUFBQUFKQUdFaG5BTUhmRkZWZE1Nck0zeDhQSXpDNVBPU1FBQUFBQVNBMkpER0NZeTJReUowcDZZVHg4c0tPajR3OHBod1FBQUFBQXFTR1JBUXhqaXhZdHltWXltVk1sVFpEa2t1NW9iMjlmbjNaY0FBQUFBSkFXRWhuQU1IYjQ0WWZ2NSs1dmwyVHUzaUdwN2VLTEwrNUlPeTRBQUFBQVNBdUpER0FZS3hhTEYwbzZPQjQrMU43ZWZsUEtJUUVBQUFCQXFraGtBTVBVNHNXTHgwdjZVSG5zN2w5Y3VIRGg5blNqQWdBQUFJQjBrY2dBaHFuNit2cTNTVG9vSGo1NDNubm5mVGZsa0FBQUFBQWdkU1F5Z0dIb3V1dXVteWhwVGp3c3VmczNVZzRKQUFBQUFJWUZFaG5BTU5UWjJmbEtTYTlROTVLUzlkbHM5cGEwWXdJQUFBQ0E0WUJFQmpETUxGNjh1Q1lJZ2xtU0RvaGJydjVxMjdadEQ2WWRGd0FBQUFBTUJ5UXlnR0dtdnI3K2dNU3lrblpKTFFzWEx1eEtPU3dBQUFBQUdCWklaQUREakx0ZklPbDU4ZXNIT3pvNldGWUNBQUFBQURGTE93QUF6MXF5Wk1rRU0zdmN6T3E2OHhnKys5eHp6NzBoN2JnQUFBQUFZTGhnUmdZd2pBUkJzQ0JPWXNqZDcxMndZTUdLdEdNQ0FBQUFnT0dFUkFZd1RGeHp6VFVIU0pxcDdpUkc1TzVYbXBtbkhSY0FBQUFBRENja01vQmhvbFFxblNUcE9Fa3lzd2VDSVBoWjJqRUJBQUFBd0hDVFRUc0FBRDB0VjJkSW1pZ3BjdmRmYk5teTVmNjA0d0lBQUFDQTRZWVpHY0F3RUFUQmdaTG14c09PS0lwYUw3NzQ0bzZVd3dJQUFBQ0FZWWRFQmpBTVpMUFpmNWMwV2QzMU1lNDcvL3p6YjBvN0pnQUFBQUFZamtoa0FDbTc0b29ycHBqWnUrSmhLUWlDajZVY0VnQUFBQUFNV3lReWdKUmxzOWtMemF3eEh0NVpYMTkvUzhvaEFRQUFBTUN3UlNJRFNORlZWMTAxemN6ZW9yamxxcVRMNXMyYlYwbzdMZ0FBQUFBWXJraGtBQ2x4ZHd1QzRGUkpSMHR5U2F2ZC9WZHB4d1VBQUFBQXd4bnRWNEdVNVBQNWVqTjd1NlFHU1VVeiswbERROE82dE9NQ0FBQUFnT0dNR1JsQVN0cmIyMCtVZEVvODNCRUV3VFVzS3dFQUFBQ0F2cEhJQUZMdzVTOS91U0dLb3E4a05sMTl6am5uUEpSaVNBQUFBQUF3SXBESUFGSXdjZUxFMDgzc1plcXVsZkZQTS90TTJqRUJBQUFBd0VoQUlnUFl5NVl0VzlaZ1p1ZExNblVuTXI0N2YvNzhKOU9PQ3dBQUFBQkdBaElad0Y2MmJkdTJreVVkSHcvL2JtYjVsRU1DQUFBQWdCR0RSQWF3RnkxZXZMakd6TTR5c3dPNkoyUDRMeHNiRys5Sk95NEFBQUFBR0Nsb3Z3cnNSZlgxOWVNa25STW5FZHZkL1lmejVzM2JtblpjQUFBQUFEQlNNQ01EMkl2Yy9mT1N4c1d2VjY5ZnYvN0hhY2NFQUFBQUFDT0pwUjBBTUZwY2M4MDFSMFZSZEtlWk5jYkxTbDUzN3Jubi9qcnR1QUFBQUFCZ0pHRkdCckNYUkZIMDdqaUpJVW0vSUlrQkFBQUFBQU5ISWdQWUM2NjQ0b3BqSkwwcEhtNXo5OFVwaHdRQUFBQUFJeEtKREdDSUxWcTBLTWhtczI4eHM4UGpUWGNYaThYZnBCc1ZBQUFBQUl4TUpES0FJZGJVMU5RbzZkMlNhaVVWM2YwbkYxNTQ0ZnEwNHdJQUFBQ0FrWWhFQmpERTl0dHZ2L2ViMlF2VlhlSHprVktwZEZYYU1RRUFBQURBU0VVaUF4aENTNWN1UGN6ZFA1elk5SVVMTHJqZ0h5bUdCQUFBQUFBakdva01ZQWhGVVhTUnBJbng4UDV6enozM095bUhCQUFBQUFBaldqYnRBSUI5MVZWWFhmV1NJQWhtcUh0SlNidWtMNmNkRXdBQUFBQ01kTXpJQUlaSUVBUm5TRHBDa3N6c25paUtia2s3SmdBQUFBQVk2VWhrQUVNbjJhbmtSK2VmZi82YXRBTUNBQUFBZ0pHT1JBWXdCSllzV1hKUnVWT0pwSDlFVWJRMDVaQUFBQUFBWUo5QUlnTVlaSXNYTHo3TXpENWRIcnY3Wjg4Ly8veEgwNDBLQUFBQUFQWU5KREtBUVZaYlczdVJtVTJLaDNRcUFRQUFBSUJCUk5jU1lCQXRYYnIwQ0VsdlZ2ZE1qQTVKWDA4N0pnQUFBQURZbHpBakF4aGNwN3Y3VWVydVZISjNGRVVyMHc0SUFBQUFBUFlsSkRLQVFlVHU3emF6dXZnMW5Vb0FBQUFBWUpDUnlBQUd5ZFZYWDMyZW1SMnA3aVRHUDgzc21yUmpBZ0FBQUlCOURUVXlnRUd3ZE9uUzUwbjZZbmxzWnA5YXNHREJJK2xHQlFBQUFBRDdIbVprQUlQakE1SW14Ni92WDdCZ3dWZFRqZ2NBQUFBQTlra2tNb0RuYU9uU3BTK1ZOQ01lN25EM1MxTU9DUUFBQUFEMldTUXlnT2ZJM2VkSk9qd2UzbUZtUDBrNUpBQUFBQURZWjVISUFKNkQyMjY3TFN2cFBlVjZNMUVVL1dEQmdnVi9UenN1QUFBQUFOaFhrY2dBOXRDaVJZdUM5ZXZYZjgzTUpzV2JIb3FpNkxwMG93SUFBQUNBZlJ1SkRHQVBUWmt5NWJWbWRrRTg3SlEwLzRJTExuZ201YkFBQUFBQVlKOUdJZ1BZQTh1V0xhc05ndUFEa21yalRXMExGaXk0UGVXd0FBQUFBR0NmUnlJRDJBUGJ0MitmTHVuVjhmREpVcW4wblpSREFnQUFBSUJSZ1VRR3NHZk9rM1NRSkpuWlQ3TFo3Ty9TRGdnQUFBQUFSZ05MT3dCZ3BGbXlaTWtMek94aE15c25BbC9Ec2hJQUFBQUEyRHVZa1FFTXdMSmx5eHJNN05weUVzUGRmMEFTQXdBQUFBRDJIaElad0FCczI3YnRyV2IyMm5qNHR5QUkzcDl5U0FBQUFBQXdxcERJQVBycHNzc3VPeUFJZ3ZQS1kzZi84dno1ODU5TU55b0FBQUFBR0YxSVpBRDkxTkRRTUVQU2NmSHdibmRmbVhKSUFBQUFBRERxa01nQStzZk03RjhsalpXa0tJcGExNjlmLzFEYVFRRUFBQURBYUVQWEVxQWZsaTVkZXBHa2I2cDdTVWw3WTJQalFmUG16ZHVjZGx3QUFBQUFNTm93SXdQWWplOSs5N3N2a3ZRRmRTY3h1c3pzWFNReEFBQUFBQ0FkSkRLQVBpeFpzcVMrVkNwOXVMeWtSTkxORFEwTjMwODVMQUFBQUFBWXRVaGtBSDNJWkRLdk1iT3oxRDBiNDUvdS9xVjU4K2FWMG80TEFBQUFBRVlyRWhsQUg2SW9Pay9Td2ZHd0xaUEovRDdsa0FBQUFBQmdWQ09SQWZSaXlaSWwweVUxSzY2TkVVWFJ0K2JQbjc4dDdiZ0FBQUFBWURUTHBoMEFNQnd0V2JLa1BnaUNWa21OOGFZdm5YLysrWGVsSEJZQUFBQUFqSHJNeUFBcUxGcTBLQWlDNEVPU0pzYWIvdHpZMkxnbzNhZ0FBQUFBQUNLUkFleHF5cFFwTDVSMHRycVhsR3czcy8rZE4yOWVaOXB4QVFBQUFBQklaQUM3TUxPY3BHUGk0YyszYk5teUl1V1FBQUFBQUFBeFN6c0FZRGk1NG9vcnB0VFUxTndwYWJLN1IrNCs5N3p6emx1ZWRsd0FBQUFBZ0c3TXlBQml5NVl0eTJTejJXOUxtaHh2K3ZHWU1XTituSEpZQUFBQUFJQUVFaGxBYk1lT0hXZWIyVnZVWFJ0amMyTmo0OW5VeGdBQUFBQ0E0WVZFQmlEcG1tdXVPVURTd25qWUplblNlZlBtYlUwNUxBQUFBQUJBQlJJWmdLUW9pdDdpN3NlcGV6YkdBNWxNNW9kcHh3UUFBQUFBMkJXSkRJeDZ0OTEyVzFiUzU4eXNNZDUwM1Rubm5QTlF5bUVCQUFBQUFLb2drWUZSYmRHaVJiWHIxNisvM015ZXArN1pHSC9zNk9qNFZ0cHhBUUFBQUFDcUk1R0JVVzNLbENsbm10azdGUmY0bEhUK3dvVUxONmNkRndBQUFBQ2d1bXphQVFCcHVlYWFhdzV3OXc4bmZnNHVQZmZjYzFlbkhCWUFBQUFBb0EvTXlNQ29WU3FWbXQzOStIaDRiNmxVS3FRY0VnQUFBQUJnTjBoa1lGVDYzdmUrTnprSWdnK2JXWjI2bDVWYy9laWpqejZZZGx3QUFBQUFnTDZSeU1DbzFOblplYldrRjZvN2lmSGd1blhydnJabzBhSW83YmdBQUFBQUFIMnp0QU1BOXJhcnI3NzZiRFA3WGp6Y1dDd1dUNzdnZ2d2dVR6a3NBQUFBQUVBL1VPd1RvOHJTcFV1ZkorbmY0bUZKMGpkSVlnQUFBQURBeU1IU0VvdzJwMHM2TVg3OTF5QUlya3M1SGdBQUFBREFBSkRJd0toeDdiWFhIaXJwa25nbWtydjc1ZWVjYzg1RGFjY0ZBQUFBQU9nL0Voa1lGUll2WGx4VEtwVVdTem8wM3JTcVZDb3RTVGtzQUFBQUFNQUFVU01EbzBKZFhkM1prdDZpN3FrWXo5VFcxcDY5WU1HQ1o5S09Dd0FBQUFBd01Nekl3RDV2OGVMRmgwbTZPUDUrN3pTeno3Mzk3VzkvSXUyNEFBQUFBQUFEUnlJRCs3eTZ1cnI1Wm5ac1BMdzNpcUlmcEJ3U0FBQUFBR0FQV2RvQkFFUHA4c3N2UDdTMnR2YXZrc2JHbTk2MVlNR0NLMUlPQ3dBQUFBQ3doNmlSZ1gzV1ZWZGQxUlFFd1UzbEpJYTd0NnhidCs2cXRPTUNBQUFBQU93NWxwWmduN1JvMGFKc0VBUWZOTE9YU0pLWi9XbkhqaDBYTFZxMEtFbzdOZ0FBQUFEQW5tTkdCdlpKVTZaTWVZV1puYVB1bVJnZDd2Nlo5N3puUFUrbUhSY0FBQUFBNExsaFJnYjJPWXNYTDY0eHM0OUtPalRlOUtQR3hzYWJVZzRMQUFBQUFEQUlTR1JnbjFOZlg3OVEwcXg0dURXS29zL05temR2YzhwaEFRQUFBUGovN2QxNW1CeGx1ZmZ4MzEzZFBaMlpMSk1Gd3I3a1FKTEQ4bnBrVXhFRVVZR1g3UVhCakVpUzJVZ3lDQklGUEFnSW9SUEVCUkEwWUhRMFNXY21DZXJFZytJU2hZTks5QlZsVVJBVVNBSWtnT3duSVVPVzJicnJQbjlNVDlLVEJTWkp6OVFzMzg5MXpYV2xucXF1dW10by9zZ3Y5L004UUFHd2F3bjZsYnE2dW5HU25wSlVKRW5aYkhacWRYVTF1NVFBQUFBQVFEL0JHaG1JbkxzUGtqUTA5MzJNNVg0a0tTc3BsTlFtYWIyWk5iL2JmZWJNbVROQzBxeGNpQkc2KzA4Sk1RQUFBQUNnZnlISVFDVGNQU0hwS0VrZmtuUmM3cytqSkpWMGJKY3FhWU9rVFpMZWx2U1l1LzlOMHNPU0hqT3p0cTN2V1Z4Y2ZJYTcvMTh6azZTWHd6Qzh0Y2RmREFBQUFBRFFyUWd5ME9QY2ZieWtHWkkrSW1tMHBPUU9MaDJXKzlsYjBtR1N5aVM5SldtWnUzL0R6SjdxdURDVlNzWE43R1l6SzFYN2RxdjN2UFRTUzQvMjFEc0JBQUFBQUhvR2EyU2d4N2o3bnBLK0xPbnpCYnJsOXlUZGNNY2RkMndjT1hMa1FqTzdJRGYrOXpBTVAxcFZWYld1UU04QkFBQUFBUFFTc1M1Y0ErdzJkejlGMG5jbG5WL0EzWEtPa25SOGNYSHgyRGZmZkxOYWtybjdHak03cjdLeThzVUNQUU1BQUFBQTBJc3d0UVRkenQxUGw1U1d0TS8yempkdXlPanBWWnUwL01WbXJWdWYwVHNiczNKSnBZTmpHajQwcm5FSER0SVIvMWFpMGlIYmZGMWprazQ2N0xERGpsK3paazN3eWl1dnVLVFpGUlVWVC9iSWkzV3pTVE9XcjdiY2VpRmhFRnkwT0RYMi9xaHJBZ0FBQUlDb0VXU2cyN2k3U2ZxZ3BPOXZIV0prc3E3R0RSbmQ5NWQxK3UyampXckwrQTd2ODd2SEdwV0ltMDQrZXBqTyt2QUlEUjhhVnl5MlpWWlVNcGxNbkhqaWlWcTJiTm5UTDc3NDRvKzY5NjE2amtsN3lHeHcrNUVYZGNjekxycisrYkVXQ3kvb3dxVmFQUFBRYjB4S3JaamFzYlZ0VjdpQzF4ZW54djVrdDRvRUFBQUFnRHdFR2VoTyswajZqcVFEOHdjM05tWDF3S09OK3YxampWcjdUcVpMTjJyTHVCNTRwRkdQUHIxQnAzNWd1RTQ1cGxSREIyK1pHWlZNSm5YeXlTY1hKWlBKdG1uVHBoWCtUWHFSeXRTcTRWbHZlM3VYUHV6NjU4Slo0NDdzT0F6aW1TUE03V3RkK2VoSFU3ck5RdDIrSlZ4NWIrYitzQ1NDREFBQUFBQUZVNmkxQ29EdHVVTFMrL01ITmpabGRXZkRhL3I1SDlaMk9jVEkxN2docTN2L3NGWjNMbmxObTVxem5jNGxrOGxEQ3JpUUtBQUFBQUNnRjZJakE5M0MzZCtmQ3pLQzNMSFdiOHBxems5ZTE5T3JtbmJyM20wWjE3T3JtL1ROdTEvVkZSZnVxOEhGZ2N4TXVXZDl6dDBYbWRsakJYcVZBY1BkZjd0bzF2aFBkQnhQU0wwNVpKQ3ZXNTkvVGVnNlJZRnRib1VKM0w4dDZRT1M1TkxQM1RwM2Q0U2hPbjBlQUFBQUFIWVhRUVlLenQwSFM3b2xmMWVjdG96cm5nZlhhdm1MdXhkaTVIdis1V2I5ZE5rYVRmallIaHFVM0x4bVJrelNiSGMvMWN3MkZ1eGhQV1R5akJVUHVyejkvMHV6NG81eGMzMWowb3psMTVqMHdrWnRtcEswK09XNzlBQzNOVHM2WmJLUjVha1ZtNE9Nck5ZTjJ2cWF4VGVOZnpUL2VOS01GU1BNTnQvZ2o0dFRZLyt5UzNVQkFBQUFRQmNSWktBN0hDbnA4UHlCdDlhMTZjOVBybGMyTE54RFFwZis5UGYxT3Y3L0ROV2greGZubnhxWHErSGh3ajJ0WjdoMG9wbHRzeTJ5U1lmTFRISU5YNUk2b2xYU1hRVi91T2tvZC8xM3grSDI1cDFkTk9PNVV3S0ZwMi81aUI4c3RTY1pGdnFKazJhczJHUEwvU3k3YU9iWUx4ZThUZ0FBQUFBREdrRUd1c054a2taMUhMaTc3bDIyVmswdEJVd3hjalkxaDFyNjBEcGRQbUZReC9RU1NSb3E2ZGkrR0dSRXlWMVpremQzR3R4cVljOVlFSjRnMTVmeUxzaS85bHlUenQxeVA4OUtJc2dBQUFBQVVGQUVHU2dvZHgrVTIzSjE4N1NFeGcxWlBmck1obTU3NWhQTE42aHhRMWJEaDI3K09oZEpPczdkaDVoWjl6MjRPNWgrNWE2WW1aZEtkbUxIc0xzL0t0bWJrdDZjbkZweHllNDh3bVZyRjZYR05tem56SU1MMzJPTkRBQUFBQUNJR2tFR0NtMndwTVB5Qi83eC9DWmxzenYrd083S1pLVW5uOXVvazQ0cXpSOCtYTkp3U1gwcXlGZzBjOXk1a2pScHhzclBtdm1XSUNPd1dZdFQ0MzVabVZxMWQ5YmJYdHVkWjVqN1B5VnRFMlNZNlpESk0xWjhaZk9BcjB1ODIzMWNQc2N0NkxTNHA3ZkZZckY0WnZYdTFBY0FBQUFBNzRZZ0E0VVdselFpZjJEVmE4MDd2cnBBbnZ0WDg5WkJ4dkJjWjBZZkZWN1FhZHBHajdDRFpUc3hGY1J0L1RzMmVHMXB1T0VGdFU4eWVlTGx4Sml6RC9DVjNWa2tBQUFBZ0FHT0lBT0ZGcE0wTEgvZzdYY3kzZjdRdGRzK1k1aWtkKzBvNkswdVRLMDZXR0hieHpxUDJ2RHVlSmJMTXViZXBkMWQ5bnhhcmlNNmp3MVNQRERUWG1xZi9yTEhEajRLQUFBQUFBVkRrSUZDaTB2cTFCcEJrTEZ6NG1IYnBXYWQyekVzOUFXVGIxeHhRbGJaRzErMnNkdDlyLzE5eGRVbXU3bmpPQnNHeDc0YU8rVHZXMSszNTlOeVNab3d3V01Kclg1QWdib1VRSXdZb1dEcnpYT0wxSmkvdVVuaFYzTUZBQUFBZ0sxc2I0ZEZZSGQxK2d1dEJkMC9SY0pEMzNvb1VNL1B6ZGh0bGFsVncwMit6V0tlWm9wSnVzUTlYSG1BbmorcGVNMXpzZjNDRlNmdnFhZURCMU9XZVRCbEdWZlFPVWlJaGRtT2MvdnB1UkpKZWpCbG1TVkxMQ3RKeVNOV1hwSDF0cWF1L216YWUrVVB0cTRyOEdCNFhwRmQ2dXdBQUFBQWdOMUJSd1lLTFNOcG5kUSszVUNTU2dmSHV2MmhlVHVXZEhoYlVtdTNQN2pBc3Q1MnJjeUc3dWk4eVRQWjVzVGpvMGExbm01dTl3NEs0K3NuelZqeFFEeElYTlRtbmJ0UzRsbXp5YW5sWjhwdHNvZCs3djdCYzVYYlcrUnpkNFNoSHhCc2prTjlYU0h2RFFBQUFBRGJRMGNHQ2kwanFURi9ZRmcwUVVaalh3c3l5cS85MXloSjA5VytJMGlyS3krWmNDMlJ0RWxtTSsvKytrRnZ5OE1Ka2lTem9USWR0Q0ExWnZzcnFvWTJXOUtGWmlxMk1PelU2ZUd5SitVK0wvL0hwWjlzZFllN041K1hsbTE5Ky95ZFZjejF6RzcvRWdBQUFBRGdQUkJrb05BNk9qSTJPM2lmWkxjLzlORDlCMjA5OUxha2xtNS9jQUVGeWJhTjdybDFQZHgrYUw2bC9qQlFmY2I4bU9KWHgzNTM4aGRmSHl6cHZJNXpKdjE0ZS9mTHhOd2xuN2Q1d095VVNkZS9NTDdqY0hGcTdQMWhFRndwMHdLWkZsZ1F2eVZyZmtQK1BXS1d1R3JoclBGVEZzNGFQMlhSckZ5UVlxWUFBQmFZU1VSQlZISHByVXVXK1pRdGg4WWFHUUFBQUFDNkhVRUdDbTJUMVBsZjVvOGFQMFNKYnB6RUZJOUp4eDQyWk92aFo3ZnVET250RnFUR05NdTBYSkxrZnNmVzUzK1lHdi9zOTc5dmJUNms4UUtUZGJ4dzJKWUpmcmlqZThhQ29uU256bzZncmFiVEJXRjRuR1IvbE95UDd0bHJ0LzU4eGx1L1BXbkdpZ1dUWnF4WWNOSDF6NDgxeFJyYy9KTnUva21aeHBoMDZPYUxUVjgrd0ZmYzY2NnJaZjRaQlhiUnJ2NHVBQUFBQUdCSENESlFVR2JXTE9tSi9HNkkwaUV4SFhmNERwZDkyRzNISERaRXBVTTZKU1Z0a3A2d1ByajRwTGsvSmZkN0Y5MDBmcHZkUnJaY282bGJqdnpCSDkxODZNczd1blpCYXN6cmtuNjUrYk95U2RPbStlWmRUd0lGSlZ0dTVXM2JQRXRXWnFZS00xWEVZcG05NmxPSHJHajU1N2hmS0xTalRmclVkcW83MCtRM2hBcEdMa29kdXFScmJ3MEFBQUFBWFVlUWdlN3dSRzVxaDlRZWJ1aVRKNDlVeWFEQ2Y5MEdGd2M2NjRRUld3OXZrUFI0d1IvV0ExekI0d3B0bTg2SUR1V3BGOTRuMmVaMUtkeUQrZTk1VTFOZDNwLzNiTjc3dVRNN0RrT0ZJN2VjczFIYitmUW11VytVKzBZTGcrekUxTXJUa29ldGVOaE1tNmVndVB0eWQwdHQ3dnd3R3hxNGYyZnlqSlcvbm5UZDZuMjY4Tm9BQUFBQTBHVUVHZWdPVDBoYWtUOHdzalN1azQ4ZXBuZ0IxLzBNQXVtalI1ZHFuMUZGVzU5YUxXbUhIUTI5V1V0UStwMkZYeG0zdzBVend6QnpaY2VmWGY0L2E5N2VabkhPYmUrcHpGTDNMY0ZTS0svbytMUEpEc203OVB4NGFOL0wvMnpNRW9jc25EVitpRHc0S3pTdkM5enZNN05qOGk1NVNVSHM3RVd6eHM1MEN6NGk5MVhhY3ZQVExkN3kxT1Fibnord0M2OE9BQUFBQUYxQ2tJR0NNN04xa21ibGo4Vmpwak0vUEVML2ZsQnh3WjV6NkFHRGRNYUhoNnNvWVZ1ZnV0Yk0rdFQ2R0IyV3BFWnYyTkc1OG12L05jcWtDemNQdU0zNzlaMWpOMC9oQ2VUYnRLYTAzL09JVnBuL1Y4ZXh5Yytla0hwNVpPN2dQenBkYkRwNWUvZDRPWGJvbjh6MFlxZEIxN0kyQzQ5ZmxEcjBPYlV2SHZxWFdGQjB0RnozNWQzdzdvVXpEM25wM2Q4YUFBQUFBTHB1bTc4QkFvWGk3bWxKRmZuZnM0MU5XZDJ5OEJXOTlIcUxzcnU0eDBVc0poMjRWMUpmbXJ5ZlNvbzd0WGk0cE1WbU5ubjNxNC9lNUJuTE44aHNzQ1NGcG5NV3A4Yjk4c0xVcy9zbVFxdVEyU1ZtdXRiZHgwdTIwVjE3eVB5emVZdUFLbXM2NnU3VXVDY2thVkpxNVVjVitqMlNmaFFHdnVEdTFQaEhKcVQrV1RRb2pQK1B6RG9XTU5ra3FTUy9CcGZYeTRQNzVlRS93cGhaTFBRSFhKYnh3R1lsRkovL3hwcU03elVxYmhzYjR6WW9sZ2lhaHdRMldCdmoyYkQxRnNuR1pUTHhUeWVMckhHSDI4TUNBQUFBd0U0aXlFQzNjZmNESmYxYzZ2eXYvaHVic25yZ2tVYjkvcStOV3Z0T1pzYzMySTdTSVRHZCtvSGhPdVdZVWcwZHZNMDhsU2NrbFpuWnlnS1VIN250QlJrZDUxSXBENTRQbnp0VjVyL1owZWREc3dNV3A4YitxLzNJN1l6TG55dks3K0NZbEZvNXhkeC9rSGY5RVlHSHQwcDI1dmJ2dUd0Q3MrTVhwOGIrcFpEM0JBQUFBREJ3TWJVRTNlbGxTVmRLZWpWL2NIQnhUR2VlTUZ6L09Yay9uWEpzcWVMeDk4N1RFbkhUUjQ4ZXBtdks5OU1aSHg2K3ZSQmpyYVNySkQxZjRIZm9sVklwQzV2YjlMY2RYK0ZQYmdreEpNazhQOFNRSkEvRE5uZTVjZ3QyTGs2TmZYcmh6UEZueVhTQjVFOFdvazUzdmJFNGRlakRoYmdYQUFBQUFFaFN2QXZYQUx2RXpGelM3OXo5VWtscFNadlhjRWpFQSsyM1o1R3F6aDZ0ODA0YXFYKzhzRkgvZktGSmI2L1BhRzFqUnJHWVZEb2tyaEZENHpyczRHSzliK3hnalJpNnc2L3JPa25Uek94M1BmWnl2Y0NTcjQxOWE5S01GVytZYWErODRYV1NmcWVzZi9HOVByOTQxdmk2aWFtVk1ZVStWeFpzWGtOallXcmNQWkx1bVh6RGlnOHE4RFBsK2cvSjlwWjVxV1Fsa2hmSmxYQlpZQ1p6S1RCM2t5UTNtWGwrcDVmZEk1a1gvT1VCQUFBQURGaE1MVUdQY1BkVEpNMlU5R0ZKaGRxN0pDdnBJVWszbWRsL0YraWVmVXI1dGY4YTVjbm1XTFk1MGRiV0VqUXZ1ZU9BcHAyOXg2VFU4aXRkUVVQbkRnNEFBQUFBQUFZd2R6ZDNQOERkMDE0NFAzTDMvVDNYRFFBQUFBQUFBRkJRYytmT1BmSysrKzU3ODVWWFh2SG01bWJQWnJQaFRnUVhyZTYreHQxLzQrNGZqL3BkQUFBQUFBQTlqMy9KUm8rWk4yL2V2dkY0L0x1U3pnNkNJQmc5ZXZRVEgvclFoMzQyYk5pd1F5VzlYOUlldWUwL083WVEzWkRiRW5TdHBMOUorcXVrUnlROVptYXRFYjhPQUFBQUFDQUNMUGFKSHBOSUpEN243bWRKQ3JMWjdFdXZ2UExLRjBwTFM1ZTUrMUJKSXlVbGM5L0pSTzRqYmJsMU1Gb2tyWkcwSWJlQUtBQUFBQUJnZ0tJakE5MHVsVW9GaHh4eXlDZkRNUHhSTHFob2MvY3ZWbFpXM2ltSllBSUFBQUFBMEdWQjFBV2cvenZvb0lNK0hvYmhuRnlJNGU3KzNYZmVlYWVXRUFNQUFBQUFzTFBveUVDM3FxdXJHK2Z1aTh6czJOejM3UjR6S3k4dkw5OFlkVzBBQUFBQWdMNkhqZ3gwbTZWTGx5YmQvZHE4RU9OSlNWOGh4QUFBQUFBQTdDbzZNdEF0R2hvYVlrMU5UZGRMdWw1UzNOMWJ3akQ4ZEhWMTljK1pVZ0lBQUFBQTJGVjBaS0JiTkRjM1YwdjZVc2ZPT0daV1E0Z0JBQUFBQU5oZGJMK0tncHMvZi80SDNmMEtTY1dTV3QxOS91clZxMzlJaUFFQUFBQUEyRjFNTFVGQjNYcnJyWU5Iang1OWo2UlRjOSt2WmRsc3RycTZ1dnFGcUdzREFBQUFBUFI5QkJrb21JYUdodGltVFp2dU5iTXpKWm03dDVqWit5b3FLbFpFWFJzQUFBQUFvSDlnalF3VVJFTkRRL0dtVFp0bW10bnB1WUJzclpsOWloQURBQUFBQUZCSUJCa29pT2JtNWs5Sm1wWmJkMlc5cEZ1TGk0dC9IWFZkQUFBQUFJRCtoU0FEdTYyK3Z2NUlkNTlqWm50S2tydi9wTEd4OFk2eXNySnMxTFVCQUFBQUFQb1gxc2pBYnFtdnJ6OHlETVA3ekd6ZjlnekRIeW9wS1RtcnJLeXNNZXJhQUFBQUFBRDlEeDBaMkdYejVzM2IxOTIvYVdaN3F6M0YrSk83VHlMRUFBQUFBQUIwbDNqVUJhRHZTaVFTMTd2N3gzS0IyS29nQ0s0dkx5OWZIWFZkQUFBQUFJRCtpeUFET3kyZFRnK1NkS1c3ZjFidG5SaWJKTjFVVVZHeExPcmFBQUFBQUFEOUcxTkxzRk1hR2hwaWtpcURJTGcrTjlUczdxbGYvZXBYOVJHWEJnQUFBQUFZQU9qSXdFNXBhbW82eHN4dWtEVEkzVU5KZDYxZnYzNzJraVZMMktFRUFBQUFBTkR0MkxVRVhiWjQ4ZUoveTJReVN5V05WL3VVa3QrMHRiVlZUcDA2OVkyb2F3TUFBQUFBREF3RUdlaVMrdnI2TWU2K1VOSUp1YUZuc3Ruc3A2cXJxNStPdURRQUFBQUF3QURDMUJLOHA5cmEybEpKWDVWMGZHN28xVEFNejYrdXJuNDI0dElBQUFBQUFBTU1RUWJlVlc2SGttdmRmWUtrd04zZk1yTkxxNnFxbGtkZEd3QUFBQUJnNENISXdBN2xRb3hVRUFSWFNJcEp5cnI3VGUrODg4NXZKSG5VOVFFQUFBQUFCaDYyWDhWMk5UUTB4SUlnK0U4eis0S2tvbHh3Y1hWcmErdjNwaytmM2hKMWZRQUFBQUNBZ1ltT0RHeFhVMVBUWjl6OUtqTkx1bnVMcER0YldscnVyS21wYVl1Nk5nQUFBQURBd0VWSEJyYVJUcWN2ZFBmYnpLeFVrc3pzRis3K1RVSU1BQUFBQUVEVTJINFZuZFRYMTUvcDd2V1NSa21TdS84dGtVaDhZdUxFaVc5SFhSc0FBQUFBQUFRWjJHeisvUGxIQjBGUWIyWkh1SHRvWmc4VkZ4ZWZXMVpXdGpicTJnQUFBQUFBRUZOTDBLRyt2bjVNRUFTenplenczTkN6Mld6Mjg0UVlBQUFBQUlEZWhJNE1xTGEyZHA5a01ubWZtUjBweWR5OUpRekRqMVZWVmYzWnpOaG1GUUFBQUFEUWE5Q1JNY0NsMCttOWk0dUxmNUFYWXJ3YUJNSHAxZFhWRHhGaUFBQUFBQUI2RzRLTUFXenAwcVZKTS90S0dJYW41VUtNdFdaMjNRc3Z2UERIcUdzREFBQUFBR0I3bUZveVFOWFcxaWFTeWVRaU0vdWtwSVRhdDFuOVdsTlQwNDFzc3dvQUFBQUE2SzNpVVJlQW5sZGZYei9ZM1crUWRJR2ttTHUzU0ZwVVVWSHhaVWxNSndFQUFBQUE5RnBNTFJsZzNOM2MvVVpKbDBtS1NXcVc5TjJTa3BMTENURUFBQUFBQUwxZExPb0MwTE1PUHZqZ2IwbTZ6TXhLY2tNL2JXbHB1YXFpb21KRHhLVUJBQUFBQVBDZW1Gb3lRTXllUFR0WldsbzZYZEtsdVRVeE11Nyt1NWFXbHNxYW1wcE5VZGNIQUFBQUFFQlhNTFZrZ0JnMmJOam4zZjJhWElqUjV1NC9jZmRQRTJJQUFBQUFBUG9TZGkwWkFPcnE2cTZSZElPa2p1a2t2ODFrTXVVWFgzenhxeEdYQmdBQUFBREFUaUhJNk1kcWEyc1RpVVRpb2lBSWFzMHM2ZTZocE1kTFNrck9LQ3NyZXl2cStnQUFBQUFBMkZsTUxlbkhpb3FLTGd5QzRPYThFT1ArYkRiNy93Z3hBQUFBQUFCOUZSMFovZFNDQlF2T01yTzdKUTFUKzdhcmYwMGtFcCtaT0hIaXlxaHJBd0FBQUFCZ1Y3RnJTVCtUU3FYaUJ4eHd3S2xtOW1OSmc5c3pESC9PM1FreEFBQUFBQUI5SGxOTCtwa3hZOGFjRjR2Rjdzb3Q3T21TL3B6TlpzK3BxcW9peEFBQUFBQUE5SGxNTGVsSDB1bjArV1kyejh4S2MvOXRsMmN5bVVrWFgzenhZMUhYQmdBQUFBQkFJUkJrOUFPMXRiV0pvcUtpODRJZ3FKYzBLRGVkWkxXa0NaV1ZsWCtOdWo0QUFBQUFBQXFGcVNYOVFES1pyREt6Ty9KQ2pQOGZCTUZaaEJnQUFBQUFnUDZHSUtPUHE2dXJ1OUxNdm1sbSsrV0duc3hrTXBlV2w1Yy9FM0ZwQUFBQUFBQVVIRk5MK3FqWnMyY25TMHRMTDVaMGg2UWlTYUdrWjRJZ09HL3k1TW5QUlYwZkFBQUFBQURkZ1k2TVBtcm8wS0ZYU0pvcHFjamRRek83WDlLWmhCZ0FBQUFBZ1A2TWpvdytLSjFPcDRJZ3VGcFNzZG9YeGZoekVBUVR5OHZMVjBWZEd3QUFBQUFBM1NrZWRRSG91b2FHaHVLbXBxWXJKSFdFR0ZsSmYzWDM4OHZMeTErUHVqNEFBQUFBQUxvYlUwdjZpRlFxRlRRMU5jMXc5NDRRSStQdVB6T3pjNnFxcWdneEFBQUFBQUFEQWxOTCtvRGEydHBFY1hIeFhXRVlWcGhaVXUzVFNlNlB4V0tWa3lkUGZpM3ErZ0FBQUFBQTZDbDBaUFJ5dGJXMWV5U1R5Vys3ZTFVdXhNaElXdGJTMGxKR2lBRUFBQUFBR0doWUk2TVhxNit2SHkzcFZuZi90S1NFcEZaM3Y2ZXRyZTBMTlRVMWpWSFhCd0FBQUFCQVQyTnFTUytWVHFjUGx0Umdac2VZV2FEMjZTUnpTMHBLdmxoV1ZrYUlBUUFBQUFBWWtPakk2SVhxNnVyZVoyWjN1ZnV4dWJCcHZic3ZxcXlzdkV5U1IxMGZBQUFBQUFCUkljam9aZXJxNms1eDkxc2xIWk1iV2lQcEcrNStKeUVHQUFBQUFHQ2dZMnBKTDVKT3B5OE1ndUIyU2Z2a2hySmhHSmExdHJiK29xYW1waTNpOGdBQUFBQUFpQnhCUmkvUTBOQVEyN2h4NHdReis1YVo3WlhydkhoRjByU0tpb3BmUjEwZkFBQUFBQUM5QmR1dlJxeWhvYUc0cWFucHMwRVF6TW1GR0hMM1o4SXduTHBxMWFyN29xNFBBQUFBQUlEZWhJNk1DTlhXMXBZa2s4a2J6ZXh5U2NWcUR6RldTVHExb3FMaUJUTmpUUXdBQUFBQUFQTFFrUkdSaG9hRzBseUljV1V1eE1pNCt4L2k4ZmhKbFpXVnp4TmlBQUFBQUFDd0xUb3lJakIvL3Z6RFk3SFlOWkltNW9WSjl3UkJjTjNreVpPWFIxd2VBQUFBQUFDOUZrRkdEMHVuMC84ZUJNR1AzZjFJTXdza0tRekQydlhyMTE4OWZmcjBkNkt1RHdBQUFBQ0Ezb3dnbzRjME5EUVVOVFUxbmVEdWQ1dlozbXBmRDZQUjNXZEwrbXBWVlZWejFEVUNBQUFBQU5EYnhhSXVZQ0NvcmEwdGtWUWo2UzR6RzUwYmZsUFNkYTJ0clhPbVRKblNGSEdKQUFBQUFBRDBDZkdvQ3hnQUxKbE16cFowa2FSQnViSGw3ajV4OWVyVmo2ZFNxVERpK2dBQUFBQUE2RE9ZV3RKOXJMNisvdUF3REw5blpxZmx4a0ozZjhUZHAxVlZWVDBWY1gwQUFBQUFBUFE1YkwvYVRkTHA5TEZoR05aSitrUnVxTm5kNnpPWnpJV0VHQUFBQUFBQTdCcUNqRzVRWDE4L0lRaUNYNXJaaWJtZFNab2twZDU2NjYzUFRaa3k1Y1dvNndNQUFBQUFvSzlpYWtrQjFkZlhEdzdEOExPU1pwcFppU1NYOUphN2YzMzE2dFhmWmowTUFBQUFBQUIyRDBGR2dkVFYxZTNuN3RlWVdhV2tJZTI3cS9xalFSRE1MQzh2WHhwMWZRQUFBQUFBOUFmc1dsSUFDeGN1L0VnMm02MDFzM0VkVzlxNis4TmhHRTZzckt4Y0ZYVjlBQUFBQUFEMEYzUms3SWJaczJjblI0d1ljVVlZaG5NazdaT2JTckplMGkvTmJGcDVlZm5HcUdzRUFBQUFBS0EvWWJIUFhWUmJXM3RnYVducHpEQU02M01oaHR6OU5YZS9iczJhTlZNSU1RQUFBQUFBS0R3Nk1uYkIzTGx6RDBva0V2TWtuU1Fwb2ZZUTQva3dEQ2UydGJYOXJhYW1waTNxR2dFQUFBQUE2SThJTW5iQzdObXprOE9HRFR2UnpCWkkyajgzM0N6cEhrblRLeW9xMWtSY0lnQUFBQUFBL1JwQlJoZlYxdGFXSnBQSlM4M3Nha25EMWQ2RnNWYlNiWmxNcG5iS2xDbHJvNjRSQUFBQUFJRCtqbDFMdW1EdTNMa2pFNGxFV3RMSEpRM09EUzkzOTB0YVcxdi94RlFTQUFBQUFBQjZCa0hHdTZpdHJVMFVGUldkWUdacFNRZXJ2UXVqemN5V3RiUzBYRFp0MnJRVlVkY0lBQUFBQU1CQXd0U1NIWmd6Wjg2SWtwS1N5eVJOTTdQOWM3K3J0OTE5anBuZHdYb1lBQUFBQUFEMFBJS003YWlycTN1ZnU5OGw2UU5tbHN3TnZ5bnBxdUxpNG9heXNyTFdpRXNFQUFBQUFHQkFJc2pJTTIvZXZLRkZSVVZuaDJGNG02UjljOE5Oa3Y0U2htRk5WVlhWeW9oTEJBQUFBQUJnUUNQSWFHY0xGaXc0M015dWRQZUpIVjBZN3Y2R3BMdGFXbHJ1ckttcGFZeTZTQUFBQUFBQUJqb1crNVNVVHFkUEQ0TGdGbmMvM014aWttUm1UMG1hMHRqWStQZnAwNmUzUkYwakFBQUFBQUFZMkVHR3BkUHB2Y3pzUzVLbXUzdWc5aTZNUmtsM0Z4Y1hYMTFXVnJZaDZpSUJBQUFBQU1BV0F6YklXTEJnd2FsbWRwV1pmU3dYWXJpN1ArN3UzMnB0YmYydnlzcktUVkhYQ0FBQUFBQUFPaHR3YTJTazArbEJRUkRjNk81VlpqWTY5enZJdVBzU1NUZFVWbFkrSDNXTkFBQUFBQUJnK3daTWtQSDczLzgrL3ZMTEw3OC9ETU9iSkoxbVpvR2tVTkpyN3Y2dGtwS1MyV3lyQ2dBQUFBQkE3ellnZ296YTJ0b0RpNHFLcW9NZ21DSnB2OXh3cTZRSHN0bnN6ZFhWMVE5RlhDSUFBQUFBQU9pQ2ZyOUd4b0lGQzA0eXM2KzcrN0dTRXJuaFprbXBiRFk3djdxNitxMW9Ld1FBQUFBQUFGM1ZMenN5VXFsVU1HYk1tUDBsWGU3dVYrYW1rVWhTazZRL2gyRjRXVlZWMWJQUlZna0FBQUFBQUhaV3YrdklhR2hvS05xd1ljTm4zUDBTTXpzdUw4UjQxc3hxVzFwYWZqaDE2dFEzSWk0VEFBQUFBQURzZ243VmtiRnc0Y0pEd3pEOHFydWZabWFsdWVFMlNmZUVZWmhhdW5UcHlpVkxsbVFqTGhNQUFBQUFBT3lpZmhGa3pKa3paMFJKU2NtWmtyNW1aZ2ZraGpQdS9wS2tyNnhldlhwaEtwWEtSRndtQUFBQUFBRFlUWDA2eUtpdHJVME1HalRvUkVrMTduNittU1VreWQwYkpkM2QxdFoyNTlTcFU1K0p1azRBQUFBQUFGQVlmWGFOakhRNlBWelN6WkxPZC9mUkhXdGh1UHZLTUF3dmFXcHFldVN5eXk3YkVIV2RBQUFBQUFDZ2NQcGNSOGE4ZWZPR3h1UHgweVhkSnVtZzNMQkxXdWZ1U3pLWnpMVlRwa3haRzNHWkFBQUFBQUNnRy9TWmpvemJiNys5ZU5Tb1VhZEptaUxwNDVLS2M2YzJTUHFWcExrdExTM0xhbXBxMmlJdUZRQUFBQUFBZEpNKzBaR3hhTkdpL1RPWnpNMlN6akt6VVIzajdyN1MzYi9jMnRwNmYwMU5UV08wVlFJQUFBQUFnTzdXcTRPTWREbzkzTXd1a0hTTG1ZM01EWWVTMXJyNzNhTkdqYnIybkhQTzJSUnhtUUFBQUFBQW9JZjB5cWtsNlhSNlVCQUU1MHFhNXU0ZnlkdU5aTDJaL1ZqUy9KS1Nra2ZPT2VlY2JOUzFBZ0FBQUFDQW50TXJnNHdnQ0s2VDlEbEp3ODJzbzJ2a0VVblhGUmNYUDF4V1ZzWnVKQUFBQUFBQURFQzlNc2pJWnJNL2k4VmkvNWszamVTdWpSczMzczUycWdBQUFBQUFER3k5ZG8yTSt2cjZHZTQrTWd6RGVWVlZWVTlGWFE4QUFBQUFBSWhlcit6SWtLU21wcWJiSkttbXBvYkZQQUV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DZ0wvaGZaV0lWY0hCZ1k2Y0FBQUFBU1VWT1JLNUNZSUk9IiwKCSJUaGVtZSIgOiAiIiwKCSJUeXBlIiA6ICJmbG93IiwKCSJVc2VySWQiIDogIjE1Njg5Mjg2NDEiLAoJIlZlcnNpb24iIDogIjIxIgp9Cg=="/>
    </extobj>
  </extobjs>
</s:customData>
</file>

<file path=customXml/itemProps2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1981</Words>
  <Application>WPS 演示</Application>
  <PresentationFormat>宽屏</PresentationFormat>
  <Paragraphs>239</Paragraphs>
  <Slides>21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51" baseType="lpstr">
      <vt:lpstr>Arial</vt:lpstr>
      <vt:lpstr>宋体</vt:lpstr>
      <vt:lpstr>Wingdings</vt:lpstr>
      <vt:lpstr>HarmonyOS Sans SC Light</vt:lpstr>
      <vt:lpstr>阿里巴巴普惠体 2.0 55 Regular</vt:lpstr>
      <vt:lpstr>MiSans Bold</vt:lpstr>
      <vt:lpstr>金山云技术体</vt:lpstr>
      <vt:lpstr>创客贴金刚体</vt:lpstr>
      <vt:lpstr>MiSans</vt:lpstr>
      <vt:lpstr>阿里巴巴普惠体 2.0 115 Black</vt:lpstr>
      <vt:lpstr>优设标题黑</vt:lpstr>
      <vt:lpstr>黑体</vt:lpstr>
      <vt:lpstr>MiSans Heavy</vt:lpstr>
      <vt:lpstr>阿里巴巴普惠体 2.0 115 Black</vt:lpstr>
      <vt:lpstr>AMGDT</vt:lpstr>
      <vt:lpstr>思源宋体 CN Heavy</vt:lpstr>
      <vt:lpstr>Wingdings</vt:lpstr>
      <vt:lpstr>微软雅黑</vt:lpstr>
      <vt:lpstr>Arial Unicode MS</vt:lpstr>
      <vt:lpstr>等线</vt:lpstr>
      <vt:lpstr>Arial</vt:lpstr>
      <vt:lpstr>Calibri</vt:lpstr>
      <vt:lpstr>HarmonyOS Sans SC Light</vt:lpstr>
      <vt:lpstr>创客贴金刚体</vt:lpstr>
      <vt:lpstr>阿里巴巴普惠体 2.0 55 Regular</vt:lpstr>
      <vt:lpstr>Saturday Sans Regular</vt:lpstr>
      <vt:lpstr>锐字逼格青春体简2.0</vt:lpstr>
      <vt:lpstr>方正黑金刚体 简</vt:lpstr>
      <vt:lpstr>兰米宋体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极简蓝色学术风毕业论文答辩PPT模板</dc:title>
  <dc:creator>©51PPT模板网（www.51pptmoban.com）</dc:creator>
  <cp:keywords>版权归属：51PPT模板网</cp:keywords>
  <dc:description>51PPT模板网，幻灯片演示模板及素材免费下载！
51PPT模板网 唯一访问网址：www.51pptmoban.com</dc:description>
  <cp:lastModifiedBy>余佳欣</cp:lastModifiedBy>
  <cp:revision>10</cp:revision>
  <dcterms:created xsi:type="dcterms:W3CDTF">2025-12-19T13:52:00Z</dcterms:created>
  <dcterms:modified xsi:type="dcterms:W3CDTF">2026-06-04T08:25:09Z</dcterms:modified>
  <cp:version>51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22BDB718CDB14397A7C83A324092B3CC_13</vt:lpwstr>
  </property>
  <property fmtid="{D5CDD505-2E9C-101B-9397-08002B2CF9AE}" pid="3" name="KSOProductBuildVer">
    <vt:lpwstr>2052-12.1.0.24034</vt:lpwstr>
  </property>
</Properties>
</file>