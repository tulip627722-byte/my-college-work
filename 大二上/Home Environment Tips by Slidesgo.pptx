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57" r:id="rId7"/>
    <p:sldId id="259" r:id="rId8"/>
    <p:sldId id="298" r:id="rId9"/>
    <p:sldId id="299" r:id="rId10"/>
    <p:sldId id="300" r:id="rId11"/>
    <p:sldId id="301" r:id="rId12"/>
    <p:sldId id="296" r:id="rId13"/>
    <p:sldId id="261" r:id="rId14"/>
    <p:sldId id="262" r:id="rId15"/>
    <p:sldId id="263" r:id="rId16"/>
    <p:sldId id="264" r:id="rId17"/>
    <p:sldId id="297" r:id="rId18"/>
    <p:sldId id="265" r:id="rId19"/>
  </p:sldIdLst>
  <p:sldSz cx="9144000" cy="5143500"/>
  <p:notesSz cx="6858000" cy="9144000"/>
  <p:embeddedFontLst>
    <p:embeddedFont>
      <p:font typeface="Frank Ruhl Libre"/>
      <p:regular r:id="rId23"/>
    </p:embeddedFont>
    <p:embeddedFont>
      <p:font typeface="DM Sans Medium"/>
      <p:regular r:id="rId24"/>
    </p:embeddedFont>
    <p:embeddedFont>
      <p:font typeface="Raleway"/>
      <p:regular r:id="rId25"/>
    </p:embeddedFont>
    <p:embeddedFont>
      <p:font typeface="DM Sans"/>
      <p:regular r:id="rId26"/>
      <p:bold r:id="rId27"/>
      <p:italic r:id="rId28"/>
      <p:boldItalic r:id="rId29"/>
    </p:embeddedFont>
    <p:embeddedFont>
      <p:font typeface="Frank Ruhl Libre" charset="0"/>
      <p:regular r:id="rId30"/>
      <p:bold r:id="rId31"/>
    </p:embeddedFont>
    <p:embeddedFont>
      <p:font typeface="DM Sans Medium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ed3401ed36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ed3401ed36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e1d838b627_0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e1d838b627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1d838b627_4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e1d838b627_4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1d838b627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e1d838b627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e207fd22f2_0_250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e207fd22f2_0_250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1d838b627_4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e1d838b627_4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e1d838b627_4_1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e1d838b627_4_1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e1d838b627_4_1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e1d838b627_4_1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e1d838b627_4_1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e1d838b627_4_1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1d838b627_4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e1d838b627_4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e1d838b627_4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e1d838b627_4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1d838b627_4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e1d838b627_4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1d838b627_4_1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1d838b627_4_1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e1d838b627_4_1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e1d838b627_4_1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1d838b627_4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e1d838b627_4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e1d838b627_0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e1d838b627_0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1190950"/>
            <a:ext cx="4718700" cy="22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713225" y="3558950"/>
            <a:ext cx="471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/>
          <p:nvPr>
            <p:ph type="pic" idx="2"/>
          </p:nvPr>
        </p:nvSpPr>
        <p:spPr>
          <a:xfrm>
            <a:off x="5862475" y="574641"/>
            <a:ext cx="2742000" cy="39945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3" name="Google Shape;13;p2"/>
          <p:cNvSpPr/>
          <p:nvPr/>
        </p:nvSpPr>
        <p:spPr>
          <a:xfrm rot="10800000" flipH="1">
            <a:off x="0" y="-50"/>
            <a:ext cx="3528300" cy="5508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15" name="Google Shape;15;p2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Google Shape;16;p2"/>
            <p:cNvSpPr/>
            <p:nvPr/>
          </p:nvSpPr>
          <p:spPr>
            <a:xfrm>
              <a:off x="355600" y="1460600"/>
              <a:ext cx="75600" cy="184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title"/>
          </p:nvPr>
        </p:nvSpPr>
        <p:spPr>
          <a:xfrm>
            <a:off x="4986269" y="2287550"/>
            <a:ext cx="3444300" cy="126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type="title" idx="2" hasCustomPrompt="1"/>
          </p:nvPr>
        </p:nvSpPr>
        <p:spPr>
          <a:xfrm>
            <a:off x="7162375" y="726588"/>
            <a:ext cx="1268400" cy="1269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4986125" y="3709525"/>
            <a:ext cx="34443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/>
          <p:nvPr>
            <p:ph type="pic" idx="3"/>
          </p:nvPr>
        </p:nvSpPr>
        <p:spPr>
          <a:xfrm flipH="1">
            <a:off x="801409" y="906670"/>
            <a:ext cx="2994900" cy="43626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3" name="Google Shape;23;p3"/>
          <p:cNvSpPr/>
          <p:nvPr/>
        </p:nvSpPr>
        <p:spPr>
          <a:xfrm flipH="1">
            <a:off x="4484500" y="4737600"/>
            <a:ext cx="3262500" cy="40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24" name="Google Shape;24;p3"/>
          <p:cNvGrpSpPr/>
          <p:nvPr/>
        </p:nvGrpSpPr>
        <p:grpSpPr>
          <a:xfrm>
            <a:off x="8776250" y="-67950"/>
            <a:ext cx="75600" cy="5279700"/>
            <a:chOff x="8776250" y="-67950"/>
            <a:chExt cx="75600" cy="5279700"/>
          </a:xfrm>
        </p:grpSpPr>
        <p:cxnSp>
          <p:nvCxnSpPr>
            <p:cNvPr id="25" name="Google Shape;25;p3"/>
            <p:cNvCxnSpPr/>
            <p:nvPr/>
          </p:nvCxnSpPr>
          <p:spPr>
            <a:xfrm flipH="1">
              <a:off x="880730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26;p3"/>
            <p:cNvSpPr/>
            <p:nvPr/>
          </p:nvSpPr>
          <p:spPr>
            <a:xfrm>
              <a:off x="8776250" y="2348450"/>
              <a:ext cx="75600" cy="111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27" name="Google Shape;27;p3"/>
          <p:cNvSpPr/>
          <p:nvPr/>
        </p:nvSpPr>
        <p:spPr>
          <a:xfrm>
            <a:off x="0" y="-15500"/>
            <a:ext cx="4765200" cy="111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type="body" idx="1"/>
          </p:nvPr>
        </p:nvSpPr>
        <p:spPr>
          <a:xfrm>
            <a:off x="720000" y="923875"/>
            <a:ext cx="77040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5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 rot="10800000">
            <a:off x="5643300" y="-100"/>
            <a:ext cx="3500700" cy="352800"/>
          </a:xfrm>
          <a:prstGeom prst="round1Rect">
            <a:avLst>
              <a:gd name="adj" fmla="val 4686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33" name="Google Shape;33;p4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34" name="Google Shape;34;p4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" name="Google Shape;35;p4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1290750" y="2353097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945625" y="2353097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1290750" y="2756374"/>
            <a:ext cx="2907600" cy="13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4945625" y="2756374"/>
            <a:ext cx="2907600" cy="13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/>
          <p:nvPr/>
        </p:nvSpPr>
        <p:spPr>
          <a:xfrm>
            <a:off x="0" y="4717550"/>
            <a:ext cx="3550500" cy="4257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44" name="Google Shape;44;p5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45" name="Google Shape;45;p5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" name="Google Shape;46;p5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47" name="Google Shape;47;p5"/>
          <p:cNvSpPr/>
          <p:nvPr/>
        </p:nvSpPr>
        <p:spPr>
          <a:xfrm rot="5400000">
            <a:off x="6349750" y="2351750"/>
            <a:ext cx="5154600" cy="42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" name="Google Shape;51;p6"/>
          <p:cNvSpPr/>
          <p:nvPr/>
        </p:nvSpPr>
        <p:spPr>
          <a:xfrm>
            <a:off x="0" y="4717550"/>
            <a:ext cx="3550500" cy="4257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52" name="Google Shape;52;p6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53" name="Google Shape;53;p6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Google Shape;54;p6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55" name="Google Shape;55;p6"/>
          <p:cNvSpPr/>
          <p:nvPr/>
        </p:nvSpPr>
        <p:spPr>
          <a:xfrm rot="5400000">
            <a:off x="6349750" y="2351750"/>
            <a:ext cx="5154600" cy="42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type="body" idx="1"/>
          </p:nvPr>
        </p:nvSpPr>
        <p:spPr>
          <a:xfrm>
            <a:off x="726450" y="1600475"/>
            <a:ext cx="3541800" cy="25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7"/>
          <p:cNvSpPr/>
          <p:nvPr>
            <p:ph type="pic" idx="2"/>
          </p:nvPr>
        </p:nvSpPr>
        <p:spPr>
          <a:xfrm flipH="1">
            <a:off x="4769300" y="1289325"/>
            <a:ext cx="4516800" cy="38541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" name="Google Shape;61;p7"/>
          <p:cNvSpPr/>
          <p:nvPr/>
        </p:nvSpPr>
        <p:spPr>
          <a:xfrm rot="10800000">
            <a:off x="6159525" y="-25"/>
            <a:ext cx="2967900" cy="429300"/>
          </a:xfrm>
          <a:prstGeom prst="round1Rect">
            <a:avLst>
              <a:gd name="adj" fmla="val 4686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0" y="4464325"/>
            <a:ext cx="7045500" cy="67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8"/>
          <p:cNvSpPr txBox="1"/>
          <p:nvPr>
            <p:ph type="title"/>
          </p:nvPr>
        </p:nvSpPr>
        <p:spPr>
          <a:xfrm>
            <a:off x="1388100" y="1675800"/>
            <a:ext cx="6367800" cy="179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6" name="Google Shape;66;p8"/>
          <p:cNvSpPr/>
          <p:nvPr/>
        </p:nvSpPr>
        <p:spPr>
          <a:xfrm rot="5400000" flipH="1">
            <a:off x="-739650" y="3978300"/>
            <a:ext cx="1905000" cy="425700"/>
          </a:xfrm>
          <a:prstGeom prst="round1Rect">
            <a:avLst>
              <a:gd name="adj" fmla="val 4686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7" name="Google Shape;67;p8"/>
          <p:cNvSpPr/>
          <p:nvPr/>
        </p:nvSpPr>
        <p:spPr>
          <a:xfrm rot="10800000" flipH="1">
            <a:off x="0" y="25"/>
            <a:ext cx="3551700" cy="5148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781275" y="4210050"/>
            <a:ext cx="4362600" cy="93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>
            <p:ph type="subTitle" idx="1"/>
          </p:nvPr>
        </p:nvSpPr>
        <p:spPr>
          <a:xfrm>
            <a:off x="1041900" y="1414475"/>
            <a:ext cx="3287700" cy="27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type="subTitle" idx="2"/>
          </p:nvPr>
        </p:nvSpPr>
        <p:spPr>
          <a:xfrm>
            <a:off x="4814394" y="1414475"/>
            <a:ext cx="3287700" cy="27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9"/>
          <p:cNvSpPr/>
          <p:nvPr/>
        </p:nvSpPr>
        <p:spPr>
          <a:xfrm flipH="1">
            <a:off x="5441700" y="4675025"/>
            <a:ext cx="3702300" cy="468600"/>
          </a:xfrm>
          <a:prstGeom prst="round1Rect">
            <a:avLst>
              <a:gd name="adj" fmla="val 4686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71850" y="3041800"/>
            <a:ext cx="443100" cy="210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76" name="Google Shape;76;p9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77" name="Google Shape;77;p9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" name="Google Shape;78;p9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/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0"/>
          <p:cNvSpPr txBox="1"/>
          <p:nvPr>
            <p:ph type="title"/>
          </p:nvPr>
        </p:nvSpPr>
        <p:spPr>
          <a:xfrm>
            <a:off x="5668550" y="0"/>
            <a:ext cx="2715900" cy="4603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 txBox="1"/>
          <p:nvPr>
            <p:ph type="title" hasCustomPrompt="1"/>
          </p:nvPr>
        </p:nvSpPr>
        <p:spPr>
          <a:xfrm>
            <a:off x="1717400" y="1885175"/>
            <a:ext cx="5714400" cy="79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" name="Google Shape;85;p11"/>
          <p:cNvSpPr txBox="1"/>
          <p:nvPr>
            <p:ph type="subTitle" idx="1"/>
          </p:nvPr>
        </p:nvSpPr>
        <p:spPr>
          <a:xfrm>
            <a:off x="1717400" y="2883928"/>
            <a:ext cx="57144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6" name="Google Shape;86;p11"/>
          <p:cNvSpPr/>
          <p:nvPr/>
        </p:nvSpPr>
        <p:spPr>
          <a:xfrm rot="10800000">
            <a:off x="5535175" y="-75"/>
            <a:ext cx="3608700" cy="5349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87" name="Google Shape;87;p11"/>
          <p:cNvSpPr/>
          <p:nvPr/>
        </p:nvSpPr>
        <p:spPr>
          <a:xfrm rot="-5400000">
            <a:off x="7978525" y="3978300"/>
            <a:ext cx="1905000" cy="425700"/>
          </a:xfrm>
          <a:prstGeom prst="round1Rect">
            <a:avLst>
              <a:gd name="adj" fmla="val 4686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88" name="Google Shape;88;p11"/>
          <p:cNvSpPr/>
          <p:nvPr/>
        </p:nvSpPr>
        <p:spPr>
          <a:xfrm flipH="1">
            <a:off x="0" y="4210050"/>
            <a:ext cx="4362600" cy="93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89" name="Google Shape;89;p11"/>
          <p:cNvGrpSpPr/>
          <p:nvPr/>
        </p:nvGrpSpPr>
        <p:grpSpPr>
          <a:xfrm>
            <a:off x="-100" y="4793950"/>
            <a:ext cx="9149400" cy="88200"/>
            <a:chOff x="-100" y="4793950"/>
            <a:chExt cx="9149400" cy="88200"/>
          </a:xfrm>
        </p:grpSpPr>
        <p:cxnSp>
          <p:nvCxnSpPr>
            <p:cNvPr id="90" name="Google Shape;90;p11"/>
            <p:cNvCxnSpPr/>
            <p:nvPr/>
          </p:nvCxnSpPr>
          <p:spPr>
            <a:xfrm rot="10800000">
              <a:off x="-100" y="4838050"/>
              <a:ext cx="9149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" name="Google Shape;91;p11"/>
            <p:cNvSpPr/>
            <p:nvPr/>
          </p:nvSpPr>
          <p:spPr>
            <a:xfrm rot="5400000" flipH="1">
              <a:off x="4530500" y="2556250"/>
              <a:ext cx="88200" cy="456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type="subTitle" idx="1"/>
          </p:nvPr>
        </p:nvSpPr>
        <p:spPr>
          <a:xfrm>
            <a:off x="5290025" y="2271000"/>
            <a:ext cx="2791200" cy="11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/>
          <p:nvPr/>
        </p:nvSpPr>
        <p:spPr>
          <a:xfrm rot="-5400000" flipH="1">
            <a:off x="7973150" y="739650"/>
            <a:ext cx="1905000" cy="4257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0" y="4464325"/>
            <a:ext cx="7045500" cy="67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4"/>
          <p:cNvSpPr/>
          <p:nvPr/>
        </p:nvSpPr>
        <p:spPr>
          <a:xfrm>
            <a:off x="171850" y="3041800"/>
            <a:ext cx="443100" cy="210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103" name="Google Shape;103;p14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104" name="Google Shape;104;p14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14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06" name="Google Shape;106;p14"/>
          <p:cNvSpPr/>
          <p:nvPr/>
        </p:nvSpPr>
        <p:spPr>
          <a:xfrm flipH="1">
            <a:off x="5441700" y="4675025"/>
            <a:ext cx="3702300" cy="468600"/>
          </a:xfrm>
          <a:prstGeom prst="round1Rect">
            <a:avLst>
              <a:gd name="adj" fmla="val 4686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_AND_BODY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type="body" idx="1"/>
          </p:nvPr>
        </p:nvSpPr>
        <p:spPr>
          <a:xfrm>
            <a:off x="720000" y="923875"/>
            <a:ext cx="77040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5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1" name="Google Shape;111;p15"/>
          <p:cNvSpPr/>
          <p:nvPr/>
        </p:nvSpPr>
        <p:spPr>
          <a:xfrm rot="10800000">
            <a:off x="5643300" y="-100"/>
            <a:ext cx="3500700" cy="352800"/>
          </a:xfrm>
          <a:prstGeom prst="round1Rect">
            <a:avLst>
              <a:gd name="adj" fmla="val 4686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112" name="Google Shape;112;p15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113" name="Google Shape;113;p15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4" name="Google Shape;114;p15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15" name="Google Shape;115;p15"/>
          <p:cNvSpPr txBox="1"/>
          <p:nvPr>
            <p:ph type="subTitle" idx="2"/>
          </p:nvPr>
        </p:nvSpPr>
        <p:spPr>
          <a:xfrm>
            <a:off x="1041900" y="1414475"/>
            <a:ext cx="4463700" cy="2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0" y="4725525"/>
            <a:ext cx="9144000" cy="42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19" name="Google Shape;119;p1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type="body" idx="1"/>
          </p:nvPr>
        </p:nvSpPr>
        <p:spPr>
          <a:xfrm>
            <a:off x="720000" y="923875"/>
            <a:ext cx="77040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5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21" name="Google Shape;121;p16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122" name="Google Shape;122;p16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3" name="Google Shape;123;p16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24" name="Google Shape;124;p16"/>
          <p:cNvSpPr txBox="1"/>
          <p:nvPr>
            <p:ph type="subTitle" idx="2"/>
          </p:nvPr>
        </p:nvSpPr>
        <p:spPr>
          <a:xfrm>
            <a:off x="1041900" y="1414475"/>
            <a:ext cx="4779900" cy="27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16"/>
          <p:cNvSpPr/>
          <p:nvPr/>
        </p:nvSpPr>
        <p:spPr>
          <a:xfrm rot="-5400000" flipH="1">
            <a:off x="6946500" y="1657800"/>
            <a:ext cx="3855300" cy="539700"/>
          </a:xfrm>
          <a:prstGeom prst="round1Rect">
            <a:avLst>
              <a:gd name="adj" fmla="val 4686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type="subTitle" idx="1"/>
          </p:nvPr>
        </p:nvSpPr>
        <p:spPr>
          <a:xfrm>
            <a:off x="720000" y="2118563"/>
            <a:ext cx="25083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type="subTitle" idx="2"/>
          </p:nvPr>
        </p:nvSpPr>
        <p:spPr>
          <a:xfrm>
            <a:off x="5915712" y="2118563"/>
            <a:ext cx="25083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type="subTitle" idx="3"/>
          </p:nvPr>
        </p:nvSpPr>
        <p:spPr>
          <a:xfrm>
            <a:off x="720000" y="2521849"/>
            <a:ext cx="250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type="subTitle" idx="4"/>
          </p:nvPr>
        </p:nvSpPr>
        <p:spPr>
          <a:xfrm>
            <a:off x="5915704" y="2521849"/>
            <a:ext cx="250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type="subTitle" idx="5"/>
          </p:nvPr>
        </p:nvSpPr>
        <p:spPr>
          <a:xfrm>
            <a:off x="3317856" y="2960188"/>
            <a:ext cx="25083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4" name="Google Shape;134;p17"/>
          <p:cNvSpPr txBox="1"/>
          <p:nvPr>
            <p:ph type="subTitle" idx="6"/>
          </p:nvPr>
        </p:nvSpPr>
        <p:spPr>
          <a:xfrm>
            <a:off x="3317850" y="3363473"/>
            <a:ext cx="250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/>
          <p:nvPr/>
        </p:nvSpPr>
        <p:spPr>
          <a:xfrm flipH="1">
            <a:off x="5590750" y="4717800"/>
            <a:ext cx="3550500" cy="4257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36" name="Google Shape;136;p17"/>
          <p:cNvSpPr/>
          <p:nvPr/>
        </p:nvSpPr>
        <p:spPr>
          <a:xfrm rot="-5400000" flipH="1">
            <a:off x="7973150" y="739650"/>
            <a:ext cx="1905000" cy="425700"/>
          </a:xfrm>
          <a:prstGeom prst="round1Rect">
            <a:avLst>
              <a:gd name="adj" fmla="val 4686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137" name="Google Shape;137;p17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138" name="Google Shape;138;p17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9" name="Google Shape;139;p17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1"/>
          </p:nvPr>
        </p:nvSpPr>
        <p:spPr>
          <a:xfrm>
            <a:off x="1829273" y="1970274"/>
            <a:ext cx="246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type="subTitle" idx="2"/>
          </p:nvPr>
        </p:nvSpPr>
        <p:spPr>
          <a:xfrm>
            <a:off x="1828025" y="3424662"/>
            <a:ext cx="246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type="subTitle" idx="3"/>
          </p:nvPr>
        </p:nvSpPr>
        <p:spPr>
          <a:xfrm>
            <a:off x="5733773" y="1974263"/>
            <a:ext cx="246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type="subTitle" idx="4"/>
          </p:nvPr>
        </p:nvSpPr>
        <p:spPr>
          <a:xfrm>
            <a:off x="5733675" y="3424575"/>
            <a:ext cx="246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type="title" idx="5" hasCustomPrompt="1"/>
          </p:nvPr>
        </p:nvSpPr>
        <p:spPr>
          <a:xfrm>
            <a:off x="944225" y="1717449"/>
            <a:ext cx="733500" cy="7335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18"/>
          <p:cNvSpPr txBox="1"/>
          <p:nvPr>
            <p:ph type="title" idx="6" hasCustomPrompt="1"/>
          </p:nvPr>
        </p:nvSpPr>
        <p:spPr>
          <a:xfrm>
            <a:off x="4849873" y="1722548"/>
            <a:ext cx="731400" cy="7314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18"/>
          <p:cNvSpPr txBox="1"/>
          <p:nvPr>
            <p:ph type="title" idx="7" hasCustomPrompt="1"/>
          </p:nvPr>
        </p:nvSpPr>
        <p:spPr>
          <a:xfrm>
            <a:off x="944226" y="3172880"/>
            <a:ext cx="731400" cy="7314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" name="Google Shape;150;p18"/>
          <p:cNvSpPr txBox="1"/>
          <p:nvPr>
            <p:ph type="title" idx="8" hasCustomPrompt="1"/>
          </p:nvPr>
        </p:nvSpPr>
        <p:spPr>
          <a:xfrm>
            <a:off x="4849876" y="3172862"/>
            <a:ext cx="731400" cy="7314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18"/>
          <p:cNvSpPr txBox="1"/>
          <p:nvPr>
            <p:ph type="subTitle" idx="9"/>
          </p:nvPr>
        </p:nvSpPr>
        <p:spPr>
          <a:xfrm>
            <a:off x="1829175" y="1713325"/>
            <a:ext cx="2466000" cy="3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13"/>
          </p:nvPr>
        </p:nvSpPr>
        <p:spPr>
          <a:xfrm>
            <a:off x="5733675" y="1717440"/>
            <a:ext cx="2466000" cy="3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14"/>
          </p:nvPr>
        </p:nvSpPr>
        <p:spPr>
          <a:xfrm>
            <a:off x="1828025" y="3167713"/>
            <a:ext cx="2466000" cy="3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4" name="Google Shape;154;p18"/>
          <p:cNvSpPr txBox="1"/>
          <p:nvPr>
            <p:ph type="subTitle" idx="15"/>
          </p:nvPr>
        </p:nvSpPr>
        <p:spPr>
          <a:xfrm>
            <a:off x="5733675" y="3167751"/>
            <a:ext cx="2466000" cy="3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5" name="Google Shape;155;p18"/>
          <p:cNvSpPr/>
          <p:nvPr/>
        </p:nvSpPr>
        <p:spPr>
          <a:xfrm rot="-5400000">
            <a:off x="7611800" y="3622525"/>
            <a:ext cx="2650500" cy="4137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156" name="Google Shape;156;p18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157" name="Google Shape;157;p18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8" name="Google Shape;158;p18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type="subTitle" idx="1"/>
          </p:nvPr>
        </p:nvSpPr>
        <p:spPr>
          <a:xfrm>
            <a:off x="720000" y="1813763"/>
            <a:ext cx="25083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type="subTitle" idx="2"/>
          </p:nvPr>
        </p:nvSpPr>
        <p:spPr>
          <a:xfrm>
            <a:off x="5915712" y="1813763"/>
            <a:ext cx="25083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type="subTitle" idx="3"/>
          </p:nvPr>
        </p:nvSpPr>
        <p:spPr>
          <a:xfrm>
            <a:off x="720000" y="2217050"/>
            <a:ext cx="250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9"/>
          <p:cNvSpPr txBox="1"/>
          <p:nvPr>
            <p:ph type="subTitle" idx="4"/>
          </p:nvPr>
        </p:nvSpPr>
        <p:spPr>
          <a:xfrm>
            <a:off x="5915701" y="2217050"/>
            <a:ext cx="250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type="subTitle" idx="5"/>
          </p:nvPr>
        </p:nvSpPr>
        <p:spPr>
          <a:xfrm>
            <a:off x="3317852" y="1813763"/>
            <a:ext cx="25083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7" name="Google Shape;167;p19"/>
          <p:cNvSpPr txBox="1"/>
          <p:nvPr>
            <p:ph type="subTitle" idx="6"/>
          </p:nvPr>
        </p:nvSpPr>
        <p:spPr>
          <a:xfrm>
            <a:off x="3317852" y="2217050"/>
            <a:ext cx="250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type="subTitle" idx="7"/>
          </p:nvPr>
        </p:nvSpPr>
        <p:spPr>
          <a:xfrm>
            <a:off x="720000" y="3675746"/>
            <a:ext cx="25083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9" name="Google Shape;169;p19"/>
          <p:cNvSpPr txBox="1"/>
          <p:nvPr>
            <p:ph type="subTitle" idx="8"/>
          </p:nvPr>
        </p:nvSpPr>
        <p:spPr>
          <a:xfrm>
            <a:off x="5915712" y="3675746"/>
            <a:ext cx="25083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0" name="Google Shape;170;p19"/>
          <p:cNvSpPr txBox="1"/>
          <p:nvPr>
            <p:ph type="subTitle" idx="9"/>
          </p:nvPr>
        </p:nvSpPr>
        <p:spPr>
          <a:xfrm>
            <a:off x="720000" y="4079027"/>
            <a:ext cx="250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type="subTitle" idx="13"/>
          </p:nvPr>
        </p:nvSpPr>
        <p:spPr>
          <a:xfrm>
            <a:off x="5915701" y="4079027"/>
            <a:ext cx="250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type="subTitle" idx="14"/>
          </p:nvPr>
        </p:nvSpPr>
        <p:spPr>
          <a:xfrm>
            <a:off x="3317852" y="3675746"/>
            <a:ext cx="25083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type="subTitle" idx="15"/>
          </p:nvPr>
        </p:nvSpPr>
        <p:spPr>
          <a:xfrm>
            <a:off x="3317852" y="4079027"/>
            <a:ext cx="2508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9"/>
          <p:cNvSpPr/>
          <p:nvPr/>
        </p:nvSpPr>
        <p:spPr>
          <a:xfrm>
            <a:off x="0" y="4725525"/>
            <a:ext cx="9144000" cy="42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175" name="Google Shape;175;p19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176" name="Google Shape;176;p19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7" name="Google Shape;177;p19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>
            <p:ph type="title" hasCustomPrompt="1"/>
          </p:nvPr>
        </p:nvSpPr>
        <p:spPr>
          <a:xfrm>
            <a:off x="2974600" y="1152600"/>
            <a:ext cx="4214400" cy="7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1" name="Google Shape;181;p20"/>
          <p:cNvSpPr txBox="1"/>
          <p:nvPr>
            <p:ph type="subTitle" idx="1"/>
          </p:nvPr>
        </p:nvSpPr>
        <p:spPr>
          <a:xfrm>
            <a:off x="2974600" y="1907482"/>
            <a:ext cx="4214400" cy="3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0"/>
          <p:cNvSpPr txBox="1"/>
          <p:nvPr>
            <p:ph type="title" idx="2" hasCustomPrompt="1"/>
          </p:nvPr>
        </p:nvSpPr>
        <p:spPr>
          <a:xfrm>
            <a:off x="2974600" y="2926794"/>
            <a:ext cx="4214400" cy="7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3" name="Google Shape;183;p20"/>
          <p:cNvSpPr txBox="1"/>
          <p:nvPr>
            <p:ph type="subTitle" idx="3"/>
          </p:nvPr>
        </p:nvSpPr>
        <p:spPr>
          <a:xfrm>
            <a:off x="2974600" y="3681597"/>
            <a:ext cx="4214400" cy="30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0"/>
          <p:cNvSpPr/>
          <p:nvPr/>
        </p:nvSpPr>
        <p:spPr>
          <a:xfrm rot="10800000" flipH="1">
            <a:off x="0" y="-50"/>
            <a:ext cx="3457500" cy="5070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85" name="Google Shape;185;p20"/>
          <p:cNvSpPr/>
          <p:nvPr/>
        </p:nvSpPr>
        <p:spPr>
          <a:xfrm rot="-5400000" flipH="1">
            <a:off x="7973150" y="739650"/>
            <a:ext cx="1905000" cy="425700"/>
          </a:xfrm>
          <a:prstGeom prst="round1Rect">
            <a:avLst>
              <a:gd name="adj" fmla="val 4686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-125" y="4701000"/>
            <a:ext cx="9144000" cy="44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/>
          <p:nvPr/>
        </p:nvSpPr>
        <p:spPr>
          <a:xfrm rot="10800000">
            <a:off x="5703775" y="-50"/>
            <a:ext cx="3440100" cy="4539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90" name="Google Shape;190;p21"/>
          <p:cNvSpPr txBox="1"/>
          <p:nvPr>
            <p:ph type="title"/>
          </p:nvPr>
        </p:nvSpPr>
        <p:spPr>
          <a:xfrm>
            <a:off x="4367221" y="508153"/>
            <a:ext cx="40680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4367225" y="1476753"/>
            <a:ext cx="40680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/>
          <p:nvPr>
            <p:ph type="pic" idx="2"/>
          </p:nvPr>
        </p:nvSpPr>
        <p:spPr>
          <a:xfrm>
            <a:off x="1134153" y="737314"/>
            <a:ext cx="2635800" cy="38397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93" name="Google Shape;193;p21"/>
          <p:cNvGrpSpPr/>
          <p:nvPr/>
        </p:nvGrpSpPr>
        <p:grpSpPr>
          <a:xfrm>
            <a:off x="8712675" y="-67950"/>
            <a:ext cx="75600" cy="5279700"/>
            <a:chOff x="8712675" y="-67950"/>
            <a:chExt cx="75600" cy="5279700"/>
          </a:xfrm>
        </p:grpSpPr>
        <p:cxnSp>
          <p:nvCxnSpPr>
            <p:cNvPr id="194" name="Google Shape;194;p21"/>
            <p:cNvCxnSpPr/>
            <p:nvPr/>
          </p:nvCxnSpPr>
          <p:spPr>
            <a:xfrm>
              <a:off x="8743725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5" name="Google Shape;195;p21"/>
            <p:cNvSpPr/>
            <p:nvPr/>
          </p:nvSpPr>
          <p:spPr>
            <a:xfrm flipH="1">
              <a:off x="8712675" y="1689050"/>
              <a:ext cx="75600" cy="1903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96" name="Google Shape;196;p21"/>
          <p:cNvSpPr/>
          <p:nvPr/>
        </p:nvSpPr>
        <p:spPr>
          <a:xfrm flipH="1">
            <a:off x="0" y="4210050"/>
            <a:ext cx="4362600" cy="93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367225" y="2673088"/>
            <a:ext cx="4068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CREDITS: This presentation template was created by </a:t>
            </a:r>
            <a:r>
              <a:rPr lang="en-GB" sz="1200" b="1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and includes icons by </a:t>
            </a:r>
            <a:r>
              <a:rPr lang="en-GB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and infographics &amp; images by </a:t>
            </a:r>
            <a:r>
              <a:rPr lang="en-GB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Freepik</a:t>
            </a:r>
            <a:r>
              <a:rPr lang="en-GB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/>
          <p:nvPr/>
        </p:nvSpPr>
        <p:spPr>
          <a:xfrm rot="10800000" flipH="1">
            <a:off x="0" y="-50"/>
            <a:ext cx="3457500" cy="507000"/>
          </a:xfrm>
          <a:prstGeom prst="round1Rect">
            <a:avLst>
              <a:gd name="adj" fmla="val 4686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01" name="Google Shape;201;p22"/>
          <p:cNvSpPr/>
          <p:nvPr/>
        </p:nvSpPr>
        <p:spPr>
          <a:xfrm rot="-5400000" flipH="1">
            <a:off x="7973150" y="739650"/>
            <a:ext cx="1905000" cy="425700"/>
          </a:xfrm>
          <a:prstGeom prst="round1Rect">
            <a:avLst>
              <a:gd name="adj" fmla="val 4686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-125" y="4701000"/>
            <a:ext cx="9144000" cy="44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/>
          <p:nvPr/>
        </p:nvSpPr>
        <p:spPr>
          <a:xfrm>
            <a:off x="0" y="4725525"/>
            <a:ext cx="9144000" cy="42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206" name="Google Shape;206;p23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207" name="Google Shape;207;p23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8" name="Google Shape;208;p23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3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/>
          <p:nvPr/>
        </p:nvSpPr>
        <p:spPr>
          <a:xfrm>
            <a:off x="4781275" y="4210050"/>
            <a:ext cx="4362600" cy="93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5656900" y="368700"/>
            <a:ext cx="3153300" cy="44061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21" name="Google Shape;221;p27"/>
          <p:cNvSpPr txBox="1"/>
          <p:nvPr>
            <p:ph type="ctrTitle"/>
          </p:nvPr>
        </p:nvSpPr>
        <p:spPr>
          <a:xfrm>
            <a:off x="713225" y="1190950"/>
            <a:ext cx="4718700" cy="22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  <a:sym typeface="Frank Ruhl Libre"/>
              </a:rPr>
              <a:t>微缩的</a:t>
            </a:r>
            <a:br>
              <a:rPr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  <a:sym typeface="Frank Ruhl Libre"/>
              </a:rPr>
            </a:br>
            <a:r>
              <a:rPr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  <a:sym typeface="Frank Ruhl Libre"/>
              </a:rPr>
              <a:t>         </a:t>
            </a:r>
            <a:r>
              <a:rPr sz="4800">
                <a:solidFill>
                  <a:schemeClr val="dk1"/>
                </a:solidFill>
                <a:latin typeface="Frank Ruhl Libre" charset="0"/>
                <a:ea typeface="Frank Ruhl Libre" charset="0"/>
                <a:cs typeface="Arial" panose="020B0604020202020204" pitchFamily="34" charset="0"/>
                <a:sym typeface="Frank Ruhl Libre"/>
              </a:rPr>
              <a:t>垂直森林</a:t>
            </a:r>
            <a:endParaRPr sz="4800">
              <a:latin typeface="Frank Ruhl Libre"/>
              <a:ea typeface="Frank Ruhl Libre"/>
              <a:cs typeface="Arial" panose="020B0604020202020204" pitchFamily="34" charset="0"/>
              <a:sym typeface="Frank Ruhl Libre"/>
            </a:endParaRPr>
          </a:p>
        </p:txBody>
      </p:sp>
      <p:sp>
        <p:nvSpPr>
          <p:cNvPr id="222" name="Google Shape;222;p27"/>
          <p:cNvSpPr txBox="1"/>
          <p:nvPr>
            <p:ph type="subTitle" idx="1"/>
          </p:nvPr>
        </p:nvSpPr>
        <p:spPr>
          <a:xfrm>
            <a:off x="713225" y="3558950"/>
            <a:ext cx="471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Here is where your presentation begins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3" name="Google Shape;223;p27"/>
          <p:cNvPicPr preferRelativeResize="0"/>
          <p:nvPr>
            <p:ph type="pic" idx="2"/>
          </p:nvPr>
        </p:nvPicPr>
        <p:blipFill rotWithShape="1">
          <a:blip r:embed="rId1"/>
          <a:srcRect t="1276" b="1276"/>
          <a:stretch>
            <a:fillRect/>
          </a:stretch>
        </p:blipFill>
        <p:spPr>
          <a:xfrm>
            <a:off x="5862475" y="574641"/>
            <a:ext cx="2742000" cy="3994500"/>
          </a:xfrm>
          <a:prstGeom prst="round1Rect">
            <a:avLst>
              <a:gd name="adj" fmla="val 16667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b="0"/>
          </a:p>
        </p:txBody>
      </p:sp>
      <p:sp>
        <p:nvSpPr>
          <p:cNvPr id="242" name="Google Shape;242;p29"/>
          <p:cNvSpPr txBox="1"/>
          <p:nvPr>
            <p:ph type="title" idx="5"/>
          </p:nvPr>
        </p:nvSpPr>
        <p:spPr>
          <a:xfrm>
            <a:off x="944225" y="1717449"/>
            <a:ext cx="733500" cy="73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243" name="Google Shape;243;p29"/>
          <p:cNvSpPr txBox="1"/>
          <p:nvPr>
            <p:ph type="title" idx="6"/>
          </p:nvPr>
        </p:nvSpPr>
        <p:spPr>
          <a:xfrm>
            <a:off x="4849873" y="1722548"/>
            <a:ext cx="731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244" name="Google Shape;244;p29"/>
          <p:cNvSpPr txBox="1"/>
          <p:nvPr>
            <p:ph type="title" idx="7"/>
          </p:nvPr>
        </p:nvSpPr>
        <p:spPr>
          <a:xfrm>
            <a:off x="944226" y="3172880"/>
            <a:ext cx="731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245" name="Google Shape;245;p29"/>
          <p:cNvSpPr txBox="1"/>
          <p:nvPr>
            <p:ph type="title" idx="8"/>
          </p:nvPr>
        </p:nvSpPr>
        <p:spPr>
          <a:xfrm>
            <a:off x="4849876" y="3172862"/>
            <a:ext cx="731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246" name="Google Shape;246;p29"/>
          <p:cNvSpPr txBox="1"/>
          <p:nvPr>
            <p:ph type="subTitle" idx="9"/>
          </p:nvPr>
        </p:nvSpPr>
        <p:spPr>
          <a:xfrm>
            <a:off x="1829254" y="1722515"/>
            <a:ext cx="2679745" cy="612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第四代住宅美学</a:t>
            </a:r>
            <a:endParaRPr lang="en-GB">
              <a:latin typeface="Frank Ruhl Libre" charset="0"/>
              <a:ea typeface="Frank Ruhl Libre" charset="0"/>
              <a:cs typeface="Frank Ruhl Libre" charset="0"/>
            </a:endParaRPr>
          </a:p>
        </p:txBody>
      </p:sp>
      <p:sp>
        <p:nvSpPr>
          <p:cNvPr id="247" name="Google Shape;247;p29"/>
          <p:cNvSpPr txBox="1"/>
          <p:nvPr>
            <p:ph type="subTitle" idx="13"/>
          </p:nvPr>
        </p:nvSpPr>
        <p:spPr>
          <a:xfrm>
            <a:off x="5622995" y="1901614"/>
            <a:ext cx="2466000" cy="3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设计</a:t>
            </a:r>
            <a:r>
              <a:rPr lang="en-GB" altLang="en-US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 </a:t>
            </a: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&amp; </a:t>
            </a:r>
            <a:r>
              <a:rPr lang="zh-CN" altLang="en-US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功能</a:t>
            </a:r>
            <a:endParaRPr lang="en-GB">
              <a:latin typeface="Frank Ruhl Libre" charset="0"/>
              <a:ea typeface="Frank Ruhl Libre" charset="0"/>
              <a:cs typeface="Frank Ruhl Libre" charset="0"/>
            </a:endParaRPr>
          </a:p>
        </p:txBody>
      </p:sp>
      <p:sp>
        <p:nvSpPr>
          <p:cNvPr id="248" name="Google Shape;248;p29"/>
          <p:cNvSpPr txBox="1"/>
          <p:nvPr>
            <p:ph type="subTitle" idx="14"/>
          </p:nvPr>
        </p:nvSpPr>
        <p:spPr>
          <a:xfrm>
            <a:off x="1829254" y="3609838"/>
            <a:ext cx="2599590" cy="3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我们的产品是微观森林是氧气胶囊</a:t>
            </a:r>
            <a:endParaRPr lang="en-GB"/>
          </a:p>
        </p:txBody>
      </p:sp>
      <p:sp>
        <p:nvSpPr>
          <p:cNvPr id="249" name="Google Shape;249;p29"/>
          <p:cNvSpPr txBox="1"/>
          <p:nvPr>
            <p:ph type="subTitle" idx="15"/>
          </p:nvPr>
        </p:nvSpPr>
        <p:spPr>
          <a:xfrm>
            <a:off x="5746696" y="3356023"/>
            <a:ext cx="2466000" cy="3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chemeClr val="dk1"/>
                </a:solidFill>
              </a:rPr>
              <a:t>意义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4719088" y="1799945"/>
            <a:ext cx="3865110" cy="14633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从水泥森林到第四代住宅美学</a:t>
            </a:r>
            <a:endParaRPr lang="zh-CN" altLang="en-US"/>
          </a:p>
        </p:txBody>
      </p:sp>
      <p:sp>
        <p:nvSpPr>
          <p:cNvPr id="263" name="Google Shape;263;p31"/>
          <p:cNvSpPr txBox="1"/>
          <p:nvPr>
            <p:ph type="title" idx="2"/>
          </p:nvPr>
        </p:nvSpPr>
        <p:spPr>
          <a:xfrm>
            <a:off x="7162375" y="726588"/>
            <a:ext cx="1268400" cy="12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264" name="Google Shape;264;p31"/>
          <p:cNvSpPr/>
          <p:nvPr/>
        </p:nvSpPr>
        <p:spPr>
          <a:xfrm flipH="1">
            <a:off x="576625" y="681736"/>
            <a:ext cx="3444300" cy="48123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265" name="Google Shape;265;p31"/>
          <p:cNvPicPr preferRelativeResize="0"/>
          <p:nvPr>
            <p:ph type="pic" idx="3"/>
          </p:nvPr>
        </p:nvPicPr>
        <p:blipFill rotWithShape="1">
          <a:blip r:embed="rId1"/>
          <a:srcRect t="1456" b="1456"/>
          <a:stretch>
            <a:fillRect/>
          </a:stretch>
        </p:blipFill>
        <p:spPr>
          <a:xfrm flipH="1">
            <a:off x="801409" y="906670"/>
            <a:ext cx="2994900" cy="4362600"/>
          </a:xfrm>
          <a:prstGeom prst="round1Rect">
            <a:avLst>
              <a:gd name="adj" fmla="val 16667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type="title"/>
          </p:nvPr>
        </p:nvSpPr>
        <p:spPr>
          <a:xfrm>
            <a:off x="432781" y="10164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从水泥森林到第四代住宅美学</a:t>
            </a:r>
            <a:endParaRPr lang="zh-CN" altLang="en-US"/>
          </a:p>
        </p:txBody>
      </p:sp>
      <p:sp>
        <p:nvSpPr>
          <p:cNvPr id="2" name="文本占位符 1"/>
          <p:cNvSpPr/>
          <p:nvPr>
            <p:ph type="body" idx="1"/>
          </p:nvPr>
        </p:nvSpPr>
        <p:spPr>
          <a:xfrm>
            <a:off x="472858" y="763566"/>
            <a:ext cx="7704000" cy="417900"/>
          </a:xfrm>
        </p:spPr>
        <p:txBody>
          <a:bodyPr/>
          <a:p>
            <a:r>
              <a:rPr lang="zh-CN" altLang="en-US"/>
              <a:t>以</a:t>
            </a:r>
            <a:r>
              <a:rPr lang="en-US" altLang="zh-CN"/>
              <a:t>“</a:t>
            </a:r>
            <a:r>
              <a:rPr lang="zh-CN" altLang="en-US"/>
              <a:t>人</a:t>
            </a:r>
            <a:r>
              <a:rPr lang="en-US" altLang="zh-CN"/>
              <a:t>”</a:t>
            </a:r>
            <a:r>
              <a:rPr lang="zh-CN" altLang="en-US"/>
              <a:t>为中心、以</a:t>
            </a:r>
            <a:r>
              <a:rPr lang="en-US" altLang="zh-CN"/>
              <a:t>“</a:t>
            </a:r>
            <a:r>
              <a:rPr lang="zh-CN" altLang="en-US"/>
              <a:t>自然</a:t>
            </a:r>
            <a:r>
              <a:rPr lang="en-US" altLang="zh-CN"/>
              <a:t>”</a:t>
            </a:r>
            <a:r>
              <a:rPr lang="zh-CN" altLang="en-US"/>
              <a:t>为伙伴、以</a:t>
            </a:r>
            <a:r>
              <a:rPr lang="en-US" altLang="zh-CN"/>
              <a:t>“</a:t>
            </a:r>
            <a:r>
              <a:rPr lang="zh-CN" altLang="en-US"/>
              <a:t>社区</a:t>
            </a:r>
            <a:r>
              <a:rPr lang="en-US" altLang="zh-CN"/>
              <a:t>”</a:t>
            </a:r>
            <a:r>
              <a:rPr lang="zh-CN" altLang="en-US"/>
              <a:t>为载体、以</a:t>
            </a:r>
            <a:r>
              <a:rPr lang="en-US" altLang="zh-CN"/>
              <a:t>“</a:t>
            </a:r>
            <a:r>
              <a:rPr lang="zh-CN" altLang="en-US"/>
              <a:t>健康智能</a:t>
            </a:r>
            <a:r>
              <a:rPr lang="en-US" altLang="zh-CN"/>
              <a:t>”</a:t>
            </a:r>
            <a:r>
              <a:rPr lang="zh-CN" altLang="en-US"/>
              <a:t>为基础的新时代居住美学。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9986" y="1631889"/>
            <a:ext cx="4503121" cy="2245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一、第四代住宅的背景逻辑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前三代住宅演进如下：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</a:t>
            </a:r>
            <a:r>
              <a:rPr lang="en-US" altLang="en-US"/>
              <a:t>️</a:t>
            </a:r>
            <a:r>
              <a:rPr lang="en-US" altLang="zh-CN"/>
              <a:t> </a:t>
            </a:r>
            <a:r>
              <a:rPr lang="zh-CN" altLang="en-US"/>
              <a:t>第一代：居住盒子（满足居住）</a:t>
            </a:r>
            <a:endParaRPr lang="zh-CN" altLang="en-US"/>
          </a:p>
          <a:p>
            <a:r>
              <a:rPr lang="en-US" altLang="en-US"/>
              <a:t>️</a:t>
            </a:r>
            <a:r>
              <a:rPr lang="en-US" altLang="zh-CN"/>
              <a:t>2 </a:t>
            </a:r>
            <a:r>
              <a:rPr lang="zh-CN" altLang="en-US"/>
              <a:t>第二代：改善户型（空间分区）</a:t>
            </a:r>
            <a:endParaRPr lang="zh-CN" altLang="en-US"/>
          </a:p>
          <a:p>
            <a:r>
              <a:rPr lang="en-US" altLang="zh-CN"/>
              <a:t>3</a:t>
            </a:r>
            <a:r>
              <a:rPr lang="en-US" altLang="en-US"/>
              <a:t>️ </a:t>
            </a:r>
            <a:r>
              <a:rPr lang="zh-CN" altLang="en-US"/>
              <a:t>第三代：园林社区（环境提升）</a:t>
            </a:r>
            <a:endParaRPr lang="zh-CN" altLang="en-US"/>
          </a:p>
          <a:p>
            <a:r>
              <a:rPr lang="en-US" altLang="zh-CN"/>
              <a:t>4 </a:t>
            </a:r>
            <a:r>
              <a:rPr lang="zh-CN" altLang="en-US"/>
              <a:t>第四代：生态、健康、智慧生活整体系统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第四代住宅</a:t>
            </a:r>
            <a:r>
              <a:rPr lang="en-US" altLang="zh-CN"/>
              <a:t>=</a:t>
            </a:r>
            <a:r>
              <a:rPr lang="zh-CN" altLang="en-US"/>
              <a:t>从</a:t>
            </a:r>
            <a:r>
              <a:rPr lang="en-US" altLang="zh-CN"/>
              <a:t>“</a:t>
            </a:r>
            <a:r>
              <a:rPr lang="zh-CN" altLang="en-US"/>
              <a:t>房子像商品</a:t>
            </a:r>
            <a:r>
              <a:rPr lang="en-US" altLang="zh-CN"/>
              <a:t>” </a:t>
            </a:r>
            <a:r>
              <a:rPr lang="en-US" altLang="en-US"/>
              <a:t>→</a:t>
            </a:r>
            <a:r>
              <a:rPr lang="en-US" altLang="zh-CN"/>
              <a:t> “</a:t>
            </a:r>
            <a:r>
              <a:rPr lang="zh-CN" altLang="en-US"/>
              <a:t>房子是生活方式的容器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图片 3" descr="post_object_image_5188689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429" y="1631874"/>
            <a:ext cx="4083656" cy="206005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16445" y="4324777"/>
            <a:ext cx="731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不是</a:t>
            </a:r>
            <a:r>
              <a:rPr lang="en-US" altLang="zh-CN" b="1"/>
              <a:t>“</a:t>
            </a:r>
            <a:r>
              <a:rPr lang="zh-CN" altLang="en-US" b="1"/>
              <a:t>更豪华</a:t>
            </a:r>
            <a:r>
              <a:rPr lang="en-US" altLang="zh-CN" b="1"/>
              <a:t>”</a:t>
            </a:r>
            <a:r>
              <a:rPr lang="zh-CN" altLang="en-US" b="1"/>
              <a:t>，而是</a:t>
            </a:r>
            <a:r>
              <a:rPr lang="en-US" altLang="zh-CN" b="1"/>
              <a:t>“</a:t>
            </a:r>
            <a:r>
              <a:rPr lang="zh-CN" altLang="en-US" b="1"/>
              <a:t>更舒服、更健康、更社交、更自然、更智能</a:t>
            </a:r>
            <a:r>
              <a:rPr lang="en-US" altLang="zh-CN" b="1"/>
              <a:t>”</a:t>
            </a:r>
            <a:r>
              <a:rPr lang="zh-CN" altLang="en-US" b="1"/>
              <a:t>。</a:t>
            </a:r>
            <a:endParaRPr lang="zh-CN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/>
          <p:nvPr>
            <p:ph type="subTitle" idx="1"/>
          </p:nvPr>
        </p:nvSpPr>
        <p:spPr>
          <a:xfrm>
            <a:off x="432766" y="846716"/>
            <a:ext cx="4177374" cy="2787600"/>
          </a:xfrm>
        </p:spPr>
        <p:txBody>
          <a:bodyPr/>
          <a:p>
            <a:r>
              <a:rPr lang="zh-CN" altLang="en-US" b="1"/>
              <a:t>自然共生美学（</a:t>
            </a:r>
            <a:r>
              <a:rPr lang="en-US" altLang="zh-CN" b="1"/>
              <a:t>Nature Aesthetics</a:t>
            </a:r>
            <a:r>
              <a:rPr lang="zh-CN" altLang="en-US" b="1"/>
              <a:t>）</a:t>
            </a:r>
            <a:endParaRPr lang="en-US" altLang="zh-CN" b="1"/>
          </a:p>
          <a:p>
            <a:r>
              <a:rPr lang="zh-CN" altLang="en-US"/>
              <a:t>强调建筑与自然融合</a:t>
            </a:r>
            <a:endParaRPr lang="en-US" altLang="zh-CN"/>
          </a:p>
          <a:p>
            <a:r>
              <a:rPr lang="zh-CN" altLang="en-US"/>
              <a:t>大量绿化、垂直森林、开放式共享庭院</a:t>
            </a:r>
            <a:endParaRPr lang="en-US" altLang="zh-CN"/>
          </a:p>
          <a:p>
            <a:r>
              <a:rPr lang="zh-CN" altLang="en-US"/>
              <a:t>引入自然光、自然通风</a:t>
            </a:r>
            <a:endParaRPr lang="en-US" altLang="zh-CN"/>
          </a:p>
          <a:p>
            <a:r>
              <a:rPr lang="zh-CN" altLang="en-US"/>
              <a:t>关注生态循环（雨水收集、节能设计）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科技与健康美学（</a:t>
            </a:r>
            <a:r>
              <a:rPr lang="en-US" altLang="zh-CN" b="1"/>
              <a:t>Tech &amp; Wellness Aesthetics</a:t>
            </a:r>
            <a:r>
              <a:rPr lang="zh-CN" altLang="en-US" b="1"/>
              <a:t>）</a:t>
            </a:r>
            <a:endParaRPr lang="en-US" altLang="zh-CN" b="1"/>
          </a:p>
          <a:p>
            <a:r>
              <a:rPr lang="zh-CN" altLang="en-US"/>
              <a:t>智能化；新风、除菌、空气管理；声学设计；无接触系统；适老化设计</a:t>
            </a:r>
            <a:endParaRPr lang="zh-CN" altLang="en-US"/>
          </a:p>
        </p:txBody>
      </p:sp>
      <p:sp>
        <p:nvSpPr>
          <p:cNvPr id="3" name="副标题 2"/>
          <p:cNvSpPr/>
          <p:nvPr>
            <p:ph type="subTitle" idx="2"/>
          </p:nvPr>
        </p:nvSpPr>
        <p:spPr>
          <a:xfrm>
            <a:off x="4443152" y="846696"/>
            <a:ext cx="4266779" cy="2787600"/>
          </a:xfrm>
        </p:spPr>
        <p:txBody>
          <a:bodyPr/>
          <a:p>
            <a:r>
              <a:rPr lang="zh-CN" altLang="en-US" b="1"/>
              <a:t>人本生活美学（</a:t>
            </a:r>
            <a:r>
              <a:rPr lang="en-US" altLang="zh-CN" b="1"/>
              <a:t>Human-centered Aesthetics</a:t>
            </a:r>
            <a:r>
              <a:rPr lang="zh-CN" altLang="en-US" b="1"/>
              <a:t>）</a:t>
            </a:r>
            <a:endParaRPr lang="en-US" altLang="zh-CN"/>
          </a:p>
          <a:p>
            <a:r>
              <a:rPr lang="zh-CN" altLang="en-US"/>
              <a:t>空间回到日常生活需求</a:t>
            </a:r>
            <a:endParaRPr lang="en-US" altLang="zh-CN"/>
          </a:p>
          <a:p>
            <a:r>
              <a:rPr lang="zh-CN" altLang="en-US"/>
              <a:t>强调舒适、安全、情绪疗愈，</a:t>
            </a:r>
            <a:r>
              <a:rPr lang="en-US" altLang="zh-CN"/>
              <a:t>“</a:t>
            </a:r>
            <a:r>
              <a:rPr lang="zh-CN" altLang="en-US"/>
              <a:t>去豪华化</a:t>
            </a:r>
            <a:r>
              <a:rPr lang="en-US" altLang="zh-CN"/>
              <a:t>”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增加实用、温暖、松弛感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社区文化美学（</a:t>
            </a:r>
            <a:r>
              <a:rPr lang="en-US" altLang="zh-CN" b="1"/>
              <a:t>Community Aesthetics</a:t>
            </a:r>
            <a:r>
              <a:rPr lang="zh-CN" altLang="en-US" b="1"/>
              <a:t>）</a:t>
            </a:r>
            <a:endParaRPr lang="en-US" altLang="zh-CN"/>
          </a:p>
          <a:p>
            <a:r>
              <a:rPr lang="zh-CN" altLang="en-US"/>
              <a:t>第四代住宅强调「家的外延」。</a:t>
            </a:r>
            <a:endParaRPr lang="en-US" altLang="zh-CN"/>
          </a:p>
          <a:p>
            <a:r>
              <a:rPr lang="zh-CN" altLang="en-US"/>
              <a:t>社区图书馆；社区厨；共享客厅；共享运动空间；社区活动场所；更注重邻里关系</a:t>
            </a:r>
            <a:endParaRPr lang="zh-CN" altLang="en-US"/>
          </a:p>
        </p:txBody>
      </p:sp>
      <p:sp>
        <p:nvSpPr>
          <p:cNvPr id="228" name="Google Shape;228;p28"/>
          <p:cNvSpPr txBox="1"/>
          <p:nvPr/>
        </p:nvSpPr>
        <p:spPr>
          <a:xfrm>
            <a:off x="432781" y="10164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从水泥森林到第四代住宅美学</a:t>
            </a:r>
            <a:endParaRPr lang="zh-CN" altLang="en-US"/>
          </a:p>
        </p:txBody>
      </p:sp>
      <p:pic>
        <p:nvPicPr>
          <p:cNvPr id="4" name="图片 3" descr="post_object_image_24512827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211" y="3179833"/>
            <a:ext cx="1525436" cy="1904898"/>
          </a:xfrm>
          <a:prstGeom prst="rect">
            <a:avLst/>
          </a:prstGeom>
        </p:spPr>
      </p:pic>
      <p:pic>
        <p:nvPicPr>
          <p:cNvPr id="5" name="图片 4" descr="post_object_image_19413518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56" y="3807964"/>
            <a:ext cx="2345541" cy="1090784"/>
          </a:xfrm>
          <a:prstGeom prst="rect">
            <a:avLst/>
          </a:prstGeom>
        </p:spPr>
      </p:pic>
      <p:pic>
        <p:nvPicPr>
          <p:cNvPr id="6" name="图片 5" descr="post_object_image_4242498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806" y="3352005"/>
            <a:ext cx="1547580" cy="1174433"/>
          </a:xfrm>
          <a:prstGeom prst="rect">
            <a:avLst/>
          </a:prstGeom>
        </p:spPr>
      </p:pic>
      <p:pic>
        <p:nvPicPr>
          <p:cNvPr id="7" name="图片 6" descr="post_object_image_2267348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614" y="3035996"/>
            <a:ext cx="1690284" cy="9618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>
            <p:ph type="subTitle" idx="1"/>
          </p:nvPr>
        </p:nvSpPr>
        <p:spPr>
          <a:xfrm>
            <a:off x="4986125" y="3709525"/>
            <a:ext cx="34443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  <p:sp>
        <p:nvSpPr>
          <p:cNvPr id="262" name="Google Shape;262;p31"/>
          <p:cNvSpPr txBox="1"/>
          <p:nvPr>
            <p:ph type="title"/>
          </p:nvPr>
        </p:nvSpPr>
        <p:spPr>
          <a:xfrm>
            <a:off x="4775690" y="1479328"/>
            <a:ext cx="3865110" cy="14633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关于我们的产品</a:t>
            </a:r>
            <a:endParaRPr lang="zh-CN" altLang="en-US">
              <a:latin typeface="Frank Ruhl Libre" charset="0"/>
              <a:ea typeface="Frank Ruhl Libre" charset="0"/>
              <a:cs typeface="Frank Ruhl Libre" charset="0"/>
            </a:endParaRPr>
          </a:p>
        </p:txBody>
      </p:sp>
      <p:sp>
        <p:nvSpPr>
          <p:cNvPr id="263" name="Google Shape;263;p31"/>
          <p:cNvSpPr txBox="1"/>
          <p:nvPr>
            <p:ph type="title" idx="2"/>
          </p:nvPr>
        </p:nvSpPr>
        <p:spPr>
          <a:xfrm>
            <a:off x="7162375" y="726588"/>
            <a:ext cx="1268400" cy="12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zh-CN">
                <a:cs typeface="Arial" panose="020B0604020202020204" pitchFamily="34" charset="0"/>
              </a:rPr>
              <a:t>2</a:t>
            </a:r>
            <a:endParaRPr lang="en-GB"/>
          </a:p>
        </p:txBody>
      </p:sp>
      <p:sp>
        <p:nvSpPr>
          <p:cNvPr id="264" name="Google Shape;264;p31"/>
          <p:cNvSpPr/>
          <p:nvPr/>
        </p:nvSpPr>
        <p:spPr>
          <a:xfrm flipH="1">
            <a:off x="576625" y="681736"/>
            <a:ext cx="3444300" cy="48123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265" name="Google Shape;265;p31"/>
          <p:cNvPicPr preferRelativeResize="0"/>
          <p:nvPr>
            <p:ph type="pic" idx="3"/>
          </p:nvPr>
        </p:nvPicPr>
        <p:blipFill rotWithShape="1">
          <a:blip r:embed="rId1"/>
          <a:srcRect t="1456" b="1456"/>
          <a:stretch>
            <a:fillRect/>
          </a:stretch>
        </p:blipFill>
        <p:spPr>
          <a:xfrm flipH="1">
            <a:off x="801409" y="906670"/>
            <a:ext cx="2994900" cy="4362600"/>
          </a:xfrm>
          <a:prstGeom prst="round1Rect">
            <a:avLst>
              <a:gd name="adj" fmla="val 16667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/>
        </p:nvSpPr>
        <p:spPr>
          <a:xfrm>
            <a:off x="432781" y="10164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chemeClr val="dk1"/>
                </a:solidFill>
              </a:rPr>
              <a:t>关于我们的产品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29418" y="728068"/>
            <a:ext cx="731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第四代住宅强调：自然不是背景，而是生活体系的一部分。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4902" y="1195635"/>
            <a:ext cx="4235940" cy="2245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产品背后的深层逻辑：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让自然重新进入人的生活节奏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现代生活高度压缩，人们与自然的接触被削弱。我们通过一个极小的载体，把</a:t>
            </a:r>
            <a:r>
              <a:rPr lang="en-US" altLang="zh-CN"/>
              <a:t>“</a:t>
            </a:r>
            <a:r>
              <a:rPr lang="zh-CN" altLang="en-US"/>
              <a:t>可持续的自然体验</a:t>
            </a:r>
            <a:r>
              <a:rPr lang="en-US" altLang="zh-CN"/>
              <a:t>”</a:t>
            </a:r>
            <a:r>
              <a:rPr lang="zh-CN" altLang="en-US"/>
              <a:t>放回用户的日常。</a:t>
            </a:r>
            <a:endParaRPr lang="zh-CN" altLang="en-US"/>
          </a:p>
          <a:p>
            <a:r>
              <a:rPr lang="zh-CN" altLang="en-US"/>
              <a:t>不需要技巧，不需要打理，植物依然能保持良好状态</a:t>
            </a:r>
            <a:r>
              <a:rPr lang="en-US" altLang="zh-CN"/>
              <a:t>——</a:t>
            </a:r>
            <a:r>
              <a:rPr lang="zh-CN" altLang="en-US"/>
              <a:t>这就是第四代住宅所强调的</a:t>
            </a:r>
            <a:r>
              <a:rPr lang="en-US" altLang="zh-CN"/>
              <a:t>“</a:t>
            </a:r>
            <a:r>
              <a:rPr lang="zh-CN" altLang="en-US"/>
              <a:t>低难度自然共生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7" name="圆角矩形 6"/>
          <p:cNvSpPr/>
          <p:nvPr userDrawn="1"/>
        </p:nvSpPr>
        <p:spPr>
          <a:xfrm>
            <a:off x="724247" y="3507818"/>
            <a:ext cx="3653522" cy="1316016"/>
          </a:xfrm>
          <a:prstGeom prst="roundRect">
            <a:avLst/>
          </a:prstGeom>
          <a:ln w="25400" cap="flat" cmpd="sng" algn="ctr">
            <a:solidFill>
              <a:schemeClr val="phClr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将第四代住宅美学融入一款产品中：意味着将绿色、温暖、交互、智能融合进这款产品；</a:t>
            </a:r>
            <a:endParaRPr lang="zh-CN" altLang="en-US">
              <a:solidFill>
                <a:srgbClr val="000000"/>
              </a:solidFill>
            </a:endParaRPr>
          </a:p>
          <a:p>
            <a:pPr algn="ctr"/>
            <a:r>
              <a:rPr lang="zh-CN" altLang="en-US">
                <a:solidFill>
                  <a:srgbClr val="000000"/>
                </a:solidFill>
              </a:rPr>
              <a:t>户则通过观赏与参与，在其中获得情绪上的松弛和心理上的满足</a:t>
            </a: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88" r="88"/>
          <a:stretch>
            <a:fillRect/>
          </a:stretch>
        </p:blipFill>
        <p:spPr>
          <a:xfrm>
            <a:off x="5946766" y="771525"/>
            <a:ext cx="2695575" cy="360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/>
          <p:cNvSpPr txBox="1"/>
          <p:nvPr>
            <p:ph type="subTitle" idx="3"/>
          </p:nvPr>
        </p:nvSpPr>
        <p:spPr>
          <a:xfrm>
            <a:off x="2009432" y="3986783"/>
            <a:ext cx="5444616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latin typeface="DM Sans Medium" charset="0"/>
                <a:ea typeface="DM Sans Medium" charset="0"/>
                <a:cs typeface="DM Sans Medium" charset="0"/>
              </a:rPr>
              <a:t>这是第四代住宅的重要思想：空间应当疗愈人，而不是占据人。</a:t>
            </a:r>
            <a:endParaRPr lang="zh-CN" altLang="en-US">
              <a:latin typeface="DM Sans Medium" charset="0"/>
              <a:ea typeface="DM Sans Medium" charset="0"/>
              <a:cs typeface="DM Sans Medium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>
              <a:latin typeface="DM Sans Medium" charset="0"/>
              <a:ea typeface="DM Sans Medium" charset="0"/>
              <a:cs typeface="DM Sans Medium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>
              <a:latin typeface="DM Sans Medium" charset="0"/>
              <a:ea typeface="DM Sans Medium" charset="0"/>
              <a:cs typeface="DM Sans Medium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>
              <a:latin typeface="DM Sans Medium" charset="0"/>
              <a:ea typeface="DM Sans Medium" charset="0"/>
              <a:cs typeface="DM Sans Medium" charset="0"/>
            </a:endParaRPr>
          </a:p>
        </p:txBody>
      </p:sp>
      <p:pic>
        <p:nvPicPr>
          <p:cNvPr id="265" name="Google Shape;265;p31"/>
          <p:cNvPicPr preferRelativeResize="0"/>
          <p:nvPr/>
        </p:nvPicPr>
        <p:blipFill rotWithShape="1">
          <a:blip r:embed="rId1"/>
          <a:srcRect l="15675" t="15073" r="15675"/>
          <a:stretch>
            <a:fillRect/>
          </a:stretch>
        </p:blipFill>
        <p:spPr>
          <a:xfrm flipH="1">
            <a:off x="6290773" y="674365"/>
            <a:ext cx="2460538" cy="321513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228" name="Google Shape;228;p28"/>
          <p:cNvSpPr txBox="1"/>
          <p:nvPr/>
        </p:nvSpPr>
        <p:spPr>
          <a:xfrm>
            <a:off x="432781" y="10164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chemeClr val="dk1"/>
                </a:solidFill>
              </a:rPr>
              <a:t>关于我们的产品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69688" y="674365"/>
            <a:ext cx="731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健康与情绪价值：把第四代住宅的</a:t>
            </a:r>
            <a:r>
              <a:rPr lang="en-US" altLang="zh-CN"/>
              <a:t>“</a:t>
            </a:r>
            <a:r>
              <a:rPr lang="zh-CN" altLang="en-US"/>
              <a:t>疗愈性空间</a:t>
            </a:r>
            <a:r>
              <a:rPr lang="en-US" altLang="zh-CN"/>
              <a:t>”</a:t>
            </a:r>
            <a:r>
              <a:rPr lang="zh-CN" altLang="en-US"/>
              <a:t>带入日常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21967" y="1095442"/>
            <a:ext cx="3788412" cy="312780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第四代住宅强调情绪友好空间（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Emotion-friendly spce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）：大面积绿化；自然光；健康空气；心理放松场景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你的产品将这一理念转化为：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稳定生长的绿色；可望可触的小自然；在高压环境中给予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心理缓冲区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植物，始终保持生命状态，这意味着用户可随时获得自然带来的情绪稳定感和低负担疗愈力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。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作为一个在视觉上提供绿色缓冲，在心理上提供情绪出口。是一个安静的微型自然场景</a:t>
            </a:r>
            <a:r>
              <a:rPr lang="zh-CN" altLang="en-US" i="1"/>
              <a:t>。</a:t>
            </a:r>
            <a:endParaRPr lang="zh-CN" altLang="en-US" i="1"/>
          </a:p>
          <a:p>
            <a:endParaRPr lang="zh-CN" altLang="en-US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/>
        </p:nvSpPr>
        <p:spPr>
          <a:xfrm>
            <a:off x="432781" y="10164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ank Ruhl Libre"/>
              <a:buNone/>
              <a:defRPr sz="3000" b="1" i="0" u="none" strike="noStrike" cap="none">
                <a:solidFill>
                  <a:schemeClr val="dk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solidFill>
                  <a:schemeClr val="dk1"/>
                </a:solidFill>
              </a:rPr>
              <a:t>关于我们的产品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29418" y="728068"/>
            <a:ext cx="731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第四代住宅强调：自然不是背景，而是生活体系的一部分。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4902" y="1195635"/>
            <a:ext cx="4235940" cy="2245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生活方式改变：让</a:t>
            </a:r>
            <a:r>
              <a:rPr lang="en-US" altLang="zh-CN"/>
              <a:t>“</a:t>
            </a:r>
            <a:r>
              <a:rPr lang="zh-CN" altLang="en-US"/>
              <a:t>自然融入生活</a:t>
            </a:r>
            <a:r>
              <a:rPr lang="en-US" altLang="zh-CN"/>
              <a:t>”</a:t>
            </a:r>
            <a:r>
              <a:rPr lang="zh-CN" altLang="en-US"/>
              <a:t>变得更低门槛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第四代住宅的设计目标之一是：</a:t>
            </a:r>
            <a:endParaRPr lang="zh-CN" altLang="en-US"/>
          </a:p>
          <a:p>
            <a:r>
              <a:rPr lang="zh-CN" altLang="en-US"/>
              <a:t>让生态与自然变得可获得、可使用、可体验，而不是奢侈品。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你的产品通过全自动补水系统和易维护设计，实现了：</a:t>
            </a:r>
            <a:endParaRPr lang="zh-CN" altLang="en-US"/>
          </a:p>
          <a:p>
            <a:endParaRPr lang="en-US" altLang="zh-CN"/>
          </a:p>
          <a:p>
            <a:pPr indent="457200"/>
            <a:r>
              <a:rPr lang="zh-CN" altLang="en-US"/>
              <a:t>不需要植物知识</a:t>
            </a:r>
            <a:endParaRPr lang="zh-CN" altLang="en-US"/>
          </a:p>
          <a:p>
            <a:pPr marL="457200" lvl="1"/>
            <a:r>
              <a:rPr lang="zh-CN" altLang="en-US"/>
              <a:t>不需要打理技能</a:t>
            </a:r>
            <a:endParaRPr lang="en-US" altLang="zh-CN"/>
          </a:p>
          <a:p>
            <a:pPr indent="457200"/>
            <a:r>
              <a:rPr lang="zh-CN" altLang="en-US"/>
              <a:t>低成本即可体验自然</a:t>
            </a:r>
            <a:endParaRPr lang="en-US" altLang="zh-CN"/>
          </a:p>
          <a:p>
            <a:pPr indent="457200"/>
            <a:r>
              <a:rPr lang="zh-CN" altLang="en-US"/>
              <a:t>随时随地拥有绿色治愈空间</a:t>
            </a:r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88" r="88"/>
          <a:stretch>
            <a:fillRect/>
          </a:stretch>
        </p:blipFill>
        <p:spPr>
          <a:xfrm>
            <a:off x="6254024" y="-243763"/>
            <a:ext cx="2695575" cy="360045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4201420" y="3103355"/>
            <a:ext cx="3387640" cy="1168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</p:txBody>
      </p:sp>
      <p:sp>
        <p:nvSpPr>
          <p:cNvPr id="2" name="圆角矩形 1"/>
          <p:cNvSpPr/>
          <p:nvPr userDrawn="1"/>
        </p:nvSpPr>
        <p:spPr>
          <a:xfrm>
            <a:off x="4645131" y="2878842"/>
            <a:ext cx="3887726" cy="1749872"/>
          </a:xfrm>
          <a:prstGeom prst="roundRect">
            <a:avLst/>
          </a:prstGeom>
          <a:ln w="25400" cap="flat" cmpd="sng" algn="ctr">
            <a:solidFill>
              <a:schemeClr val="phClr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这正是</a:t>
            </a:r>
            <a:r>
              <a:rPr lang="en-US" altLang="zh-CN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</a:rPr>
              <a:t>第四代住宅生活方式</a:t>
            </a:r>
            <a:r>
              <a:rPr lang="en-US" altLang="zh-CN">
                <a:solidFill>
                  <a:srgbClr val="000000"/>
                </a:solidFill>
              </a:rPr>
              <a:t>”</a:t>
            </a:r>
            <a:r>
              <a:rPr lang="zh-CN" altLang="en-US">
                <a:solidFill>
                  <a:srgbClr val="000000"/>
                </a:solidFill>
              </a:rPr>
              <a:t>要解决的问题：</a:t>
            </a:r>
            <a:endParaRPr lang="en-US" altLang="zh-CN">
              <a:solidFill>
                <a:srgbClr val="000000"/>
              </a:solidFill>
            </a:endParaRPr>
          </a:p>
          <a:p>
            <a:pPr algn="ctr"/>
            <a:r>
              <a:rPr lang="zh-CN" altLang="en-US">
                <a:solidFill>
                  <a:srgbClr val="000000"/>
                </a:solidFill>
              </a:rPr>
              <a:t>自然享受权应该是普惠的，而不是少数人的特权。</a:t>
            </a:r>
            <a:endParaRPr lang="zh-CN" altLang="en-US">
              <a:solidFill>
                <a:srgbClr val="000000"/>
              </a:solidFill>
            </a:endParaRPr>
          </a:p>
          <a:p>
            <a:pPr algn="ctr"/>
            <a:r>
              <a:rPr lang="zh-CN" altLang="en-US">
                <a:solidFill>
                  <a:srgbClr val="000000"/>
                </a:solidFill>
              </a:rPr>
              <a:t>你的产品把自然体验降到了最低门槛，使第四代住宅倡导的价值真正进入每个用户。</a:t>
            </a: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4921358" y="2026666"/>
            <a:ext cx="3444300" cy="21224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设计</a:t>
            </a:r>
            <a:r>
              <a:rPr lang="en-US" altLang="zh-CN"/>
              <a:t> </a:t>
            </a:r>
            <a:br>
              <a:rPr lang="en-US" altLang="zh-CN"/>
            </a:br>
            <a:r>
              <a:rPr lang="en-US" altLang="zh-CN"/>
              <a:t>&amp; </a:t>
            </a:r>
            <a:br>
              <a:rPr lang="en-US" altLang="zh-CN"/>
            </a:br>
            <a:r>
              <a:rPr lang="zh-CN" altLang="en-US"/>
              <a:t>功能</a:t>
            </a:r>
            <a:endParaRPr lang="en-US" altLang="zh-CN"/>
          </a:p>
        </p:txBody>
      </p:sp>
      <p:sp>
        <p:nvSpPr>
          <p:cNvPr id="263" name="Google Shape;263;p31"/>
          <p:cNvSpPr txBox="1"/>
          <p:nvPr>
            <p:ph type="title" idx="2"/>
          </p:nvPr>
        </p:nvSpPr>
        <p:spPr>
          <a:xfrm>
            <a:off x="7162364" y="824247"/>
            <a:ext cx="1268400" cy="12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zh-CN">
                <a:cs typeface="Arial" panose="020B0604020202020204" pitchFamily="34" charset="0"/>
              </a:rPr>
              <a:t>3</a:t>
            </a:r>
            <a:endParaRPr lang="en-GB"/>
          </a:p>
        </p:txBody>
      </p:sp>
      <p:sp>
        <p:nvSpPr>
          <p:cNvPr id="264" name="Google Shape;264;p31"/>
          <p:cNvSpPr/>
          <p:nvPr/>
        </p:nvSpPr>
        <p:spPr>
          <a:xfrm flipH="1">
            <a:off x="576625" y="681736"/>
            <a:ext cx="3444300" cy="48123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265" name="Google Shape;265;p31"/>
          <p:cNvPicPr preferRelativeResize="0"/>
          <p:nvPr>
            <p:ph type="pic" idx="3"/>
          </p:nvPr>
        </p:nvPicPr>
        <p:blipFill rotWithShape="1">
          <a:blip r:embed="rId1"/>
          <a:srcRect l="15675" t="15073" r="15675"/>
          <a:stretch>
            <a:fillRect/>
          </a:stretch>
        </p:blipFill>
        <p:spPr>
          <a:xfrm flipH="1">
            <a:off x="833962" y="1189821"/>
            <a:ext cx="2994900" cy="3913369"/>
          </a:xfrm>
          <a:prstGeom prst="round1Rect">
            <a:avLst>
              <a:gd name="adj" fmla="val 16667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/>
          <p:nvPr/>
        </p:nvSpPr>
        <p:spPr>
          <a:xfrm flipH="1">
            <a:off x="5102854" y="1000544"/>
            <a:ext cx="4389046" cy="4431659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271" name="Google Shape;271;p32"/>
          <p:cNvPicPr preferRelativeResize="0"/>
          <p:nvPr>
            <p:ph type="pic" idx="2"/>
          </p:nvPr>
        </p:nvPicPr>
        <p:blipFill rotWithShape="1">
          <a:blip r:embed="rId1"/>
          <a:srcRect l="18334" t="9883" r="-1618" b="10018"/>
          <a:stretch>
            <a:fillRect/>
          </a:stretch>
        </p:blipFill>
        <p:spPr>
          <a:xfrm>
            <a:off x="5424829" y="1000544"/>
            <a:ext cx="3487877" cy="4472669"/>
          </a:xfrm>
          <a:prstGeom prst="roundRect">
            <a:avLst/>
          </a:prstGeom>
        </p:spPr>
      </p:pic>
      <p:sp>
        <p:nvSpPr>
          <p:cNvPr id="272" name="Google Shape;272;p32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模块化系统 </a:t>
            </a:r>
            <a:r>
              <a:rPr lang="zh-CN" altLang="en-US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——</a:t>
            </a: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Modularity</a:t>
            </a:r>
            <a:endParaRPr lang="en-GB">
              <a:latin typeface="Frank Ruhl Libre" charset="0"/>
              <a:ea typeface="Frank Ruhl Libre" charset="0"/>
              <a:cs typeface="Frank Ruhl Libre" charset="0"/>
            </a:endParaRPr>
          </a:p>
        </p:txBody>
      </p:sp>
      <p:sp>
        <p:nvSpPr>
          <p:cNvPr id="273" name="Google Shape;273;p32"/>
          <p:cNvSpPr txBox="1"/>
          <p:nvPr>
            <p:ph type="body" idx="1"/>
          </p:nvPr>
        </p:nvSpPr>
        <p:spPr>
          <a:xfrm>
            <a:off x="770661" y="1482915"/>
            <a:ext cx="4332178" cy="736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 panose="020B0604020202020204"/>
              <a:buNone/>
            </a:pPr>
            <a:r>
              <a:rPr lang="zh-CN" altLang="en-US" sz="1800" b="1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核心设计： </a:t>
            </a:r>
            <a:r>
              <a:rPr lang="en-US" altLang="zh-CN" sz="1800" b="1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"Eco</a:t>
            </a:r>
            <a:r>
              <a:rPr lang="zh-CN" altLang="en-US" sz="1800" b="1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-</a:t>
            </a:r>
            <a:r>
              <a:rPr lang="en-US" altLang="zh-CN" sz="1800" b="1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Tile" (</a:t>
            </a:r>
            <a:r>
              <a:rPr lang="zh-CN" altLang="en-US" sz="1800" b="1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生态磁贴</a:t>
            </a:r>
            <a:r>
              <a:rPr lang="en-US" altLang="zh-CN" sz="1800" b="1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)       	</a:t>
            </a:r>
            <a:r>
              <a:rPr lang="zh-CN" altLang="en-US" sz="1800" b="1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—— 可挂墙、可堆叠、可嵌入</a:t>
            </a:r>
            <a:endParaRPr lang="en-GB" sz="1800" b="1">
              <a:solidFill>
                <a:schemeClr val="dk1"/>
              </a:solidFill>
              <a:latin typeface="Frank Ruhl Libre" charset="0"/>
              <a:ea typeface="Frank Ruhl Libre" charset="0"/>
              <a:cs typeface="Frank Ruhl Libre" charset="0"/>
            </a:endParaRPr>
          </a:p>
        </p:txBody>
      </p:sp>
      <p:grpSp>
        <p:nvGrpSpPr>
          <p:cNvPr id="274" name="Google Shape;274;p32"/>
          <p:cNvGrpSpPr/>
          <p:nvPr/>
        </p:nvGrpSpPr>
        <p:grpSpPr>
          <a:xfrm>
            <a:off x="355600" y="-67950"/>
            <a:ext cx="75600" cy="5279700"/>
            <a:chOff x="355600" y="-67950"/>
            <a:chExt cx="75600" cy="5279700"/>
          </a:xfrm>
        </p:grpSpPr>
        <p:cxnSp>
          <p:nvCxnSpPr>
            <p:cNvPr id="275" name="Google Shape;275;p32"/>
            <p:cNvCxnSpPr/>
            <p:nvPr/>
          </p:nvCxnSpPr>
          <p:spPr>
            <a:xfrm flipH="1">
              <a:off x="38665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6" name="Google Shape;276;p32"/>
            <p:cNvSpPr/>
            <p:nvPr/>
          </p:nvSpPr>
          <p:spPr>
            <a:xfrm>
              <a:off x="355600" y="539500"/>
              <a:ext cx="75600" cy="41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2" name="文本框 1"/>
          <p:cNvSpPr txBox="1"/>
          <p:nvPr userDrawn="1"/>
        </p:nvSpPr>
        <p:spPr>
          <a:xfrm>
            <a:off x="877792" y="2759716"/>
            <a:ext cx="3560463" cy="1168400"/>
          </a:xfrm>
          <a:prstGeom prst="rect">
            <a:avLst/>
          </a:prstGeom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灵活性： 单个模块像乐高一样，拼成一面“垂直绿墙”或可嵌入书架格。 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材质语言： 采用微水泥</a:t>
            </a:r>
            <a:r>
              <a:rPr lang="en-US" altLang="zh-CN"/>
              <a:t>/</a:t>
            </a:r>
            <a:r>
              <a:rPr lang="zh-CN" altLang="en-US"/>
              <a:t>拉丝金属外壳，模拟建筑外立面质感。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-691" r="18394"/>
          <a:stretch>
            <a:fillRect/>
          </a:stretch>
        </p:blipFill>
        <p:spPr>
          <a:xfrm>
            <a:off x="5992632" y="941560"/>
            <a:ext cx="2362328" cy="3893281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281" name="Google Shape;281;p33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自循环水系统 </a:t>
            </a:r>
            <a:r>
              <a:rPr lang="zh-CN" altLang="en-US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——</a:t>
            </a: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Invisible Cycle</a:t>
            </a:r>
            <a:endParaRPr lang="en-GB">
              <a:latin typeface="Frank Ruhl Libre" charset="0"/>
              <a:ea typeface="Frank Ruhl Libre" charset="0"/>
              <a:cs typeface="Frank Ruhl Libre" charset="0"/>
            </a:endParaRPr>
          </a:p>
        </p:txBody>
      </p:sp>
      <p:sp>
        <p:nvSpPr>
          <p:cNvPr id="282" name="Google Shape;282;p33"/>
          <p:cNvSpPr txBox="1"/>
          <p:nvPr>
            <p:ph type="subTitle" idx="3"/>
          </p:nvPr>
        </p:nvSpPr>
        <p:spPr>
          <a:xfrm>
            <a:off x="474608" y="2227498"/>
            <a:ext cx="7239908" cy="13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dk1"/>
                </a:solidFill>
                <a:latin typeface="DM Sans Medium" charset="0"/>
                <a:ea typeface="DM Sans Medium" charset="0"/>
                <a:cs typeface="DM Sans Medium" charset="0"/>
              </a:rPr>
              <a:t>无感维护： 内部水循环，“加一次水，续航两周”。 </a:t>
            </a:r>
            <a:endParaRPr lang="en-GB">
              <a:solidFill>
                <a:schemeClr val="dk1"/>
              </a:solidFill>
              <a:latin typeface="DM Sans Medium" charset="0"/>
              <a:ea typeface="DM Sans Medium" charset="0"/>
              <a:cs typeface="DM Sans Medium" charset="0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M Sans Medium" charset="0"/>
                <a:ea typeface="DM Sans Medium" charset="0"/>
                <a:cs typeface="DM Sans Medium" charset="0"/>
              </a:rPr>
              <a:t> </a:t>
            </a:r>
            <a:endParaRPr lang="en-GB">
              <a:solidFill>
                <a:schemeClr val="dk1"/>
              </a:solidFill>
              <a:latin typeface="DM Sans Medium" charset="0"/>
              <a:ea typeface="DM Sans Medium" charset="0"/>
              <a:cs typeface="DM Sans Medium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dk1"/>
                </a:solidFill>
                <a:latin typeface="DM Sans Medium" charset="0"/>
                <a:ea typeface="DM Sans Medium" charset="0"/>
                <a:cs typeface="DM Sans Medium" charset="0"/>
              </a:rPr>
              <a:t>可视化生态： 透明视窗，不仅看水位，更能观赏植物根系的生长。</a:t>
            </a:r>
            <a:endParaRPr lang="en-GB">
              <a:latin typeface="DM Sans Medium" charset="0"/>
              <a:ea typeface="DM Sans Medium" charset="0"/>
              <a:cs typeface="DM Sans Medium" charset="0"/>
            </a:endParaRPr>
          </a:p>
        </p:txBody>
      </p:sp>
      <p:sp>
        <p:nvSpPr>
          <p:cNvPr id="284" name="Google Shape;284;p33"/>
          <p:cNvSpPr txBox="1"/>
          <p:nvPr>
            <p:ph type="subTitle" idx="1"/>
          </p:nvPr>
        </p:nvSpPr>
        <p:spPr>
          <a:xfrm>
            <a:off x="908985" y="1556755"/>
            <a:ext cx="3584702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核心技术： 隐藏式水路与静音泵</a:t>
            </a:r>
            <a:endParaRPr lang="en-GB"/>
          </a:p>
        </p:txBody>
      </p:sp>
      <p:sp>
        <p:nvSpPr>
          <p:cNvPr id="291" name="Google Shape;291;p33"/>
          <p:cNvSpPr/>
          <p:nvPr/>
        </p:nvSpPr>
        <p:spPr>
          <a:xfrm>
            <a:off x="589782" y="1635293"/>
            <a:ext cx="243762" cy="268623"/>
          </a:xfrm>
          <a:custGeom>
            <a:avLst/>
            <a:gdLst/>
            <a:ahLst/>
            <a:cxnLst/>
            <a:rect l="l" t="t" r="r" b="b"/>
            <a:pathLst>
              <a:path w="10812" h="10811" extrusionOk="0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昼夜节律 </a:t>
            </a:r>
            <a:r>
              <a:rPr lang="zh-CN" altLang="en-US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——</a:t>
            </a: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Circadian Rhythm</a:t>
            </a:r>
            <a:endParaRPr lang="en-GB">
              <a:latin typeface="Frank Ruhl Libre" charset="0"/>
              <a:ea typeface="Frank Ruhl Libre" charset="0"/>
              <a:cs typeface="Frank Ruhl Libre" charset="0"/>
            </a:endParaRPr>
          </a:p>
        </p:txBody>
      </p:sp>
      <p:sp>
        <p:nvSpPr>
          <p:cNvPr id="297" name="Google Shape;297;p34"/>
          <p:cNvSpPr txBox="1"/>
          <p:nvPr>
            <p:ph type="subTitle" idx="1"/>
          </p:nvPr>
        </p:nvSpPr>
        <p:spPr>
          <a:xfrm>
            <a:off x="905867" y="1342897"/>
            <a:ext cx="3230976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核心功能：</a:t>
            </a:r>
            <a:r>
              <a:rPr lang="en-US" altLang="zh-CN"/>
              <a:t> </a:t>
            </a:r>
            <a:r>
              <a:rPr lang="zh-CN" altLang="en-US"/>
              <a:t>双模式智能补光</a:t>
            </a:r>
            <a:endParaRPr lang="en-GB"/>
          </a:p>
        </p:txBody>
      </p:sp>
      <p:sp>
        <p:nvSpPr>
          <p:cNvPr id="299" name="Google Shape;299;p34"/>
          <p:cNvSpPr txBox="1"/>
          <p:nvPr>
            <p:ph type="subTitle" idx="3"/>
          </p:nvPr>
        </p:nvSpPr>
        <p:spPr>
          <a:xfrm>
            <a:off x="719989" y="1959486"/>
            <a:ext cx="430547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>
              <a:solidFill>
                <a:schemeClr val="dk1"/>
              </a:solidFill>
              <a:latin typeface="DM Sans Medium" charset="0"/>
              <a:ea typeface="DM Sans Medium" charset="0"/>
              <a:cs typeface="DM Sans Medium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dk1"/>
                </a:solidFill>
                <a:latin typeface="DM Sans Medium" charset="0"/>
                <a:ea typeface="DM Sans Medium" charset="0"/>
                <a:cs typeface="DM Sans Medium" charset="0"/>
              </a:rPr>
              <a:t>Mode A (生长模式)： 模拟全光谱太阳光，促进光合作用（日</a:t>
            </a:r>
            <a:r>
              <a:rPr lang="zh-CN" altLang="en-US">
                <a:solidFill>
                  <a:schemeClr val="dk1"/>
                </a:solidFill>
                <a:latin typeface="DM Sans Medium" charset="0"/>
                <a:ea typeface="DM Sans Medium" charset="0"/>
                <a:cs typeface="DM Sans Medium" charset="0"/>
              </a:rPr>
              <a:t>间）</a:t>
            </a:r>
            <a:endParaRPr lang="zh-CN" altLang="en-US">
              <a:solidFill>
                <a:schemeClr val="dk1"/>
              </a:solidFill>
              <a:latin typeface="DM Sans Medium" charset="0"/>
              <a:ea typeface="DM Sans Medium" charset="0"/>
              <a:cs typeface="DM Sans Medium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>
              <a:solidFill>
                <a:schemeClr val="dk1"/>
              </a:solidFill>
              <a:latin typeface="DM Sans Medium" charset="0"/>
              <a:ea typeface="DM Sans Medium" charset="0"/>
              <a:cs typeface="DM Sans Medium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dk1"/>
                </a:solidFill>
                <a:latin typeface="DM Sans Medium" charset="0"/>
                <a:ea typeface="DM Sans Medium" charset="0"/>
                <a:cs typeface="DM Sans Medium" charset="0"/>
              </a:rPr>
              <a:t>Mode B (氛围模式)： 3000K 暖光，无频闪，作为家居氛围灯（夜间）</a:t>
            </a:r>
            <a:endParaRPr lang="en-GB">
              <a:latin typeface="DM Sans Medium" charset="0"/>
              <a:ea typeface="DM Sans Medium" charset="0"/>
              <a:cs typeface="DM Sans Medium" charset="0"/>
            </a:endParaRPr>
          </a:p>
        </p:txBody>
      </p:sp>
      <p:sp>
        <p:nvSpPr>
          <p:cNvPr id="301" name="Google Shape;301;p34"/>
          <p:cNvSpPr txBox="1"/>
          <p:nvPr>
            <p:ph type="subTitle" idx="5"/>
          </p:nvPr>
        </p:nvSpPr>
        <p:spPr>
          <a:xfrm>
            <a:off x="1540629" y="3834506"/>
            <a:ext cx="3088283" cy="6540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灯光不再是刺眼的光，而是温暖家居的一部分</a:t>
            </a:r>
            <a:endParaRPr lang="en-GB"/>
          </a:p>
        </p:txBody>
      </p:sp>
      <p:grpSp>
        <p:nvGrpSpPr>
          <p:cNvPr id="318" name="Google Shape;318;p34"/>
          <p:cNvGrpSpPr/>
          <p:nvPr/>
        </p:nvGrpSpPr>
        <p:grpSpPr>
          <a:xfrm>
            <a:off x="782903" y="1427097"/>
            <a:ext cx="174871" cy="257340"/>
            <a:chOff x="3662144" y="4135505"/>
            <a:chExt cx="232955" cy="340318"/>
          </a:xfrm>
        </p:grpSpPr>
        <p:sp>
          <p:nvSpPr>
            <p:cNvPr id="319" name="Google Shape;319;p34"/>
            <p:cNvSpPr/>
            <p:nvPr/>
          </p:nvSpPr>
          <p:spPr>
            <a:xfrm>
              <a:off x="3662144" y="4135505"/>
              <a:ext cx="163761" cy="340318"/>
            </a:xfrm>
            <a:custGeom>
              <a:avLst/>
              <a:gdLst/>
              <a:ahLst/>
              <a:cxnLst/>
              <a:rect l="l" t="t" r="r" b="b"/>
              <a:pathLst>
                <a:path w="5157" h="10717" extrusionOk="0">
                  <a:moveTo>
                    <a:pt x="2573" y="1"/>
                  </a:moveTo>
                  <a:cubicBezTo>
                    <a:pt x="1715" y="1"/>
                    <a:pt x="1013" y="703"/>
                    <a:pt x="1013" y="1572"/>
                  </a:cubicBezTo>
                  <a:lnTo>
                    <a:pt x="1013" y="6097"/>
                  </a:lnTo>
                  <a:cubicBezTo>
                    <a:pt x="370" y="6585"/>
                    <a:pt x="1" y="7347"/>
                    <a:pt x="1" y="8144"/>
                  </a:cubicBezTo>
                  <a:cubicBezTo>
                    <a:pt x="1" y="9561"/>
                    <a:pt x="1156" y="10716"/>
                    <a:pt x="2573" y="10716"/>
                  </a:cubicBezTo>
                  <a:cubicBezTo>
                    <a:pt x="3990" y="10716"/>
                    <a:pt x="5144" y="9561"/>
                    <a:pt x="5144" y="8144"/>
                  </a:cubicBezTo>
                  <a:cubicBezTo>
                    <a:pt x="5156" y="7323"/>
                    <a:pt x="4775" y="6573"/>
                    <a:pt x="4144" y="6073"/>
                  </a:cubicBezTo>
                  <a:lnTo>
                    <a:pt x="4144" y="3322"/>
                  </a:lnTo>
                  <a:cubicBezTo>
                    <a:pt x="4144" y="3239"/>
                    <a:pt x="4061" y="3156"/>
                    <a:pt x="3978" y="3156"/>
                  </a:cubicBezTo>
                  <a:cubicBezTo>
                    <a:pt x="3882" y="3156"/>
                    <a:pt x="3811" y="3239"/>
                    <a:pt x="3811" y="3322"/>
                  </a:cubicBezTo>
                  <a:lnTo>
                    <a:pt x="3811" y="6168"/>
                  </a:lnTo>
                  <a:cubicBezTo>
                    <a:pt x="3811" y="6216"/>
                    <a:pt x="3847" y="6275"/>
                    <a:pt x="3871" y="6299"/>
                  </a:cubicBezTo>
                  <a:cubicBezTo>
                    <a:pt x="4466" y="6716"/>
                    <a:pt x="4823" y="7418"/>
                    <a:pt x="4823" y="8133"/>
                  </a:cubicBezTo>
                  <a:cubicBezTo>
                    <a:pt x="4823" y="9359"/>
                    <a:pt x="3811" y="10383"/>
                    <a:pt x="2573" y="10383"/>
                  </a:cubicBezTo>
                  <a:cubicBezTo>
                    <a:pt x="1346" y="10383"/>
                    <a:pt x="322" y="9371"/>
                    <a:pt x="322" y="8133"/>
                  </a:cubicBezTo>
                  <a:cubicBezTo>
                    <a:pt x="322" y="7406"/>
                    <a:pt x="680" y="6716"/>
                    <a:pt x="1275" y="6299"/>
                  </a:cubicBezTo>
                  <a:cubicBezTo>
                    <a:pt x="1323" y="6275"/>
                    <a:pt x="1334" y="6228"/>
                    <a:pt x="1334" y="6168"/>
                  </a:cubicBezTo>
                  <a:lnTo>
                    <a:pt x="1334" y="1572"/>
                  </a:lnTo>
                  <a:cubicBezTo>
                    <a:pt x="1334" y="882"/>
                    <a:pt x="1894" y="334"/>
                    <a:pt x="2573" y="334"/>
                  </a:cubicBezTo>
                  <a:cubicBezTo>
                    <a:pt x="3263" y="334"/>
                    <a:pt x="3811" y="882"/>
                    <a:pt x="3811" y="1572"/>
                  </a:cubicBezTo>
                  <a:lnTo>
                    <a:pt x="3811" y="2703"/>
                  </a:lnTo>
                  <a:cubicBezTo>
                    <a:pt x="3811" y="2787"/>
                    <a:pt x="3882" y="2858"/>
                    <a:pt x="3978" y="2858"/>
                  </a:cubicBezTo>
                  <a:cubicBezTo>
                    <a:pt x="4061" y="2858"/>
                    <a:pt x="4132" y="2787"/>
                    <a:pt x="4132" y="2703"/>
                  </a:cubicBezTo>
                  <a:lnTo>
                    <a:pt x="4132" y="1572"/>
                  </a:lnTo>
                  <a:cubicBezTo>
                    <a:pt x="4132" y="703"/>
                    <a:pt x="3442" y="1"/>
                    <a:pt x="25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34"/>
            <p:cNvSpPr/>
            <p:nvPr/>
          </p:nvSpPr>
          <p:spPr>
            <a:xfrm>
              <a:off x="3689771" y="4162719"/>
              <a:ext cx="109650" cy="285859"/>
            </a:xfrm>
            <a:custGeom>
              <a:avLst/>
              <a:gdLst/>
              <a:ahLst/>
              <a:cxnLst/>
              <a:rect l="l" t="t" r="r" b="b"/>
              <a:pathLst>
                <a:path w="3453" h="9002" extrusionOk="0">
                  <a:moveTo>
                    <a:pt x="1727" y="310"/>
                  </a:moveTo>
                  <a:cubicBezTo>
                    <a:pt x="1941" y="310"/>
                    <a:pt x="2108" y="489"/>
                    <a:pt x="2108" y="691"/>
                  </a:cubicBezTo>
                  <a:lnTo>
                    <a:pt x="2108" y="1156"/>
                  </a:lnTo>
                  <a:lnTo>
                    <a:pt x="1322" y="1156"/>
                  </a:lnTo>
                  <a:lnTo>
                    <a:pt x="1322" y="691"/>
                  </a:lnTo>
                  <a:cubicBezTo>
                    <a:pt x="1322" y="489"/>
                    <a:pt x="1500" y="310"/>
                    <a:pt x="1727" y="310"/>
                  </a:cubicBezTo>
                  <a:close/>
                  <a:moveTo>
                    <a:pt x="2108" y="1489"/>
                  </a:moveTo>
                  <a:lnTo>
                    <a:pt x="2108" y="2382"/>
                  </a:lnTo>
                  <a:lnTo>
                    <a:pt x="1322" y="2382"/>
                  </a:lnTo>
                  <a:lnTo>
                    <a:pt x="1322" y="1489"/>
                  </a:lnTo>
                  <a:close/>
                  <a:moveTo>
                    <a:pt x="2108" y="2704"/>
                  </a:moveTo>
                  <a:lnTo>
                    <a:pt x="2108" y="3596"/>
                  </a:lnTo>
                  <a:lnTo>
                    <a:pt x="1322" y="3596"/>
                  </a:lnTo>
                  <a:lnTo>
                    <a:pt x="1322" y="2704"/>
                  </a:lnTo>
                  <a:close/>
                  <a:moveTo>
                    <a:pt x="2108" y="3906"/>
                  </a:moveTo>
                  <a:lnTo>
                    <a:pt x="2108" y="4799"/>
                  </a:lnTo>
                  <a:lnTo>
                    <a:pt x="1322" y="4799"/>
                  </a:lnTo>
                  <a:lnTo>
                    <a:pt x="1322" y="3906"/>
                  </a:lnTo>
                  <a:close/>
                  <a:moveTo>
                    <a:pt x="1727" y="1"/>
                  </a:moveTo>
                  <a:cubicBezTo>
                    <a:pt x="1334" y="1"/>
                    <a:pt x="1012" y="310"/>
                    <a:pt x="1012" y="715"/>
                  </a:cubicBezTo>
                  <a:lnTo>
                    <a:pt x="1012" y="5668"/>
                  </a:lnTo>
                  <a:lnTo>
                    <a:pt x="726" y="5871"/>
                  </a:lnTo>
                  <a:cubicBezTo>
                    <a:pt x="262" y="6204"/>
                    <a:pt x="0" y="6728"/>
                    <a:pt x="0" y="7276"/>
                  </a:cubicBezTo>
                  <a:cubicBezTo>
                    <a:pt x="0" y="7609"/>
                    <a:pt x="95" y="7954"/>
                    <a:pt x="298" y="8240"/>
                  </a:cubicBezTo>
                  <a:cubicBezTo>
                    <a:pt x="321" y="8286"/>
                    <a:pt x="374" y="8312"/>
                    <a:pt x="427" y="8312"/>
                  </a:cubicBezTo>
                  <a:cubicBezTo>
                    <a:pt x="457" y="8312"/>
                    <a:pt x="487" y="8304"/>
                    <a:pt x="512" y="8288"/>
                  </a:cubicBezTo>
                  <a:cubicBezTo>
                    <a:pt x="595" y="8240"/>
                    <a:pt x="607" y="8133"/>
                    <a:pt x="560" y="8061"/>
                  </a:cubicBezTo>
                  <a:cubicBezTo>
                    <a:pt x="393" y="7823"/>
                    <a:pt x="322" y="7549"/>
                    <a:pt x="322" y="7276"/>
                  </a:cubicBezTo>
                  <a:cubicBezTo>
                    <a:pt x="322" y="6811"/>
                    <a:pt x="548" y="6394"/>
                    <a:pt x="917" y="6121"/>
                  </a:cubicBezTo>
                  <a:lnTo>
                    <a:pt x="1274" y="5871"/>
                  </a:lnTo>
                  <a:cubicBezTo>
                    <a:pt x="1322" y="5847"/>
                    <a:pt x="1334" y="5799"/>
                    <a:pt x="1334" y="5740"/>
                  </a:cubicBezTo>
                  <a:lnTo>
                    <a:pt x="1334" y="5132"/>
                  </a:lnTo>
                  <a:lnTo>
                    <a:pt x="2119" y="5132"/>
                  </a:lnTo>
                  <a:lnTo>
                    <a:pt x="2119" y="5740"/>
                  </a:lnTo>
                  <a:cubicBezTo>
                    <a:pt x="2119" y="5787"/>
                    <a:pt x="2155" y="5847"/>
                    <a:pt x="2179" y="5871"/>
                  </a:cubicBezTo>
                  <a:lnTo>
                    <a:pt x="2536" y="6121"/>
                  </a:lnTo>
                  <a:cubicBezTo>
                    <a:pt x="2917" y="6394"/>
                    <a:pt x="3131" y="6823"/>
                    <a:pt x="3131" y="7276"/>
                  </a:cubicBezTo>
                  <a:cubicBezTo>
                    <a:pt x="3120" y="8049"/>
                    <a:pt x="2500" y="8669"/>
                    <a:pt x="1727" y="8669"/>
                  </a:cubicBezTo>
                  <a:cubicBezTo>
                    <a:pt x="1441" y="8669"/>
                    <a:pt x="1155" y="8585"/>
                    <a:pt x="917" y="8419"/>
                  </a:cubicBezTo>
                  <a:cubicBezTo>
                    <a:pt x="892" y="8402"/>
                    <a:pt x="863" y="8394"/>
                    <a:pt x="835" y="8394"/>
                  </a:cubicBezTo>
                  <a:cubicBezTo>
                    <a:pt x="782" y="8394"/>
                    <a:pt x="729" y="8420"/>
                    <a:pt x="691" y="8466"/>
                  </a:cubicBezTo>
                  <a:cubicBezTo>
                    <a:pt x="655" y="8538"/>
                    <a:pt x="667" y="8633"/>
                    <a:pt x="738" y="8692"/>
                  </a:cubicBezTo>
                  <a:cubicBezTo>
                    <a:pt x="1036" y="8895"/>
                    <a:pt x="1369" y="9002"/>
                    <a:pt x="1727" y="9002"/>
                  </a:cubicBezTo>
                  <a:cubicBezTo>
                    <a:pt x="2679" y="9002"/>
                    <a:pt x="3453" y="8228"/>
                    <a:pt x="3453" y="7276"/>
                  </a:cubicBezTo>
                  <a:cubicBezTo>
                    <a:pt x="3453" y="6716"/>
                    <a:pt x="3179" y="6192"/>
                    <a:pt x="2715" y="5871"/>
                  </a:cubicBezTo>
                  <a:lnTo>
                    <a:pt x="2441" y="5668"/>
                  </a:lnTo>
                  <a:lnTo>
                    <a:pt x="2441" y="715"/>
                  </a:lnTo>
                  <a:cubicBezTo>
                    <a:pt x="2441" y="322"/>
                    <a:pt x="2119" y="1"/>
                    <a:pt x="1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3838352" y="4182375"/>
              <a:ext cx="56746" cy="94947"/>
            </a:xfrm>
            <a:custGeom>
              <a:avLst/>
              <a:gdLst/>
              <a:ahLst/>
              <a:cxnLst/>
              <a:rect l="l" t="t" r="r" b="b"/>
              <a:pathLst>
                <a:path w="1787" h="2990" extrusionOk="0">
                  <a:moveTo>
                    <a:pt x="881" y="1"/>
                  </a:moveTo>
                  <a:cubicBezTo>
                    <a:pt x="334" y="1"/>
                    <a:pt x="0" y="334"/>
                    <a:pt x="0" y="894"/>
                  </a:cubicBezTo>
                  <a:lnTo>
                    <a:pt x="0" y="2096"/>
                  </a:lnTo>
                  <a:cubicBezTo>
                    <a:pt x="0" y="2394"/>
                    <a:pt x="96" y="2632"/>
                    <a:pt x="262" y="2787"/>
                  </a:cubicBezTo>
                  <a:cubicBezTo>
                    <a:pt x="405" y="2918"/>
                    <a:pt x="619" y="2989"/>
                    <a:pt x="869" y="2989"/>
                  </a:cubicBezTo>
                  <a:cubicBezTo>
                    <a:pt x="1393" y="2989"/>
                    <a:pt x="1751" y="2692"/>
                    <a:pt x="1751" y="2263"/>
                  </a:cubicBezTo>
                  <a:cubicBezTo>
                    <a:pt x="1786" y="2120"/>
                    <a:pt x="1715" y="2073"/>
                    <a:pt x="1596" y="2073"/>
                  </a:cubicBezTo>
                  <a:cubicBezTo>
                    <a:pt x="1489" y="2073"/>
                    <a:pt x="1417" y="2120"/>
                    <a:pt x="1417" y="2192"/>
                  </a:cubicBezTo>
                  <a:cubicBezTo>
                    <a:pt x="1393" y="2382"/>
                    <a:pt x="1358" y="2668"/>
                    <a:pt x="917" y="2668"/>
                  </a:cubicBezTo>
                  <a:cubicBezTo>
                    <a:pt x="560" y="2668"/>
                    <a:pt x="381" y="2489"/>
                    <a:pt x="381" y="2096"/>
                  </a:cubicBezTo>
                  <a:lnTo>
                    <a:pt x="381" y="894"/>
                  </a:lnTo>
                  <a:cubicBezTo>
                    <a:pt x="381" y="525"/>
                    <a:pt x="560" y="334"/>
                    <a:pt x="893" y="334"/>
                  </a:cubicBezTo>
                  <a:cubicBezTo>
                    <a:pt x="1298" y="334"/>
                    <a:pt x="1405" y="584"/>
                    <a:pt x="1405" y="775"/>
                  </a:cubicBezTo>
                  <a:cubicBezTo>
                    <a:pt x="1405" y="846"/>
                    <a:pt x="1477" y="906"/>
                    <a:pt x="1584" y="906"/>
                  </a:cubicBezTo>
                  <a:cubicBezTo>
                    <a:pt x="1703" y="906"/>
                    <a:pt x="1762" y="882"/>
                    <a:pt x="1762" y="715"/>
                  </a:cubicBezTo>
                  <a:cubicBezTo>
                    <a:pt x="1762" y="299"/>
                    <a:pt x="1405" y="1"/>
                    <a:pt x="8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3813012" y="4151763"/>
              <a:ext cx="32930" cy="32930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36" y="310"/>
                  </a:moveTo>
                  <a:cubicBezTo>
                    <a:pt x="644" y="310"/>
                    <a:pt x="739" y="405"/>
                    <a:pt x="739" y="524"/>
                  </a:cubicBezTo>
                  <a:cubicBezTo>
                    <a:pt x="727" y="620"/>
                    <a:pt x="644" y="727"/>
                    <a:pt x="536" y="727"/>
                  </a:cubicBezTo>
                  <a:cubicBezTo>
                    <a:pt x="429" y="727"/>
                    <a:pt x="322" y="643"/>
                    <a:pt x="322" y="524"/>
                  </a:cubicBezTo>
                  <a:cubicBezTo>
                    <a:pt x="322" y="417"/>
                    <a:pt x="417" y="310"/>
                    <a:pt x="536" y="310"/>
                  </a:cubicBezTo>
                  <a:close/>
                  <a:moveTo>
                    <a:pt x="524" y="1"/>
                  </a:moveTo>
                  <a:cubicBezTo>
                    <a:pt x="239" y="1"/>
                    <a:pt x="1" y="239"/>
                    <a:pt x="1" y="524"/>
                  </a:cubicBezTo>
                  <a:cubicBezTo>
                    <a:pt x="1" y="798"/>
                    <a:pt x="239" y="1036"/>
                    <a:pt x="524" y="1036"/>
                  </a:cubicBezTo>
                  <a:cubicBezTo>
                    <a:pt x="822" y="1036"/>
                    <a:pt x="1036" y="798"/>
                    <a:pt x="1036" y="524"/>
                  </a:cubicBezTo>
                  <a:cubicBezTo>
                    <a:pt x="1036" y="239"/>
                    <a:pt x="798" y="1"/>
                    <a:pt x="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88" r="88"/>
          <a:stretch>
            <a:fillRect/>
          </a:stretch>
        </p:blipFill>
        <p:spPr>
          <a:xfrm>
            <a:off x="6173870" y="1070995"/>
            <a:ext cx="2695575" cy="3600450"/>
          </a:xfrm>
          <a:prstGeom prst="rect">
            <a:avLst/>
          </a:prstGeom>
          <a:noFill/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88" r="88"/>
          <a:stretch>
            <a:fillRect/>
          </a:stretch>
        </p:blipFill>
        <p:spPr>
          <a:xfrm>
            <a:off x="4421574" y="1071001"/>
            <a:ext cx="2695575" cy="360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多感官共鸣 </a:t>
            </a:r>
            <a:r>
              <a:rPr lang="zh-CN" altLang="en-US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——</a:t>
            </a:r>
            <a:r>
              <a:rPr lang="en-GB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Multi-sensory</a:t>
            </a:r>
            <a:endParaRPr lang="en-GB">
              <a:latin typeface="Frank Ruhl Libre" charset="0"/>
              <a:ea typeface="Frank Ruhl Libre" charset="0"/>
              <a:cs typeface="Frank Ruhl Libre" charset="0"/>
            </a:endParaRPr>
          </a:p>
        </p:txBody>
      </p:sp>
      <p:sp>
        <p:nvSpPr>
          <p:cNvPr id="328" name="Google Shape;328;p35"/>
          <p:cNvSpPr txBox="1"/>
          <p:nvPr>
            <p:ph type="subTitle" idx="1"/>
          </p:nvPr>
        </p:nvSpPr>
        <p:spPr>
          <a:xfrm>
            <a:off x="4697645" y="1630520"/>
            <a:ext cx="25083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触觉与听觉</a:t>
            </a:r>
            <a:endParaRPr lang="zh-CN" altLang="en-US"/>
          </a:p>
        </p:txBody>
      </p:sp>
      <p:sp>
        <p:nvSpPr>
          <p:cNvPr id="330" name="Google Shape;330;p35"/>
          <p:cNvSpPr txBox="1"/>
          <p:nvPr>
            <p:ph type="subTitle" idx="3"/>
          </p:nvPr>
        </p:nvSpPr>
        <p:spPr>
          <a:xfrm>
            <a:off x="4026648" y="2430454"/>
            <a:ext cx="5117319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dk1"/>
                </a:solidFill>
                <a:latin typeface="DM Sans Medium" charset="0"/>
                <a:ea typeface="DM Sans Medium" charset="0"/>
                <a:cs typeface="DM Sans Medium" charset="0"/>
              </a:rPr>
              <a:t>触摸感应： 触摸边框金属条即可切换灯光模式</a:t>
            </a:r>
            <a:endParaRPr lang="en-GB">
              <a:solidFill>
                <a:schemeClr val="dk1"/>
              </a:solidFill>
              <a:latin typeface="DM Sans Medium" charset="0"/>
              <a:ea typeface="DM Sans Medium" charset="0"/>
              <a:cs typeface="DM Sans Medium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>
              <a:solidFill>
                <a:schemeClr val="dk1"/>
              </a:solidFill>
              <a:latin typeface="DM Sans Medium" charset="0"/>
              <a:ea typeface="DM Sans Medium" charset="0"/>
              <a:cs typeface="DM Sans Medium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>
              <a:solidFill>
                <a:schemeClr val="dk1"/>
              </a:solidFill>
              <a:latin typeface="DM Sans Medium" charset="0"/>
              <a:ea typeface="DM Sans Medium" charset="0"/>
              <a:cs typeface="DM Sans Medium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dk1"/>
                </a:solidFill>
                <a:latin typeface="DM Sans Medium" charset="0"/>
                <a:ea typeface="DM Sans Medium" charset="0"/>
                <a:cs typeface="DM Sans Medium" charset="0"/>
              </a:rPr>
              <a:t>白噪音： 微型水流声设计，提供自然的背景白噪音（ASMR）</a:t>
            </a:r>
            <a:endParaRPr lang="en-GB">
              <a:latin typeface="DM Sans Medium" charset="0"/>
              <a:ea typeface="DM Sans Medium" charset="0"/>
              <a:cs typeface="DM Sans Medium" charset="0"/>
            </a:endParaRPr>
          </a:p>
        </p:txBody>
      </p:sp>
      <p:sp>
        <p:nvSpPr>
          <p:cNvPr id="356" name="Google Shape;356;p35"/>
          <p:cNvSpPr/>
          <p:nvPr/>
        </p:nvSpPr>
        <p:spPr>
          <a:xfrm>
            <a:off x="4801898" y="1692564"/>
            <a:ext cx="260350" cy="301625"/>
          </a:xfrm>
          <a:custGeom>
            <a:avLst/>
            <a:gdLst/>
            <a:ahLst/>
            <a:cxnLst/>
            <a:rect l="l" t="t" r="r" b="b"/>
            <a:pathLst>
              <a:path w="11348" h="10816" extrusionOk="0">
                <a:moveTo>
                  <a:pt x="6027" y="0"/>
                </a:moveTo>
                <a:cubicBezTo>
                  <a:pt x="5700" y="0"/>
                  <a:pt x="5448" y="70"/>
                  <a:pt x="5430" y="76"/>
                </a:cubicBezTo>
                <a:cubicBezTo>
                  <a:pt x="5358" y="112"/>
                  <a:pt x="5299" y="172"/>
                  <a:pt x="5299" y="255"/>
                </a:cubicBezTo>
                <a:lnTo>
                  <a:pt x="5299" y="2731"/>
                </a:lnTo>
                <a:lnTo>
                  <a:pt x="3501" y="5017"/>
                </a:lnTo>
                <a:cubicBezTo>
                  <a:pt x="3441" y="4767"/>
                  <a:pt x="3215" y="4577"/>
                  <a:pt x="2929" y="4577"/>
                </a:cubicBezTo>
                <a:lnTo>
                  <a:pt x="584" y="4577"/>
                </a:lnTo>
                <a:cubicBezTo>
                  <a:pt x="274" y="4577"/>
                  <a:pt x="1" y="4827"/>
                  <a:pt x="1" y="5160"/>
                </a:cubicBezTo>
                <a:lnTo>
                  <a:pt x="1" y="5732"/>
                </a:lnTo>
                <a:cubicBezTo>
                  <a:pt x="1" y="5839"/>
                  <a:pt x="96" y="5910"/>
                  <a:pt x="179" y="5910"/>
                </a:cubicBezTo>
                <a:cubicBezTo>
                  <a:pt x="274" y="5910"/>
                  <a:pt x="358" y="5827"/>
                  <a:pt x="358" y="5732"/>
                </a:cubicBezTo>
                <a:lnTo>
                  <a:pt x="358" y="5160"/>
                </a:lnTo>
                <a:cubicBezTo>
                  <a:pt x="358" y="5041"/>
                  <a:pt x="453" y="4946"/>
                  <a:pt x="572" y="4946"/>
                </a:cubicBezTo>
                <a:lnTo>
                  <a:pt x="2918" y="4946"/>
                </a:lnTo>
                <a:cubicBezTo>
                  <a:pt x="3037" y="4946"/>
                  <a:pt x="3132" y="5041"/>
                  <a:pt x="3132" y="5160"/>
                </a:cubicBezTo>
                <a:lnTo>
                  <a:pt x="3132" y="10232"/>
                </a:lnTo>
                <a:cubicBezTo>
                  <a:pt x="3132" y="10351"/>
                  <a:pt x="3037" y="10435"/>
                  <a:pt x="2918" y="10435"/>
                </a:cubicBezTo>
                <a:lnTo>
                  <a:pt x="572" y="10435"/>
                </a:lnTo>
                <a:cubicBezTo>
                  <a:pt x="453" y="10435"/>
                  <a:pt x="358" y="10351"/>
                  <a:pt x="358" y="10232"/>
                </a:cubicBezTo>
                <a:lnTo>
                  <a:pt x="358" y="6506"/>
                </a:lnTo>
                <a:cubicBezTo>
                  <a:pt x="358" y="6410"/>
                  <a:pt x="274" y="6327"/>
                  <a:pt x="179" y="6327"/>
                </a:cubicBezTo>
                <a:cubicBezTo>
                  <a:pt x="72" y="6327"/>
                  <a:pt x="1" y="6422"/>
                  <a:pt x="1" y="6506"/>
                </a:cubicBezTo>
                <a:lnTo>
                  <a:pt x="1" y="10232"/>
                </a:lnTo>
                <a:cubicBezTo>
                  <a:pt x="1" y="10542"/>
                  <a:pt x="251" y="10816"/>
                  <a:pt x="584" y="10816"/>
                </a:cubicBezTo>
                <a:lnTo>
                  <a:pt x="2929" y="10816"/>
                </a:lnTo>
                <a:cubicBezTo>
                  <a:pt x="3251" y="10816"/>
                  <a:pt x="3513" y="10554"/>
                  <a:pt x="3513" y="10232"/>
                </a:cubicBezTo>
                <a:lnTo>
                  <a:pt x="3513" y="9744"/>
                </a:lnTo>
                <a:lnTo>
                  <a:pt x="4418" y="10185"/>
                </a:lnTo>
                <a:cubicBezTo>
                  <a:pt x="4453" y="10197"/>
                  <a:pt x="4477" y="10197"/>
                  <a:pt x="4513" y="10197"/>
                </a:cubicBezTo>
                <a:lnTo>
                  <a:pt x="8025" y="10197"/>
                </a:lnTo>
                <a:cubicBezTo>
                  <a:pt x="8132" y="10197"/>
                  <a:pt x="8204" y="10113"/>
                  <a:pt x="8204" y="10018"/>
                </a:cubicBezTo>
                <a:cubicBezTo>
                  <a:pt x="8204" y="9923"/>
                  <a:pt x="8109" y="9839"/>
                  <a:pt x="8025" y="9839"/>
                </a:cubicBezTo>
                <a:lnTo>
                  <a:pt x="4561" y="9839"/>
                </a:lnTo>
                <a:lnTo>
                  <a:pt x="3525" y="9327"/>
                </a:lnTo>
                <a:lnTo>
                  <a:pt x="3525" y="5589"/>
                </a:lnTo>
                <a:lnTo>
                  <a:pt x="5644" y="2910"/>
                </a:lnTo>
                <a:cubicBezTo>
                  <a:pt x="5668" y="2874"/>
                  <a:pt x="5692" y="2839"/>
                  <a:pt x="5692" y="2791"/>
                </a:cubicBezTo>
                <a:lnTo>
                  <a:pt x="5692" y="398"/>
                </a:lnTo>
                <a:cubicBezTo>
                  <a:pt x="5787" y="379"/>
                  <a:pt x="5924" y="358"/>
                  <a:pt x="6080" y="358"/>
                </a:cubicBezTo>
                <a:cubicBezTo>
                  <a:pt x="6313" y="358"/>
                  <a:pt x="6587" y="405"/>
                  <a:pt x="6823" y="576"/>
                </a:cubicBezTo>
                <a:cubicBezTo>
                  <a:pt x="7132" y="791"/>
                  <a:pt x="7275" y="1207"/>
                  <a:pt x="7275" y="1803"/>
                </a:cubicBezTo>
                <a:lnTo>
                  <a:pt x="7275" y="3755"/>
                </a:lnTo>
                <a:cubicBezTo>
                  <a:pt x="7275" y="3862"/>
                  <a:pt x="7370" y="3934"/>
                  <a:pt x="7454" y="3934"/>
                </a:cubicBezTo>
                <a:lnTo>
                  <a:pt x="10395" y="3934"/>
                </a:lnTo>
                <a:cubicBezTo>
                  <a:pt x="10716" y="3934"/>
                  <a:pt x="10990" y="4208"/>
                  <a:pt x="10990" y="4529"/>
                </a:cubicBezTo>
                <a:cubicBezTo>
                  <a:pt x="10990" y="4863"/>
                  <a:pt x="10716" y="5125"/>
                  <a:pt x="10395" y="5125"/>
                </a:cubicBezTo>
                <a:lnTo>
                  <a:pt x="8823" y="5125"/>
                </a:lnTo>
                <a:cubicBezTo>
                  <a:pt x="8728" y="5125"/>
                  <a:pt x="8644" y="5220"/>
                  <a:pt x="8644" y="5303"/>
                </a:cubicBezTo>
                <a:cubicBezTo>
                  <a:pt x="8644" y="5410"/>
                  <a:pt x="8740" y="5482"/>
                  <a:pt x="8823" y="5482"/>
                </a:cubicBezTo>
                <a:lnTo>
                  <a:pt x="10228" y="5482"/>
                </a:lnTo>
                <a:cubicBezTo>
                  <a:pt x="10538" y="5494"/>
                  <a:pt x="10788" y="5767"/>
                  <a:pt x="10788" y="6077"/>
                </a:cubicBezTo>
                <a:cubicBezTo>
                  <a:pt x="10788" y="6399"/>
                  <a:pt x="10526" y="6672"/>
                  <a:pt x="10192" y="6672"/>
                </a:cubicBezTo>
                <a:lnTo>
                  <a:pt x="8823" y="6672"/>
                </a:lnTo>
                <a:cubicBezTo>
                  <a:pt x="8728" y="6672"/>
                  <a:pt x="8644" y="6768"/>
                  <a:pt x="8644" y="6851"/>
                </a:cubicBezTo>
                <a:cubicBezTo>
                  <a:pt x="8644" y="6958"/>
                  <a:pt x="8740" y="7030"/>
                  <a:pt x="8823" y="7030"/>
                </a:cubicBezTo>
                <a:lnTo>
                  <a:pt x="10073" y="7030"/>
                </a:lnTo>
                <a:cubicBezTo>
                  <a:pt x="10371" y="7053"/>
                  <a:pt x="10597" y="7327"/>
                  <a:pt x="10597" y="7625"/>
                </a:cubicBezTo>
                <a:cubicBezTo>
                  <a:pt x="10597" y="7946"/>
                  <a:pt x="10335" y="8220"/>
                  <a:pt x="10002" y="8220"/>
                </a:cubicBezTo>
                <a:lnTo>
                  <a:pt x="8823" y="8220"/>
                </a:lnTo>
                <a:cubicBezTo>
                  <a:pt x="8728" y="8220"/>
                  <a:pt x="8644" y="8315"/>
                  <a:pt x="8644" y="8399"/>
                </a:cubicBezTo>
                <a:cubicBezTo>
                  <a:pt x="8644" y="8506"/>
                  <a:pt x="8740" y="8577"/>
                  <a:pt x="8823" y="8577"/>
                </a:cubicBezTo>
                <a:lnTo>
                  <a:pt x="9883" y="8577"/>
                </a:lnTo>
                <a:cubicBezTo>
                  <a:pt x="9895" y="8577"/>
                  <a:pt x="9918" y="8589"/>
                  <a:pt x="9918" y="8589"/>
                </a:cubicBezTo>
                <a:cubicBezTo>
                  <a:pt x="10192" y="8649"/>
                  <a:pt x="10407" y="8887"/>
                  <a:pt x="10407" y="9185"/>
                </a:cubicBezTo>
                <a:cubicBezTo>
                  <a:pt x="10407" y="9518"/>
                  <a:pt x="10133" y="9780"/>
                  <a:pt x="9811" y="9780"/>
                </a:cubicBezTo>
                <a:lnTo>
                  <a:pt x="8823" y="9780"/>
                </a:lnTo>
                <a:cubicBezTo>
                  <a:pt x="8728" y="9780"/>
                  <a:pt x="8644" y="9875"/>
                  <a:pt x="8644" y="9958"/>
                </a:cubicBezTo>
                <a:cubicBezTo>
                  <a:pt x="8644" y="10066"/>
                  <a:pt x="8740" y="10137"/>
                  <a:pt x="8823" y="10137"/>
                </a:cubicBezTo>
                <a:lnTo>
                  <a:pt x="9811" y="10137"/>
                </a:lnTo>
                <a:cubicBezTo>
                  <a:pt x="10347" y="10137"/>
                  <a:pt x="10776" y="9708"/>
                  <a:pt x="10776" y="9173"/>
                </a:cubicBezTo>
                <a:cubicBezTo>
                  <a:pt x="10776" y="8887"/>
                  <a:pt x="10657" y="8637"/>
                  <a:pt x="10466" y="8458"/>
                </a:cubicBezTo>
                <a:cubicBezTo>
                  <a:pt x="10764" y="8292"/>
                  <a:pt x="10966" y="7982"/>
                  <a:pt x="10966" y="7613"/>
                </a:cubicBezTo>
                <a:cubicBezTo>
                  <a:pt x="10966" y="7327"/>
                  <a:pt x="10847" y="7077"/>
                  <a:pt x="10657" y="6899"/>
                </a:cubicBezTo>
                <a:cubicBezTo>
                  <a:pt x="10954" y="6803"/>
                  <a:pt x="11145" y="6482"/>
                  <a:pt x="11145" y="6113"/>
                </a:cubicBezTo>
                <a:cubicBezTo>
                  <a:pt x="11145" y="5827"/>
                  <a:pt x="11026" y="5577"/>
                  <a:pt x="10835" y="5398"/>
                </a:cubicBezTo>
                <a:cubicBezTo>
                  <a:pt x="11133" y="5232"/>
                  <a:pt x="11347" y="4922"/>
                  <a:pt x="11347" y="4541"/>
                </a:cubicBezTo>
                <a:cubicBezTo>
                  <a:pt x="11347" y="4005"/>
                  <a:pt x="10907" y="3577"/>
                  <a:pt x="10371" y="3577"/>
                </a:cubicBezTo>
                <a:lnTo>
                  <a:pt x="7621" y="3577"/>
                </a:lnTo>
                <a:lnTo>
                  <a:pt x="7621" y="1827"/>
                </a:lnTo>
                <a:cubicBezTo>
                  <a:pt x="7621" y="1112"/>
                  <a:pt x="7418" y="588"/>
                  <a:pt x="7013" y="291"/>
                </a:cubicBezTo>
                <a:cubicBezTo>
                  <a:pt x="6703" y="61"/>
                  <a:pt x="6332" y="0"/>
                  <a:pt x="602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77" y="1118268"/>
            <a:ext cx="2695575" cy="3600450"/>
          </a:xfrm>
          <a:prstGeom prst="rect">
            <a:avLst/>
          </a:prstGeom>
          <a:noFill/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4914847" y="2521471"/>
            <a:ext cx="3444300" cy="7747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意义</a:t>
            </a:r>
            <a:endParaRPr lang="en-US" altLang="zh-CN"/>
          </a:p>
        </p:txBody>
      </p:sp>
      <p:sp>
        <p:nvSpPr>
          <p:cNvPr id="263" name="Google Shape;263;p31"/>
          <p:cNvSpPr txBox="1"/>
          <p:nvPr>
            <p:ph type="title" idx="2"/>
          </p:nvPr>
        </p:nvSpPr>
        <p:spPr>
          <a:xfrm>
            <a:off x="7162364" y="915395"/>
            <a:ext cx="1268400" cy="12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zh-CN">
                <a:cs typeface="Arial" panose="020B0604020202020204" pitchFamily="34" charset="0"/>
              </a:rPr>
              <a:t>4</a:t>
            </a:r>
            <a:endParaRPr lang="en-GB"/>
          </a:p>
        </p:txBody>
      </p:sp>
      <p:sp>
        <p:nvSpPr>
          <p:cNvPr id="264" name="Google Shape;264;p31"/>
          <p:cNvSpPr/>
          <p:nvPr/>
        </p:nvSpPr>
        <p:spPr>
          <a:xfrm flipH="1">
            <a:off x="576625" y="681736"/>
            <a:ext cx="3444300" cy="48123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265" name="Google Shape;265;p31"/>
          <p:cNvPicPr preferRelativeResize="0"/>
          <p:nvPr>
            <p:ph type="pic" idx="3"/>
          </p:nvPr>
        </p:nvPicPr>
        <p:blipFill rotWithShape="1">
          <a:blip r:embed="rId1"/>
          <a:srcRect l="15675" t="15073" r="15675"/>
          <a:stretch>
            <a:fillRect/>
          </a:stretch>
        </p:blipFill>
        <p:spPr>
          <a:xfrm flipH="1">
            <a:off x="833962" y="1189821"/>
            <a:ext cx="2994900" cy="3913369"/>
          </a:xfrm>
          <a:prstGeom prst="round1Rect">
            <a:avLst>
              <a:gd name="adj" fmla="val 16667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6"/>
          <p:cNvSpPr txBox="1"/>
          <p:nvPr>
            <p:ph type="title"/>
          </p:nvPr>
        </p:nvSpPr>
        <p:spPr>
          <a:xfrm>
            <a:off x="0" y="262614"/>
            <a:ext cx="6367800" cy="179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Frank Ruhl Libre" charset="0"/>
                <a:ea typeface="Frank Ruhl Libre" charset="0"/>
                <a:cs typeface="Frank Ruhl Libre" charset="0"/>
              </a:rPr>
              <a:t>微缩的垂直森林 </a:t>
            </a:r>
            <a:endParaRPr lang="en-GB" sz="3600">
              <a:latin typeface="Frank Ruhl Libre" charset="0"/>
              <a:ea typeface="Frank Ruhl Libre" charset="0"/>
              <a:cs typeface="Frank Ruhl Libre" charset="0"/>
            </a:endParaRPr>
          </a:p>
        </p:txBody>
      </p:sp>
      <p:grpSp>
        <p:nvGrpSpPr>
          <p:cNvPr id="401" name="Google Shape;401;p36"/>
          <p:cNvGrpSpPr/>
          <p:nvPr/>
        </p:nvGrpSpPr>
        <p:grpSpPr>
          <a:xfrm>
            <a:off x="8776250" y="-67950"/>
            <a:ext cx="75600" cy="5279700"/>
            <a:chOff x="8776250" y="-67950"/>
            <a:chExt cx="75600" cy="5279700"/>
          </a:xfrm>
        </p:grpSpPr>
        <p:cxnSp>
          <p:nvCxnSpPr>
            <p:cNvPr id="402" name="Google Shape;402;p36"/>
            <p:cNvCxnSpPr/>
            <p:nvPr/>
          </p:nvCxnSpPr>
          <p:spPr>
            <a:xfrm flipH="1">
              <a:off x="8807300" y="-67950"/>
              <a:ext cx="13500" cy="5279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3" name="Google Shape;403;p36"/>
            <p:cNvSpPr/>
            <p:nvPr/>
          </p:nvSpPr>
          <p:spPr>
            <a:xfrm>
              <a:off x="8776250" y="1465375"/>
              <a:ext cx="75600" cy="1993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4" name="文本框 3"/>
          <p:cNvSpPr txBox="1"/>
          <p:nvPr userDrawn="1"/>
        </p:nvSpPr>
        <p:spPr>
          <a:xfrm>
            <a:off x="479268" y="2054449"/>
            <a:ext cx="5221604" cy="73723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1600" b="1"/>
              <a:t>打破定义的界限</a:t>
            </a:r>
            <a:r>
              <a:rPr lang="en-US" altLang="zh-CN"/>
              <a:t> </a:t>
            </a:r>
            <a:r>
              <a:rPr lang="zh-CN" altLang="en-US"/>
              <a:t>它不再仅仅是绿植容器，而是会呼吸的生态家具。</a:t>
            </a:r>
            <a:r>
              <a:rPr lang="en-US" altLang="zh-CN"/>
              <a:t> </a:t>
            </a:r>
            <a:r>
              <a:rPr lang="zh-CN" altLang="en-US"/>
              <a:t>我们将调节微气候的自然机能无缝融入家居设计，让每一面墙都拥有生命的律动</a:t>
            </a:r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479268" y="3309338"/>
            <a:ext cx="5204848" cy="5219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b="1"/>
              <a:t>从建筑到日常</a:t>
            </a:r>
            <a:r>
              <a:rPr lang="en-US" altLang="zh-CN"/>
              <a:t> </a:t>
            </a:r>
            <a:r>
              <a:rPr lang="zh-CN" altLang="en-US"/>
              <a:t>第四代住宅不应只是少数人的特权</a:t>
            </a:r>
            <a:r>
              <a:rPr lang="en-US" altLang="zh-CN"/>
              <a:t> </a:t>
            </a:r>
            <a:r>
              <a:rPr lang="zh-CN" altLang="en-US"/>
              <a:t>。</a:t>
            </a:r>
            <a:r>
              <a:rPr lang="en-US" altLang="zh-CN"/>
              <a:t> </a:t>
            </a:r>
            <a:r>
              <a:rPr lang="zh-CN" altLang="en-US"/>
              <a:t>我们没有制造一台冰冷的机器，而是还原了一种本该如此的生活方式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5917811" y="900479"/>
            <a:ext cx="3118485" cy="30670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/>
              <a:t>"A Vertical Forest for Everyone."</a:t>
            </a:r>
            <a:endParaRPr lang="zh-CN" altLang="en-US"/>
          </a:p>
        </p:txBody>
      </p:sp>
      <p:pic>
        <p:nvPicPr>
          <p:cNvPr id="5" name="图片 4" descr="post_object_image_3586768236"/>
          <p:cNvPicPr>
            <a:picLocks noChangeAspect="1"/>
          </p:cNvPicPr>
          <p:nvPr/>
        </p:nvPicPr>
        <p:blipFill>
          <a:blip r:embed="rId1"/>
          <a:srcRect b="6406"/>
          <a:stretch>
            <a:fillRect/>
          </a:stretch>
        </p:blipFill>
        <p:spPr>
          <a:xfrm>
            <a:off x="5823189" y="1373168"/>
            <a:ext cx="2695575" cy="37042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ome Environment Tips by Slidesgo">
  <a:themeElements>
    <a:clrScheme name="Simple Light">
      <a:dk1>
        <a:srgbClr val="000000"/>
      </a:dk1>
      <a:lt1>
        <a:srgbClr val="323233"/>
      </a:lt1>
      <a:dk2>
        <a:srgbClr val="E0DAE4"/>
      </a:dk2>
      <a:lt2>
        <a:srgbClr val="CCC5BE"/>
      </a:lt2>
      <a:accent1>
        <a:srgbClr val="A7A1AB"/>
      </a:accent1>
      <a:accent2>
        <a:srgbClr val="C9A69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1969</Words>
  <Application>WPS 演示</Application>
  <PresentationFormat/>
  <Paragraphs>173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Arial</vt:lpstr>
      <vt:lpstr>Frank Ruhl Libre</vt:lpstr>
      <vt:lpstr>DM Sans Medium</vt:lpstr>
      <vt:lpstr>Darker Grotesque SemiBold</vt:lpstr>
      <vt:lpstr>AMGDT</vt:lpstr>
      <vt:lpstr>Raleway</vt:lpstr>
      <vt:lpstr>DM Sans</vt:lpstr>
      <vt:lpstr>Frank Ruhl Libre</vt:lpstr>
      <vt:lpstr>DM Sans Medium</vt:lpstr>
      <vt:lpstr>微软雅黑</vt:lpstr>
      <vt:lpstr>Arial Unicode MS</vt:lpstr>
      <vt:lpstr>Home Environment Tips by Slidesgo</vt:lpstr>
      <vt:lpstr>微缩的          垂直森林</vt:lpstr>
      <vt:lpstr>04</vt:lpstr>
      <vt:lpstr>01</vt:lpstr>
      <vt:lpstr>从水泥森林到第四代住宅美学</vt:lpstr>
      <vt:lpstr>PowerPoint 演示文稿</vt:lpstr>
      <vt:lpstr>02</vt:lpstr>
      <vt:lpstr>PowerPoint 演示文稿</vt:lpstr>
      <vt:lpstr>PowerPoint 演示文稿</vt:lpstr>
      <vt:lpstr>PowerPoint 演示文稿</vt:lpstr>
      <vt:lpstr>03</vt:lpstr>
      <vt:lpstr>模块化系统 ——Modularity</vt:lpstr>
      <vt:lpstr>自循环水系统 ——Invisible Cycle</vt:lpstr>
      <vt:lpstr>昼夜节律 ——Circadian Rhythm</vt:lpstr>
      <vt:lpstr>多感官共鸣 ——Multi-sensory</vt:lpstr>
      <vt:lpstr>04</vt:lpstr>
      <vt:lpstr>微缩的垂直森林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微缩的          垂直森林</dc:title>
  <dc:creator/>
  <cp:lastModifiedBy>余佳欣</cp:lastModifiedBy>
  <cp:revision>1</cp:revision>
  <dcterms:created xsi:type="dcterms:W3CDTF">2026-06-04T08:22:54Z</dcterms:created>
  <dcterms:modified xsi:type="dcterms:W3CDTF">2026-06-04T08:22:54Z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A1EBF1773FE444B6BD8A678C36BAAD4A_13</vt:lpwstr>
  </property>
  <property fmtid="{D5CDD505-2E9C-101B-9397-08002B2CF9AE}" pid="3" name="KSOProductBuildVer">
    <vt:lpwstr>2052-12.1.0.24034</vt:lpwstr>
  </property>
</Properties>
</file>